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8229600" cx="14630400"/>
  <p:notesSz cx="8229600" cy="14630400"/>
  <p:embeddedFontLst>
    <p:embeddedFont>
      <p:font typeface="Lora"/>
      <p:regular r:id="rId29"/>
      <p:bold r:id="rId30"/>
      <p:italic r:id="rId31"/>
      <p:boldItalic r:id="rId32"/>
    </p:embeddedFont>
    <p:embeddedFont>
      <p:font typeface="Source Sans 3"/>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ora-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ora-italic.fntdata"/><Relationship Id="rId30" Type="http://schemas.openxmlformats.org/officeDocument/2006/relationships/font" Target="fonts/Lora-bold.fntdata"/><Relationship Id="rId11" Type="http://schemas.openxmlformats.org/officeDocument/2006/relationships/slide" Target="slides/slide7.xml"/><Relationship Id="rId33" Type="http://schemas.openxmlformats.org/officeDocument/2006/relationships/font" Target="fonts/SourceSans3-regular.fntdata"/><Relationship Id="rId10" Type="http://schemas.openxmlformats.org/officeDocument/2006/relationships/slide" Target="slides/slide6.xml"/><Relationship Id="rId32" Type="http://schemas.openxmlformats.org/officeDocument/2006/relationships/font" Target="fonts/Lora-boldItalic.fntdata"/><Relationship Id="rId13" Type="http://schemas.openxmlformats.org/officeDocument/2006/relationships/slide" Target="slides/slide9.xml"/><Relationship Id="rId35" Type="http://schemas.openxmlformats.org/officeDocument/2006/relationships/font" Target="fonts/SourceSans3-italic.fntdata"/><Relationship Id="rId12" Type="http://schemas.openxmlformats.org/officeDocument/2006/relationships/slide" Target="slides/slide8.xml"/><Relationship Id="rId34" Type="http://schemas.openxmlformats.org/officeDocument/2006/relationships/font" Target="fonts/SourceSans3-bold.fntdata"/><Relationship Id="rId15" Type="http://schemas.openxmlformats.org/officeDocument/2006/relationships/slide" Target="slides/slide11.xml"/><Relationship Id="rId14" Type="http://schemas.openxmlformats.org/officeDocument/2006/relationships/slide" Target="slides/slide10.xml"/><Relationship Id="rId36" Type="http://schemas.openxmlformats.org/officeDocument/2006/relationships/font" Target="fonts/SourceSans3-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 name="Google Shape;4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0" name="Google Shape;5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4" name="Google Shape;6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92" name="Google Shape;9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1" name="Google Shape;11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4" name="Google Shape;16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0" name="Google Shape;18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6" name="Google Shape;19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0" name="Google Shape;220;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50" name="Google Shape;250;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63" name="Google Shape;263;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78" name="Google Shape;27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04" name="Google Shape;30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21" name="Google Shape;321;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4" name="Google Shape;34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78" name="Google Shape;378;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10" name="Google Shape;410;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4" name="Google Shape;42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25" name="Google Shape;425;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43" name="Google Shape;443;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56" name="Google Shape;456;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988513a39a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g3988513a39a_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g3988513a39a_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988513a39a_3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g3988513a39a_3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g3988513a39a_3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988513a39a_3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g3988513a39a_3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g3988513a39a_3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8" name="Google Shape;538;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39" name="Google Shape;539;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6" name="Shape 6"/>
        <p:cNvGrpSpPr/>
        <p:nvPr/>
      </p:nvGrpSpPr>
      <p:grpSpPr>
        <a:xfrm>
          <a:off x="0" y="0"/>
          <a:ext cx="0" cy="0"/>
          <a:chOff x="0" y="0"/>
          <a:chExt cx="0" cy="0"/>
        </a:xfrm>
      </p:grpSpPr>
      <p:sp>
        <p:nvSpPr>
          <p:cNvPr id="7" name="Google Shape;7;p2"/>
          <p:cNvSpPr/>
          <p:nvPr/>
        </p:nvSpPr>
        <p:spPr>
          <a:xfrm>
            <a:off x="0" y="0"/>
            <a:ext cx="14630400" cy="82296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2"/>
          <p:cNvSpPr/>
          <p:nvPr/>
        </p:nvSpPr>
        <p:spPr>
          <a:xfrm>
            <a:off x="0" y="0"/>
            <a:ext cx="14630400" cy="82296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 name="Google Shape;9;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0" name="Shape 10"/>
        <p:cNvGrpSpPr/>
        <p:nvPr/>
      </p:nvGrpSpPr>
      <p:grpSpPr>
        <a:xfrm>
          <a:off x="0" y="0"/>
          <a:ext cx="0" cy="0"/>
          <a:chOff x="0" y="0"/>
          <a:chExt cx="0" cy="0"/>
        </a:xfrm>
      </p:grpSpPr>
      <p:sp>
        <p:nvSpPr>
          <p:cNvPr id="11" name="Google Shape;11;p3"/>
          <p:cNvSpPr/>
          <p:nvPr/>
        </p:nvSpPr>
        <p:spPr>
          <a:xfrm>
            <a:off x="0" y="0"/>
            <a:ext cx="14630400" cy="82296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3"/>
          <p:cNvSpPr/>
          <p:nvPr/>
        </p:nvSpPr>
        <p:spPr>
          <a:xfrm>
            <a:off x="0" y="0"/>
            <a:ext cx="14630400" cy="82296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4" name="Shape 14"/>
        <p:cNvGrpSpPr/>
        <p:nvPr/>
      </p:nvGrpSpPr>
      <p:grpSpPr>
        <a:xfrm>
          <a:off x="0" y="0"/>
          <a:ext cx="0" cy="0"/>
          <a:chOff x="0" y="0"/>
          <a:chExt cx="0" cy="0"/>
        </a:xfrm>
      </p:grpSpPr>
      <p:sp>
        <p:nvSpPr>
          <p:cNvPr id="15" name="Google Shape;15;p4"/>
          <p:cNvSpPr/>
          <p:nvPr/>
        </p:nvSpPr>
        <p:spPr>
          <a:xfrm>
            <a:off x="0" y="0"/>
            <a:ext cx="14630400" cy="82296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4"/>
          <p:cNvSpPr/>
          <p:nvPr/>
        </p:nvSpPr>
        <p:spPr>
          <a:xfrm>
            <a:off x="0" y="0"/>
            <a:ext cx="14630400" cy="82296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8" name="Shape 18"/>
        <p:cNvGrpSpPr/>
        <p:nvPr/>
      </p:nvGrpSpPr>
      <p:grpSpPr>
        <a:xfrm>
          <a:off x="0" y="0"/>
          <a:ext cx="0" cy="0"/>
          <a:chOff x="0" y="0"/>
          <a:chExt cx="0" cy="0"/>
        </a:xfrm>
      </p:grpSpPr>
      <p:sp>
        <p:nvSpPr>
          <p:cNvPr id="19" name="Google Shape;19;p5"/>
          <p:cNvSpPr/>
          <p:nvPr/>
        </p:nvSpPr>
        <p:spPr>
          <a:xfrm>
            <a:off x="0" y="0"/>
            <a:ext cx="14630400" cy="82296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5"/>
          <p:cNvSpPr/>
          <p:nvPr/>
        </p:nvSpPr>
        <p:spPr>
          <a:xfrm>
            <a:off x="0" y="0"/>
            <a:ext cx="14630400" cy="82296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6" name="Shape 26"/>
        <p:cNvGrpSpPr/>
        <p:nvPr/>
      </p:nvGrpSpPr>
      <p:grpSpPr>
        <a:xfrm>
          <a:off x="0" y="0"/>
          <a:ext cx="0" cy="0"/>
          <a:chOff x="0" y="0"/>
          <a:chExt cx="0" cy="0"/>
        </a:xfrm>
      </p:grpSpPr>
      <p:sp>
        <p:nvSpPr>
          <p:cNvPr id="27" name="Google Shape;27;p7"/>
          <p:cNvSpPr/>
          <p:nvPr/>
        </p:nvSpPr>
        <p:spPr>
          <a:xfrm>
            <a:off x="0" y="0"/>
            <a:ext cx="14630400" cy="82296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7"/>
          <p:cNvSpPr/>
          <p:nvPr/>
        </p:nvSpPr>
        <p:spPr>
          <a:xfrm>
            <a:off x="0" y="0"/>
            <a:ext cx="14630400" cy="82296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0" name="Shape 30"/>
        <p:cNvGrpSpPr/>
        <p:nvPr/>
      </p:nvGrpSpPr>
      <p:grpSpPr>
        <a:xfrm>
          <a:off x="0" y="0"/>
          <a:ext cx="0" cy="0"/>
          <a:chOff x="0" y="0"/>
          <a:chExt cx="0" cy="0"/>
        </a:xfrm>
      </p:grpSpPr>
      <p:sp>
        <p:nvSpPr>
          <p:cNvPr id="31" name="Google Shape;31;p8"/>
          <p:cNvSpPr/>
          <p:nvPr/>
        </p:nvSpPr>
        <p:spPr>
          <a:xfrm>
            <a:off x="0" y="0"/>
            <a:ext cx="14630400" cy="82296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8"/>
          <p:cNvSpPr/>
          <p:nvPr/>
        </p:nvSpPr>
        <p:spPr>
          <a:xfrm>
            <a:off x="0" y="0"/>
            <a:ext cx="14630400" cy="82296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4" name="Shape 34"/>
        <p:cNvGrpSpPr/>
        <p:nvPr/>
      </p:nvGrpSpPr>
      <p:grpSpPr>
        <a:xfrm>
          <a:off x="0" y="0"/>
          <a:ext cx="0" cy="0"/>
          <a:chOff x="0" y="0"/>
          <a:chExt cx="0" cy="0"/>
        </a:xfrm>
      </p:grpSpPr>
      <p:sp>
        <p:nvSpPr>
          <p:cNvPr id="35" name="Google Shape;35;p9"/>
          <p:cNvSpPr/>
          <p:nvPr/>
        </p:nvSpPr>
        <p:spPr>
          <a:xfrm>
            <a:off x="0" y="0"/>
            <a:ext cx="14630400" cy="82296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9"/>
          <p:cNvSpPr/>
          <p:nvPr/>
        </p:nvSpPr>
        <p:spPr>
          <a:xfrm>
            <a:off x="0" y="0"/>
            <a:ext cx="14630400" cy="82296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8" name="Shape 38"/>
        <p:cNvGrpSpPr/>
        <p:nvPr/>
      </p:nvGrpSpPr>
      <p:grpSpPr>
        <a:xfrm>
          <a:off x="0" y="0"/>
          <a:ext cx="0" cy="0"/>
          <a:chOff x="0" y="0"/>
          <a:chExt cx="0" cy="0"/>
        </a:xfrm>
      </p:grpSpPr>
      <p:sp>
        <p:nvSpPr>
          <p:cNvPr id="39" name="Google Shape;39;p10"/>
          <p:cNvSpPr/>
          <p:nvPr/>
        </p:nvSpPr>
        <p:spPr>
          <a:xfrm>
            <a:off x="0" y="0"/>
            <a:ext cx="14630400" cy="82296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0"/>
          <p:cNvSpPr/>
          <p:nvPr/>
        </p:nvSpPr>
        <p:spPr>
          <a:xfrm>
            <a:off x="0" y="0"/>
            <a:ext cx="14630400" cy="82296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1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2" name="Shape 42"/>
        <p:cNvGrpSpPr/>
        <p:nvPr/>
      </p:nvGrpSpPr>
      <p:grpSpPr>
        <a:xfrm>
          <a:off x="0" y="0"/>
          <a:ext cx="0" cy="0"/>
          <a:chOff x="0" y="0"/>
          <a:chExt cx="0" cy="0"/>
        </a:xfrm>
      </p:grpSpPr>
      <p:sp>
        <p:nvSpPr>
          <p:cNvPr id="43" name="Google Shape;43;p11"/>
          <p:cNvSpPr/>
          <p:nvPr/>
        </p:nvSpPr>
        <p:spPr>
          <a:xfrm>
            <a:off x="0" y="0"/>
            <a:ext cx="14630400" cy="82296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1"/>
          <p:cNvSpPr/>
          <p:nvPr/>
        </p:nvSpPr>
        <p:spPr>
          <a:xfrm>
            <a:off x="0" y="0"/>
            <a:ext cx="14630400" cy="82296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6" name="Shape 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7.png"/><Relationship Id="rId7"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pic>
        <p:nvPicPr>
          <p:cNvPr descr="preencoded.png" id="52" name="Google Shape;52;p13"/>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53" name="Google Shape;53;p13"/>
          <p:cNvSpPr/>
          <p:nvPr/>
        </p:nvSpPr>
        <p:spPr>
          <a:xfrm>
            <a:off x="837724" y="1184672"/>
            <a:ext cx="7468553" cy="21120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4400"/>
              <a:buFont typeface="Lora"/>
              <a:buNone/>
            </a:pPr>
            <a:r>
              <a:rPr b="0" i="0" lang="en-US" sz="4400" u="none" cap="none" strike="noStrike">
                <a:solidFill>
                  <a:srgbClr val="38512F"/>
                </a:solidFill>
                <a:latin typeface="Lora"/>
                <a:ea typeface="Lora"/>
                <a:cs typeface="Lora"/>
                <a:sym typeface="Lora"/>
              </a:rPr>
              <a:t>Khảo sát các Mô hình Ngôn ngữ Quy mô Web cho Xử lý Truy vấn Tìm kiếm</a:t>
            </a:r>
            <a:endParaRPr b="0" i="0" sz="4400" u="none" cap="none" strike="noStrike">
              <a:solidFill>
                <a:schemeClr val="dk1"/>
              </a:solidFill>
              <a:latin typeface="Calibri"/>
              <a:ea typeface="Calibri"/>
              <a:cs typeface="Calibri"/>
              <a:sym typeface="Calibri"/>
            </a:endParaRPr>
          </a:p>
        </p:txBody>
      </p:sp>
      <p:sp>
        <p:nvSpPr>
          <p:cNvPr id="54" name="Google Shape;54;p13"/>
          <p:cNvSpPr/>
          <p:nvPr/>
        </p:nvSpPr>
        <p:spPr>
          <a:xfrm>
            <a:off x="837724" y="3655695"/>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3A3630"/>
              </a:buClr>
              <a:buSzPts val="1850"/>
              <a:buFont typeface="Source Sans 3"/>
              <a:buNone/>
            </a:pPr>
            <a:r>
              <a:rPr b="0" i="0" lang="en-US" sz="1850" u="none" cap="none" strike="noStrike">
                <a:solidFill>
                  <a:srgbClr val="3A3630"/>
                </a:solidFill>
                <a:latin typeface="Source Sans 3"/>
                <a:ea typeface="Source Sans 3"/>
                <a:cs typeface="Source Sans 3"/>
                <a:sym typeface="Source Sans 3"/>
              </a:rPr>
              <a:t>Exploring Web Scale Language Models for Search Query Processing</a:t>
            </a:r>
            <a:endParaRPr b="0" i="0" sz="1850" u="none" cap="none" strike="noStrike">
              <a:solidFill>
                <a:schemeClr val="dk1"/>
              </a:solidFill>
              <a:latin typeface="Calibri"/>
              <a:ea typeface="Calibri"/>
              <a:cs typeface="Calibri"/>
              <a:sym typeface="Calibri"/>
            </a:endParaRPr>
          </a:p>
        </p:txBody>
      </p:sp>
      <p:sp>
        <p:nvSpPr>
          <p:cNvPr id="55" name="Google Shape;55;p13"/>
          <p:cNvSpPr/>
          <p:nvPr/>
        </p:nvSpPr>
        <p:spPr>
          <a:xfrm>
            <a:off x="837724" y="4427534"/>
            <a:ext cx="7468553" cy="37505"/>
          </a:xfrm>
          <a:prstGeom prst="rect">
            <a:avLst/>
          </a:prstGeom>
          <a:solidFill>
            <a:srgbClr val="3A3630">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a:off x="837724" y="4973479"/>
            <a:ext cx="2843927"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2200"/>
              <a:buFont typeface="Lora"/>
              <a:buNone/>
            </a:pPr>
            <a:r>
              <a:rPr b="0" i="0" lang="en-US" sz="2200" u="none" cap="none" strike="noStrike">
                <a:solidFill>
                  <a:srgbClr val="38512F"/>
                </a:solidFill>
                <a:latin typeface="Lora"/>
                <a:ea typeface="Lora"/>
                <a:cs typeface="Lora"/>
                <a:sym typeface="Lora"/>
              </a:rPr>
              <a:t>Giảng viên hướng dẫn</a:t>
            </a:r>
            <a:endParaRPr b="0" i="0" sz="2200" u="none" cap="none" strike="noStrike">
              <a:solidFill>
                <a:schemeClr val="dk1"/>
              </a:solidFill>
              <a:latin typeface="Calibri"/>
              <a:ea typeface="Calibri"/>
              <a:cs typeface="Calibri"/>
              <a:sym typeface="Calibri"/>
            </a:endParaRPr>
          </a:p>
        </p:txBody>
      </p:sp>
      <p:sp>
        <p:nvSpPr>
          <p:cNvPr id="57" name="Google Shape;57;p13"/>
          <p:cNvSpPr/>
          <p:nvPr/>
        </p:nvSpPr>
        <p:spPr>
          <a:xfrm>
            <a:off x="837724" y="5564743"/>
            <a:ext cx="3442335"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3A3630"/>
              </a:buClr>
              <a:buSzPts val="1850"/>
              <a:buFont typeface="Source Sans 3"/>
              <a:buNone/>
            </a:pPr>
            <a:r>
              <a:rPr b="0" i="0" lang="en-US" sz="1850" u="none" cap="none" strike="noStrike">
                <a:solidFill>
                  <a:srgbClr val="3A3630"/>
                </a:solidFill>
                <a:latin typeface="Source Sans 3"/>
                <a:ea typeface="Source Sans 3"/>
                <a:cs typeface="Source Sans 3"/>
                <a:sym typeface="Source Sans 3"/>
              </a:rPr>
              <a:t>Cô Lương Thái Lê</a:t>
            </a:r>
            <a:endParaRPr b="0" i="0" sz="1850" u="none" cap="none" strike="noStrike">
              <a:solidFill>
                <a:schemeClr val="dk1"/>
              </a:solidFill>
              <a:latin typeface="Calibri"/>
              <a:ea typeface="Calibri"/>
              <a:cs typeface="Calibri"/>
              <a:sym typeface="Calibri"/>
            </a:endParaRPr>
          </a:p>
        </p:txBody>
      </p:sp>
      <p:sp>
        <p:nvSpPr>
          <p:cNvPr id="58" name="Google Shape;58;p13"/>
          <p:cNvSpPr/>
          <p:nvPr/>
        </p:nvSpPr>
        <p:spPr>
          <a:xfrm>
            <a:off x="4871561" y="4973479"/>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2200"/>
              <a:buFont typeface="Lora"/>
              <a:buNone/>
            </a:pPr>
            <a:r>
              <a:rPr b="0" i="0" lang="en-US" sz="2200" u="none" cap="none" strike="noStrike">
                <a:solidFill>
                  <a:srgbClr val="38512F"/>
                </a:solidFill>
                <a:latin typeface="Lora"/>
                <a:ea typeface="Lora"/>
                <a:cs typeface="Lora"/>
                <a:sym typeface="Lora"/>
              </a:rPr>
              <a:t>Nhóm thực hiện</a:t>
            </a:r>
            <a:endParaRPr b="0" i="0" sz="2200" u="none" cap="none" strike="noStrike">
              <a:solidFill>
                <a:schemeClr val="dk1"/>
              </a:solidFill>
              <a:latin typeface="Calibri"/>
              <a:ea typeface="Calibri"/>
              <a:cs typeface="Calibri"/>
              <a:sym typeface="Calibri"/>
            </a:endParaRPr>
          </a:p>
        </p:txBody>
      </p:sp>
      <p:sp>
        <p:nvSpPr>
          <p:cNvPr id="59" name="Google Shape;59;p13"/>
          <p:cNvSpPr/>
          <p:nvPr/>
        </p:nvSpPr>
        <p:spPr>
          <a:xfrm>
            <a:off x="4871561" y="5564743"/>
            <a:ext cx="3442335"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3A3630"/>
              </a:buClr>
              <a:buSzPts val="1850"/>
              <a:buFont typeface="Source Sans 3"/>
              <a:buNone/>
            </a:pPr>
            <a:r>
              <a:rPr b="0" i="0" lang="en-US" sz="1850" u="none" cap="none" strike="noStrike">
                <a:solidFill>
                  <a:srgbClr val="3A3630"/>
                </a:solidFill>
                <a:latin typeface="Source Sans 3"/>
                <a:ea typeface="Source Sans 3"/>
                <a:cs typeface="Source Sans 3"/>
                <a:sym typeface="Source Sans 3"/>
              </a:rPr>
              <a:t>Nhóm 4</a:t>
            </a:r>
            <a:endParaRPr b="0" i="0" sz="1850" u="none" cap="none" strike="noStrike">
              <a:solidFill>
                <a:schemeClr val="dk1"/>
              </a:solidFill>
              <a:latin typeface="Calibri"/>
              <a:ea typeface="Calibri"/>
              <a:cs typeface="Calibri"/>
              <a:sym typeface="Calibri"/>
            </a:endParaRPr>
          </a:p>
        </p:txBody>
      </p:sp>
      <p:sp>
        <p:nvSpPr>
          <p:cNvPr id="60" name="Google Shape;60;p13"/>
          <p:cNvSpPr/>
          <p:nvPr/>
        </p:nvSpPr>
        <p:spPr>
          <a:xfrm>
            <a:off x="837724" y="6432352"/>
            <a:ext cx="7468553" cy="61245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A3630"/>
              </a:buClr>
              <a:buSzPts val="1500"/>
              <a:buFont typeface="Source Sans 3"/>
              <a:buNone/>
            </a:pPr>
            <a:r>
              <a:rPr b="1" i="0" lang="en-US" sz="1700" u="none" cap="none" strike="noStrike">
                <a:solidFill>
                  <a:srgbClr val="3A3630"/>
                </a:solidFill>
                <a:latin typeface="Source Sans 3"/>
                <a:ea typeface="Source Sans 3"/>
                <a:cs typeface="Source Sans 3"/>
                <a:sym typeface="Source Sans 3"/>
              </a:rPr>
              <a:t>Thành viên nhóm:</a:t>
            </a:r>
            <a:r>
              <a:rPr b="0" i="0" lang="en-US" sz="1700" u="none" cap="none" strike="noStrike">
                <a:solidFill>
                  <a:srgbClr val="3A3630"/>
                </a:solidFill>
                <a:latin typeface="Source Sans 3"/>
                <a:ea typeface="Source Sans 3"/>
                <a:cs typeface="Source Sans 3"/>
                <a:sym typeface="Source Sans 3"/>
              </a:rPr>
              <a:t> Trịnh Xuân Dũng, Lê Đức Khánh, Hà Việt Quang, La Trần Thịnh, Vũ Hải Nam</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descr="preencoded.png" id="66" name="Google Shape;66;p14"/>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67" name="Google Shape;67;p14"/>
          <p:cNvSpPr/>
          <p:nvPr/>
        </p:nvSpPr>
        <p:spPr>
          <a:xfrm>
            <a:off x="6164104" y="613291"/>
            <a:ext cx="4556046" cy="5694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38512F"/>
              </a:buClr>
              <a:buSzPts val="3550"/>
              <a:buFont typeface="Lora"/>
              <a:buNone/>
            </a:pPr>
            <a:r>
              <a:rPr lang="en-US" sz="3550">
                <a:solidFill>
                  <a:srgbClr val="38512F"/>
                </a:solidFill>
                <a:latin typeface="Lora"/>
                <a:ea typeface="Lora"/>
                <a:cs typeface="Lora"/>
                <a:sym typeface="Lora"/>
              </a:rPr>
              <a:t>Thông tin Bài báo</a:t>
            </a:r>
            <a:endParaRPr sz="3550">
              <a:solidFill>
                <a:schemeClr val="dk1"/>
              </a:solidFill>
              <a:latin typeface="Calibri"/>
              <a:ea typeface="Calibri"/>
              <a:cs typeface="Calibri"/>
              <a:sym typeface="Calibri"/>
            </a:endParaRPr>
          </a:p>
        </p:txBody>
      </p:sp>
      <p:sp>
        <p:nvSpPr>
          <p:cNvPr id="68" name="Google Shape;68;p14"/>
          <p:cNvSpPr/>
          <p:nvPr/>
        </p:nvSpPr>
        <p:spPr>
          <a:xfrm>
            <a:off x="6164104" y="1666756"/>
            <a:ext cx="2278023" cy="28467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750"/>
              <a:buFont typeface="Lora"/>
              <a:buNone/>
            </a:pPr>
            <a:r>
              <a:rPr lang="en-US" sz="1750">
                <a:solidFill>
                  <a:srgbClr val="000000"/>
                </a:solidFill>
                <a:latin typeface="Lora"/>
                <a:ea typeface="Lora"/>
                <a:cs typeface="Lora"/>
                <a:sym typeface="Lora"/>
              </a:rPr>
              <a:t>👨‍💼</a:t>
            </a:r>
            <a:r>
              <a:rPr lang="en-US" sz="1750">
                <a:solidFill>
                  <a:srgbClr val="38512F"/>
                </a:solidFill>
                <a:latin typeface="Lora"/>
                <a:ea typeface="Lora"/>
                <a:cs typeface="Lora"/>
                <a:sym typeface="Lora"/>
              </a:rPr>
              <a:t> Tác giả</a:t>
            </a:r>
            <a:endParaRPr sz="1750">
              <a:solidFill>
                <a:schemeClr val="dk1"/>
              </a:solidFill>
              <a:latin typeface="Calibri"/>
              <a:ea typeface="Calibri"/>
              <a:cs typeface="Calibri"/>
              <a:sym typeface="Calibri"/>
            </a:endParaRPr>
          </a:p>
        </p:txBody>
      </p:sp>
      <p:sp>
        <p:nvSpPr>
          <p:cNvPr id="69" name="Google Shape;69;p14"/>
          <p:cNvSpPr/>
          <p:nvPr/>
        </p:nvSpPr>
        <p:spPr>
          <a:xfrm>
            <a:off x="6164104" y="2145030"/>
            <a:ext cx="3658076" cy="619363"/>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3A3630"/>
              </a:buClr>
              <a:buSzPts val="1500"/>
              <a:buFont typeface="Source Sans 3"/>
              <a:buChar char="•"/>
            </a:pPr>
            <a:r>
              <a:rPr lang="en-US" sz="1500">
                <a:solidFill>
                  <a:srgbClr val="3A3630"/>
                </a:solidFill>
                <a:latin typeface="Source Sans 3"/>
                <a:ea typeface="Source Sans 3"/>
                <a:cs typeface="Source Sans 3"/>
                <a:sym typeface="Source Sans 3"/>
              </a:rPr>
              <a:t>Jian Huang (Pennsylvania State University)</a:t>
            </a:r>
            <a:endParaRPr sz="1500">
              <a:solidFill>
                <a:schemeClr val="dk1"/>
              </a:solidFill>
              <a:latin typeface="Calibri"/>
              <a:ea typeface="Calibri"/>
              <a:cs typeface="Calibri"/>
              <a:sym typeface="Calibri"/>
            </a:endParaRPr>
          </a:p>
        </p:txBody>
      </p:sp>
      <p:sp>
        <p:nvSpPr>
          <p:cNvPr id="70" name="Google Shape;70;p14"/>
          <p:cNvSpPr/>
          <p:nvPr/>
        </p:nvSpPr>
        <p:spPr>
          <a:xfrm>
            <a:off x="6164104" y="2832140"/>
            <a:ext cx="3658076" cy="309682"/>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3A3630"/>
              </a:buClr>
              <a:buSzPts val="1500"/>
              <a:buFont typeface="Source Sans 3"/>
              <a:buChar char="•"/>
            </a:pPr>
            <a:r>
              <a:rPr lang="en-US" sz="1500">
                <a:solidFill>
                  <a:srgbClr val="3A3630"/>
                </a:solidFill>
                <a:latin typeface="Source Sans 3"/>
                <a:ea typeface="Source Sans 3"/>
                <a:cs typeface="Source Sans 3"/>
                <a:sym typeface="Source Sans 3"/>
              </a:rPr>
              <a:t>Jianfeng Gao (Microsoft Research)</a:t>
            </a:r>
            <a:endParaRPr sz="1500">
              <a:solidFill>
                <a:schemeClr val="dk1"/>
              </a:solidFill>
              <a:latin typeface="Calibri"/>
              <a:ea typeface="Calibri"/>
              <a:cs typeface="Calibri"/>
              <a:sym typeface="Calibri"/>
            </a:endParaRPr>
          </a:p>
        </p:txBody>
      </p:sp>
      <p:sp>
        <p:nvSpPr>
          <p:cNvPr id="71" name="Google Shape;71;p14"/>
          <p:cNvSpPr/>
          <p:nvPr/>
        </p:nvSpPr>
        <p:spPr>
          <a:xfrm>
            <a:off x="6164104" y="3209568"/>
            <a:ext cx="3658076" cy="309682"/>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3A3630"/>
              </a:buClr>
              <a:buSzPts val="1500"/>
              <a:buFont typeface="Source Sans 3"/>
              <a:buChar char="•"/>
            </a:pPr>
            <a:r>
              <a:rPr lang="en-US" sz="1500">
                <a:solidFill>
                  <a:srgbClr val="3A3630"/>
                </a:solidFill>
                <a:latin typeface="Source Sans 3"/>
                <a:ea typeface="Source Sans 3"/>
                <a:cs typeface="Source Sans 3"/>
                <a:sym typeface="Source Sans 3"/>
              </a:rPr>
              <a:t>Jiangbo Miao (Facebook)</a:t>
            </a:r>
            <a:endParaRPr sz="1500">
              <a:solidFill>
                <a:schemeClr val="dk1"/>
              </a:solidFill>
              <a:latin typeface="Calibri"/>
              <a:ea typeface="Calibri"/>
              <a:cs typeface="Calibri"/>
              <a:sym typeface="Calibri"/>
            </a:endParaRPr>
          </a:p>
        </p:txBody>
      </p:sp>
      <p:sp>
        <p:nvSpPr>
          <p:cNvPr id="72" name="Google Shape;72;p14"/>
          <p:cNvSpPr/>
          <p:nvPr/>
        </p:nvSpPr>
        <p:spPr>
          <a:xfrm>
            <a:off x="6164104" y="3586996"/>
            <a:ext cx="3658076" cy="309682"/>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3A3630"/>
              </a:buClr>
              <a:buSzPts val="1500"/>
              <a:buFont typeface="Source Sans 3"/>
              <a:buChar char="•"/>
            </a:pPr>
            <a:r>
              <a:rPr lang="en-US" sz="1500">
                <a:solidFill>
                  <a:srgbClr val="3A3630"/>
                </a:solidFill>
                <a:latin typeface="Source Sans 3"/>
                <a:ea typeface="Source Sans 3"/>
                <a:cs typeface="Source Sans 3"/>
                <a:sym typeface="Source Sans 3"/>
              </a:rPr>
              <a:t>Xiaolong Li (Microsoft Research)</a:t>
            </a:r>
            <a:endParaRPr sz="1500">
              <a:solidFill>
                <a:schemeClr val="dk1"/>
              </a:solidFill>
              <a:latin typeface="Calibri"/>
              <a:ea typeface="Calibri"/>
              <a:cs typeface="Calibri"/>
              <a:sym typeface="Calibri"/>
            </a:endParaRPr>
          </a:p>
        </p:txBody>
      </p:sp>
      <p:sp>
        <p:nvSpPr>
          <p:cNvPr id="73" name="Google Shape;73;p14"/>
          <p:cNvSpPr/>
          <p:nvPr/>
        </p:nvSpPr>
        <p:spPr>
          <a:xfrm>
            <a:off x="6164104" y="3964424"/>
            <a:ext cx="3658076" cy="309682"/>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3A3630"/>
              </a:buClr>
              <a:buSzPts val="1500"/>
              <a:buFont typeface="Source Sans 3"/>
              <a:buChar char="•"/>
            </a:pPr>
            <a:r>
              <a:rPr lang="en-US" sz="1500">
                <a:solidFill>
                  <a:srgbClr val="3A3630"/>
                </a:solidFill>
                <a:latin typeface="Source Sans 3"/>
                <a:ea typeface="Source Sans 3"/>
                <a:cs typeface="Source Sans 3"/>
                <a:sym typeface="Source Sans 3"/>
              </a:rPr>
              <a:t>Kuansan Wang (Microsoft Research)</a:t>
            </a:r>
            <a:endParaRPr sz="1500">
              <a:solidFill>
                <a:schemeClr val="dk1"/>
              </a:solidFill>
              <a:latin typeface="Calibri"/>
              <a:ea typeface="Calibri"/>
              <a:cs typeface="Calibri"/>
              <a:sym typeface="Calibri"/>
            </a:endParaRPr>
          </a:p>
        </p:txBody>
      </p:sp>
      <p:sp>
        <p:nvSpPr>
          <p:cNvPr id="74" name="Google Shape;74;p14"/>
          <p:cNvSpPr/>
          <p:nvPr/>
        </p:nvSpPr>
        <p:spPr>
          <a:xfrm>
            <a:off x="6164104" y="4341852"/>
            <a:ext cx="3658076" cy="309682"/>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3A3630"/>
              </a:buClr>
              <a:buSzPts val="1500"/>
              <a:buFont typeface="Source Sans 3"/>
              <a:buChar char="•"/>
            </a:pPr>
            <a:r>
              <a:rPr lang="en-US" sz="1500">
                <a:solidFill>
                  <a:srgbClr val="3A3630"/>
                </a:solidFill>
                <a:latin typeface="Source Sans 3"/>
                <a:ea typeface="Source Sans 3"/>
                <a:cs typeface="Source Sans 3"/>
                <a:sym typeface="Source Sans 3"/>
              </a:rPr>
              <a:t>Fritz Behr (Microsoft Corporation)</a:t>
            </a:r>
            <a:endParaRPr sz="1500">
              <a:solidFill>
                <a:schemeClr val="dk1"/>
              </a:solidFill>
              <a:latin typeface="Calibri"/>
              <a:ea typeface="Calibri"/>
              <a:cs typeface="Calibri"/>
              <a:sym typeface="Calibri"/>
            </a:endParaRPr>
          </a:p>
        </p:txBody>
      </p:sp>
      <p:sp>
        <p:nvSpPr>
          <p:cNvPr id="75" name="Google Shape;75;p14"/>
          <p:cNvSpPr/>
          <p:nvPr/>
        </p:nvSpPr>
        <p:spPr>
          <a:xfrm>
            <a:off x="10302240" y="1666756"/>
            <a:ext cx="2342793" cy="28467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750"/>
              <a:buFont typeface="Lora"/>
              <a:buNone/>
            </a:pPr>
            <a:r>
              <a:rPr lang="en-US" sz="1750">
                <a:solidFill>
                  <a:srgbClr val="000000"/>
                </a:solidFill>
                <a:latin typeface="Lora"/>
                <a:ea typeface="Lora"/>
                <a:cs typeface="Lora"/>
                <a:sym typeface="Lora"/>
              </a:rPr>
              <a:t>📄</a:t>
            </a:r>
            <a:r>
              <a:rPr lang="en-US" sz="1750">
                <a:solidFill>
                  <a:srgbClr val="38512F"/>
                </a:solidFill>
                <a:latin typeface="Lora"/>
                <a:ea typeface="Lora"/>
                <a:cs typeface="Lora"/>
                <a:sym typeface="Lora"/>
              </a:rPr>
              <a:t> Thông tin xuất bản</a:t>
            </a:r>
            <a:endParaRPr sz="1750">
              <a:solidFill>
                <a:schemeClr val="dk1"/>
              </a:solidFill>
              <a:latin typeface="Calibri"/>
              <a:ea typeface="Calibri"/>
              <a:cs typeface="Calibri"/>
              <a:sym typeface="Calibri"/>
            </a:endParaRPr>
          </a:p>
        </p:txBody>
      </p:sp>
      <p:sp>
        <p:nvSpPr>
          <p:cNvPr id="76" name="Google Shape;76;p14"/>
          <p:cNvSpPr/>
          <p:nvPr/>
        </p:nvSpPr>
        <p:spPr>
          <a:xfrm>
            <a:off x="10302240" y="2145030"/>
            <a:ext cx="3658076" cy="61936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A3630"/>
              </a:buClr>
              <a:buSzPts val="1500"/>
              <a:buFont typeface="Source Sans 3"/>
              <a:buNone/>
            </a:pPr>
            <a:r>
              <a:rPr b="1" lang="en-US" sz="1500">
                <a:solidFill>
                  <a:srgbClr val="3A3630"/>
                </a:solidFill>
                <a:latin typeface="Source Sans 3"/>
                <a:ea typeface="Source Sans 3"/>
                <a:cs typeface="Source Sans 3"/>
                <a:sym typeface="Source Sans 3"/>
              </a:rPr>
              <a:t>Hội nghị:</a:t>
            </a:r>
            <a:r>
              <a:rPr lang="en-US" sz="1500">
                <a:solidFill>
                  <a:srgbClr val="3A3630"/>
                </a:solidFill>
                <a:latin typeface="Source Sans 3"/>
                <a:ea typeface="Source Sans 3"/>
                <a:cs typeface="Source Sans 3"/>
                <a:sym typeface="Source Sans 3"/>
              </a:rPr>
              <a:t> WWW 2010, Raleigh, North Carolina, USA</a:t>
            </a:r>
            <a:endParaRPr sz="1500">
              <a:solidFill>
                <a:schemeClr val="dk1"/>
              </a:solidFill>
              <a:latin typeface="Calibri"/>
              <a:ea typeface="Calibri"/>
              <a:cs typeface="Calibri"/>
              <a:sym typeface="Calibri"/>
            </a:endParaRPr>
          </a:p>
        </p:txBody>
      </p:sp>
      <p:sp>
        <p:nvSpPr>
          <p:cNvPr id="77" name="Google Shape;77;p14"/>
          <p:cNvSpPr/>
          <p:nvPr/>
        </p:nvSpPr>
        <p:spPr>
          <a:xfrm>
            <a:off x="10302240" y="2938582"/>
            <a:ext cx="3658076" cy="92904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A3630"/>
              </a:buClr>
              <a:buSzPts val="1500"/>
              <a:buFont typeface="Source Sans 3"/>
              <a:buNone/>
            </a:pPr>
            <a:r>
              <a:rPr b="1" lang="en-US" sz="1500">
                <a:solidFill>
                  <a:srgbClr val="3A3630"/>
                </a:solidFill>
                <a:latin typeface="Source Sans 3"/>
                <a:ea typeface="Source Sans 3"/>
                <a:cs typeface="Source Sans 3"/>
                <a:sym typeface="Source Sans 3"/>
              </a:rPr>
              <a:t>Từ khóa:</a:t>
            </a:r>
            <a:r>
              <a:rPr lang="en-US" sz="1500">
                <a:solidFill>
                  <a:srgbClr val="3A3630"/>
                </a:solidFill>
                <a:latin typeface="Source Sans 3"/>
                <a:ea typeface="Source Sans 3"/>
                <a:cs typeface="Source Sans 3"/>
                <a:sym typeface="Source Sans 3"/>
              </a:rPr>
              <a:t> Web n-gram, Language models, Large-scale experiments, Search query processing</a:t>
            </a:r>
            <a:endParaRPr sz="1500">
              <a:solidFill>
                <a:schemeClr val="dk1"/>
              </a:solidFill>
              <a:latin typeface="Calibri"/>
              <a:ea typeface="Calibri"/>
              <a:cs typeface="Calibri"/>
              <a:sym typeface="Calibri"/>
            </a:endParaRPr>
          </a:p>
        </p:txBody>
      </p:sp>
      <p:sp>
        <p:nvSpPr>
          <p:cNvPr id="78" name="Google Shape;78;p14"/>
          <p:cNvSpPr/>
          <p:nvPr/>
        </p:nvSpPr>
        <p:spPr>
          <a:xfrm>
            <a:off x="10302240" y="4041815"/>
            <a:ext cx="3658076" cy="30968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A3630"/>
              </a:buClr>
              <a:buSzPts val="1500"/>
              <a:buFont typeface="Source Sans 3"/>
              <a:buNone/>
            </a:pPr>
            <a:r>
              <a:rPr b="1" lang="en-US" sz="1500">
                <a:solidFill>
                  <a:srgbClr val="3A3630"/>
                </a:solidFill>
                <a:latin typeface="Source Sans 3"/>
                <a:ea typeface="Source Sans 3"/>
                <a:cs typeface="Source Sans 3"/>
                <a:sym typeface="Source Sans 3"/>
              </a:rPr>
              <a:t>Dữ liệu:</a:t>
            </a:r>
            <a:r>
              <a:rPr lang="en-US" sz="1500">
                <a:solidFill>
                  <a:srgbClr val="3A3630"/>
                </a:solidFill>
                <a:latin typeface="Source Sans 3"/>
                <a:ea typeface="Source Sans 3"/>
                <a:cs typeface="Source Sans 3"/>
                <a:sym typeface="Source Sans 3"/>
              </a:rPr>
              <a:t> Công cụ tìm kiếm Bing (Microsoft)</a:t>
            </a:r>
            <a:endParaRPr sz="1500">
              <a:solidFill>
                <a:schemeClr val="dk1"/>
              </a:solidFill>
              <a:latin typeface="Calibri"/>
              <a:ea typeface="Calibri"/>
              <a:cs typeface="Calibri"/>
              <a:sym typeface="Calibri"/>
            </a:endParaRPr>
          </a:p>
        </p:txBody>
      </p:sp>
      <p:sp>
        <p:nvSpPr>
          <p:cNvPr id="79" name="Google Shape;79;p14"/>
          <p:cNvSpPr/>
          <p:nvPr/>
        </p:nvSpPr>
        <p:spPr>
          <a:xfrm>
            <a:off x="10302240" y="4525685"/>
            <a:ext cx="3658076" cy="30968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A3630"/>
              </a:buClr>
              <a:buSzPts val="1500"/>
              <a:buFont typeface="Source Sans 3"/>
              <a:buNone/>
            </a:pPr>
            <a:r>
              <a:rPr b="1" lang="en-US" sz="1500">
                <a:solidFill>
                  <a:srgbClr val="3A3630"/>
                </a:solidFill>
                <a:latin typeface="Source Sans 3"/>
                <a:ea typeface="Source Sans 3"/>
                <a:cs typeface="Source Sans 3"/>
                <a:sym typeface="Source Sans 3"/>
              </a:rPr>
              <a:t>Công nghệ:</a:t>
            </a:r>
            <a:r>
              <a:rPr lang="en-US" sz="1500">
                <a:solidFill>
                  <a:srgbClr val="3A3630"/>
                </a:solidFill>
                <a:latin typeface="Source Sans 3"/>
                <a:ea typeface="Source Sans 3"/>
                <a:cs typeface="Source Sans 3"/>
                <a:sym typeface="Source Sans 3"/>
              </a:rPr>
              <a:t> MapReduce, MSRLM, CALM</a:t>
            </a:r>
            <a:endParaRPr sz="1500">
              <a:solidFill>
                <a:schemeClr val="dk1"/>
              </a:solidFill>
              <a:latin typeface="Calibri"/>
              <a:ea typeface="Calibri"/>
              <a:cs typeface="Calibri"/>
              <a:sym typeface="Calibri"/>
            </a:endParaRPr>
          </a:p>
        </p:txBody>
      </p:sp>
      <p:sp>
        <p:nvSpPr>
          <p:cNvPr id="80" name="Google Shape;80;p14"/>
          <p:cNvSpPr/>
          <p:nvPr/>
        </p:nvSpPr>
        <p:spPr>
          <a:xfrm>
            <a:off x="6164104" y="5227320"/>
            <a:ext cx="3797498" cy="1097637"/>
          </a:xfrm>
          <a:prstGeom prst="roundRect">
            <a:avLst>
              <a:gd fmla="val 2646"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a:off x="6357699" y="5420916"/>
            <a:ext cx="2278023" cy="28467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A3630"/>
              </a:buClr>
              <a:buSzPts val="1750"/>
              <a:buFont typeface="Lora"/>
              <a:buNone/>
            </a:pPr>
            <a:r>
              <a:rPr lang="en-US" sz="1750">
                <a:solidFill>
                  <a:srgbClr val="3A3630"/>
                </a:solidFill>
                <a:latin typeface="Lora"/>
                <a:ea typeface="Lora"/>
                <a:cs typeface="Lora"/>
                <a:sym typeface="Lora"/>
              </a:rPr>
              <a:t>Web-Scale Data</a:t>
            </a:r>
            <a:endParaRPr sz="1750">
              <a:solidFill>
                <a:schemeClr val="dk1"/>
              </a:solidFill>
              <a:latin typeface="Calibri"/>
              <a:ea typeface="Calibri"/>
              <a:cs typeface="Calibri"/>
              <a:sym typeface="Calibri"/>
            </a:endParaRPr>
          </a:p>
        </p:txBody>
      </p:sp>
      <p:sp>
        <p:nvSpPr>
          <p:cNvPr id="82" name="Google Shape;82;p14"/>
          <p:cNvSpPr/>
          <p:nvPr/>
        </p:nvSpPr>
        <p:spPr>
          <a:xfrm>
            <a:off x="6357699" y="5821680"/>
            <a:ext cx="3410307" cy="30968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A3630"/>
              </a:buClr>
              <a:buSzPts val="1500"/>
              <a:buFont typeface="Source Sans 3"/>
              <a:buNone/>
            </a:pPr>
            <a:r>
              <a:rPr lang="en-US" sz="1500">
                <a:solidFill>
                  <a:srgbClr val="3A3630"/>
                </a:solidFill>
                <a:latin typeface="Source Sans 3"/>
                <a:ea typeface="Source Sans 3"/>
                <a:cs typeface="Source Sans 3"/>
                <a:sym typeface="Source Sans 3"/>
              </a:rPr>
              <a:t>Xử lý dữ liệu quy mô web với MapReduce</a:t>
            </a:r>
            <a:endParaRPr sz="1500">
              <a:solidFill>
                <a:schemeClr val="dk1"/>
              </a:solidFill>
              <a:latin typeface="Calibri"/>
              <a:ea typeface="Calibri"/>
              <a:cs typeface="Calibri"/>
              <a:sym typeface="Calibri"/>
            </a:endParaRPr>
          </a:p>
        </p:txBody>
      </p:sp>
      <p:sp>
        <p:nvSpPr>
          <p:cNvPr id="83" name="Google Shape;83;p14"/>
          <p:cNvSpPr/>
          <p:nvPr/>
        </p:nvSpPr>
        <p:spPr>
          <a:xfrm>
            <a:off x="10155198" y="5227320"/>
            <a:ext cx="3797498" cy="1097637"/>
          </a:xfrm>
          <a:prstGeom prst="roundRect">
            <a:avLst>
              <a:gd fmla="val 2646"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10348793" y="5420916"/>
            <a:ext cx="2278023" cy="28467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A3630"/>
              </a:buClr>
              <a:buSzPts val="1750"/>
              <a:buFont typeface="Lora"/>
              <a:buNone/>
            </a:pPr>
            <a:r>
              <a:rPr lang="en-US" sz="1750">
                <a:solidFill>
                  <a:srgbClr val="3A3630"/>
                </a:solidFill>
                <a:latin typeface="Lora"/>
                <a:ea typeface="Lora"/>
                <a:cs typeface="Lora"/>
                <a:sym typeface="Lora"/>
              </a:rPr>
              <a:t>Language Modeling</a:t>
            </a:r>
            <a:endParaRPr sz="1750">
              <a:solidFill>
                <a:schemeClr val="dk1"/>
              </a:solidFill>
              <a:latin typeface="Calibri"/>
              <a:ea typeface="Calibri"/>
              <a:cs typeface="Calibri"/>
              <a:sym typeface="Calibri"/>
            </a:endParaRPr>
          </a:p>
        </p:txBody>
      </p:sp>
      <p:sp>
        <p:nvSpPr>
          <p:cNvPr id="85" name="Google Shape;85;p14"/>
          <p:cNvSpPr/>
          <p:nvPr/>
        </p:nvSpPr>
        <p:spPr>
          <a:xfrm>
            <a:off x="10348793" y="5821680"/>
            <a:ext cx="3410307" cy="30968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A3630"/>
              </a:buClr>
              <a:buSzPts val="1500"/>
              <a:buFont typeface="Source Sans 3"/>
              <a:buNone/>
            </a:pPr>
            <a:r>
              <a:rPr lang="en-US" sz="1500">
                <a:solidFill>
                  <a:srgbClr val="3A3630"/>
                </a:solidFill>
                <a:latin typeface="Source Sans 3"/>
                <a:ea typeface="Source Sans 3"/>
                <a:cs typeface="Source Sans 3"/>
                <a:sym typeface="Source Sans 3"/>
              </a:rPr>
              <a:t>MSRLM và CALM cho xử lý truy vấn</a:t>
            </a:r>
            <a:endParaRPr sz="1500">
              <a:solidFill>
                <a:schemeClr val="dk1"/>
              </a:solidFill>
              <a:latin typeface="Calibri"/>
              <a:ea typeface="Calibri"/>
              <a:cs typeface="Calibri"/>
              <a:sym typeface="Calibri"/>
            </a:endParaRPr>
          </a:p>
        </p:txBody>
      </p:sp>
      <p:sp>
        <p:nvSpPr>
          <p:cNvPr id="86" name="Google Shape;86;p14"/>
          <p:cNvSpPr/>
          <p:nvPr/>
        </p:nvSpPr>
        <p:spPr>
          <a:xfrm>
            <a:off x="6164104" y="6518553"/>
            <a:ext cx="7788593" cy="1097637"/>
          </a:xfrm>
          <a:prstGeom prst="roundRect">
            <a:avLst>
              <a:gd fmla="val 2646"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6357699" y="6712148"/>
            <a:ext cx="2278023" cy="28467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A3630"/>
              </a:buClr>
              <a:buSzPts val="1750"/>
              <a:buFont typeface="Lora"/>
              <a:buNone/>
            </a:pPr>
            <a:r>
              <a:rPr lang="en-US" sz="1750">
                <a:solidFill>
                  <a:srgbClr val="3A3630"/>
                </a:solidFill>
                <a:latin typeface="Lora"/>
                <a:ea typeface="Lora"/>
                <a:cs typeface="Lora"/>
                <a:sym typeface="Lora"/>
              </a:rPr>
              <a:t>Search Optimization</a:t>
            </a:r>
            <a:endParaRPr sz="1750">
              <a:solidFill>
                <a:schemeClr val="dk1"/>
              </a:solidFill>
              <a:latin typeface="Calibri"/>
              <a:ea typeface="Calibri"/>
              <a:cs typeface="Calibri"/>
              <a:sym typeface="Calibri"/>
            </a:endParaRPr>
          </a:p>
        </p:txBody>
      </p:sp>
      <p:sp>
        <p:nvSpPr>
          <p:cNvPr id="88" name="Google Shape;88;p14"/>
          <p:cNvSpPr/>
          <p:nvPr/>
        </p:nvSpPr>
        <p:spPr>
          <a:xfrm>
            <a:off x="6357699" y="7112913"/>
            <a:ext cx="7401401" cy="30968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A3630"/>
              </a:buClr>
              <a:buSzPts val="1500"/>
              <a:buFont typeface="Source Sans 3"/>
              <a:buNone/>
            </a:pPr>
            <a:r>
              <a:rPr lang="en-US" sz="1500">
                <a:solidFill>
                  <a:srgbClr val="3A3630"/>
                </a:solidFill>
                <a:latin typeface="Source Sans 3"/>
                <a:ea typeface="Source Sans 3"/>
                <a:cs typeface="Source Sans 3"/>
                <a:sym typeface="Source Sans 3"/>
              </a:rPr>
              <a:t>Cải thiện hiệu suất xử lý tìm kiếm</a:t>
            </a:r>
            <a:endParaRPr sz="15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p:nvPr/>
        </p:nvSpPr>
        <p:spPr>
          <a:xfrm>
            <a:off x="683774" y="642100"/>
            <a:ext cx="10952400" cy="4596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38512F"/>
              </a:buClr>
              <a:buSzPts val="2850"/>
              <a:buFont typeface="Lora"/>
              <a:buNone/>
            </a:pPr>
            <a:r>
              <a:rPr lang="en-US" sz="2850">
                <a:solidFill>
                  <a:srgbClr val="38512F"/>
                </a:solidFill>
                <a:latin typeface="Lora"/>
                <a:ea typeface="Lora"/>
                <a:cs typeface="Lora"/>
                <a:sym typeface="Lora"/>
              </a:rPr>
              <a:t>Tóm tắt b</a:t>
            </a:r>
            <a:r>
              <a:rPr lang="en-US" sz="2850">
                <a:solidFill>
                  <a:srgbClr val="38512F"/>
                </a:solidFill>
                <a:latin typeface="Lora"/>
                <a:ea typeface="Lora"/>
                <a:cs typeface="Lora"/>
                <a:sym typeface="Lora"/>
              </a:rPr>
              <a:t>ối Cảnh: Sự Khác Biệt Ngôn Ngữ</a:t>
            </a:r>
            <a:endParaRPr sz="2850">
              <a:solidFill>
                <a:schemeClr val="dk1"/>
              </a:solidFill>
              <a:latin typeface="Calibri"/>
              <a:ea typeface="Calibri"/>
              <a:cs typeface="Calibri"/>
              <a:sym typeface="Calibri"/>
            </a:endParaRPr>
          </a:p>
        </p:txBody>
      </p:sp>
      <p:sp>
        <p:nvSpPr>
          <p:cNvPr id="95" name="Google Shape;95;p15"/>
          <p:cNvSpPr/>
          <p:nvPr/>
        </p:nvSpPr>
        <p:spPr>
          <a:xfrm>
            <a:off x="683776" y="1492567"/>
            <a:ext cx="13262848" cy="625078"/>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3A3630"/>
              </a:buClr>
              <a:buSzPts val="1500"/>
              <a:buFont typeface="Source Sans 3"/>
              <a:buNone/>
            </a:pPr>
            <a:r>
              <a:rPr lang="en-US" sz="1500">
                <a:solidFill>
                  <a:srgbClr val="3A3630"/>
                </a:solidFill>
                <a:latin typeface="Source Sans 3"/>
                <a:ea typeface="Source Sans 3"/>
                <a:cs typeface="Source Sans 3"/>
                <a:sym typeface="Source Sans 3"/>
              </a:rPr>
              <a:t>Trong lĩnh vực Truy xuất Thông tin (IR) và Xử lý Ngôn ngữ Tự nhiên (NLP), từ lâu người ta đã quan sát thấy một sự khác biệt rõ rệ. Ngôn ngữ người dùng sử dụng trong Truy vấn tìm kiếm (Search Queries) có phong cách rất khác so với ngôn ngữ trong Nội dung chính (Body) hoặc Tiêu đề (Title) của tài liệu web.</a:t>
            </a:r>
            <a:endParaRPr sz="1500">
              <a:solidFill>
                <a:schemeClr val="dk1"/>
              </a:solidFill>
              <a:latin typeface="Calibri"/>
              <a:ea typeface="Calibri"/>
              <a:cs typeface="Calibri"/>
              <a:sym typeface="Calibri"/>
            </a:endParaRPr>
          </a:p>
        </p:txBody>
      </p:sp>
      <p:sp>
        <p:nvSpPr>
          <p:cNvPr id="96" name="Google Shape;96;p15"/>
          <p:cNvSpPr/>
          <p:nvPr/>
        </p:nvSpPr>
        <p:spPr>
          <a:xfrm>
            <a:off x="683776" y="2410658"/>
            <a:ext cx="4938712" cy="344805"/>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38512F"/>
              </a:buClr>
              <a:buSzPts val="2150"/>
              <a:buFont typeface="Lora"/>
              <a:buNone/>
            </a:pPr>
            <a:r>
              <a:rPr lang="en-US" sz="2150">
                <a:solidFill>
                  <a:srgbClr val="38512F"/>
                </a:solidFill>
                <a:latin typeface="Lora"/>
                <a:ea typeface="Lora"/>
                <a:cs typeface="Lora"/>
                <a:sym typeface="Lora"/>
              </a:rPr>
              <a:t>Ví Dụ Minh Họa: Tìm "Cách Làm Pizza"</a:t>
            </a:r>
            <a:endParaRPr sz="2150">
              <a:solidFill>
                <a:schemeClr val="dk1"/>
              </a:solidFill>
              <a:latin typeface="Calibri"/>
              <a:ea typeface="Calibri"/>
              <a:cs typeface="Calibri"/>
              <a:sym typeface="Calibri"/>
            </a:endParaRPr>
          </a:p>
        </p:txBody>
      </p:sp>
      <p:sp>
        <p:nvSpPr>
          <p:cNvPr id="97" name="Google Shape;97;p15"/>
          <p:cNvSpPr/>
          <p:nvPr/>
        </p:nvSpPr>
        <p:spPr>
          <a:xfrm>
            <a:off x="683776" y="3048476"/>
            <a:ext cx="4290655" cy="2982992"/>
          </a:xfrm>
          <a:prstGeom prst="roundRect">
            <a:avLst>
              <a:gd fmla="val 983"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a:off x="879158" y="3243858"/>
            <a:ext cx="2959537" cy="2872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1800"/>
              <a:buFont typeface="Lora"/>
              <a:buNone/>
            </a:pPr>
            <a:r>
              <a:rPr lang="en-US" sz="1800">
                <a:solidFill>
                  <a:srgbClr val="3A3630"/>
                </a:solidFill>
                <a:latin typeface="Lora"/>
                <a:ea typeface="Lora"/>
                <a:cs typeface="Lora"/>
                <a:sym typeface="Lora"/>
              </a:rPr>
              <a:t>Ngôn Ngữ Truy Vấn (Query)</a:t>
            </a:r>
            <a:endParaRPr sz="1800">
              <a:solidFill>
                <a:schemeClr val="dk1"/>
              </a:solidFill>
              <a:latin typeface="Calibri"/>
              <a:ea typeface="Calibri"/>
              <a:cs typeface="Calibri"/>
              <a:sym typeface="Calibri"/>
            </a:endParaRPr>
          </a:p>
        </p:txBody>
      </p:sp>
      <p:sp>
        <p:nvSpPr>
          <p:cNvPr id="99" name="Google Shape;99;p15"/>
          <p:cNvSpPr/>
          <p:nvPr/>
        </p:nvSpPr>
        <p:spPr>
          <a:xfrm>
            <a:off x="879158" y="3648313"/>
            <a:ext cx="3899892" cy="1875234"/>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3A3630"/>
              </a:buClr>
              <a:buSzPts val="1500"/>
              <a:buFont typeface="Source Sans 3"/>
              <a:buNone/>
            </a:pPr>
            <a:r>
              <a:rPr lang="en-US" sz="1500">
                <a:solidFill>
                  <a:srgbClr val="3A3630"/>
                </a:solidFill>
                <a:latin typeface="Source Sans 3"/>
                <a:ea typeface="Source Sans 3"/>
                <a:cs typeface="Source Sans 3"/>
                <a:sym typeface="Source Sans 3"/>
              </a:rPr>
              <a:t>Người dùng gõ: "cách làm pizza tại nhà", "công thức pizza đơn giản". Rất ngắn gọn, tập trung vào từ khóa cốt lõi. Thường là các cụm danh từ, bỏ qua từ chức năng (như "là", "của") và không cần tuân theo ngữ pháp đầy đủ. Giống như một "ý định thô" (raw intent).</a:t>
            </a:r>
            <a:endParaRPr sz="1500">
              <a:solidFill>
                <a:schemeClr val="dk1"/>
              </a:solidFill>
              <a:latin typeface="Calibri"/>
              <a:ea typeface="Calibri"/>
              <a:cs typeface="Calibri"/>
              <a:sym typeface="Calibri"/>
            </a:endParaRPr>
          </a:p>
        </p:txBody>
      </p:sp>
      <p:sp>
        <p:nvSpPr>
          <p:cNvPr id="100" name="Google Shape;100;p15"/>
          <p:cNvSpPr/>
          <p:nvPr/>
        </p:nvSpPr>
        <p:spPr>
          <a:xfrm>
            <a:off x="5169813" y="3048476"/>
            <a:ext cx="4290655" cy="2982992"/>
          </a:xfrm>
          <a:prstGeom prst="roundRect">
            <a:avLst>
              <a:gd fmla="val 983"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a:off x="5365194" y="3243858"/>
            <a:ext cx="2647474" cy="2872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1800"/>
              <a:buFont typeface="Lora"/>
              <a:buNone/>
            </a:pPr>
            <a:r>
              <a:rPr lang="en-US" sz="1800">
                <a:solidFill>
                  <a:srgbClr val="3A3630"/>
                </a:solidFill>
                <a:latin typeface="Lora"/>
                <a:ea typeface="Lora"/>
                <a:cs typeface="Lora"/>
                <a:sym typeface="Lora"/>
              </a:rPr>
              <a:t>Ngôn Ngữ Tiêu Đề (Title)</a:t>
            </a:r>
            <a:endParaRPr sz="1800">
              <a:solidFill>
                <a:schemeClr val="dk1"/>
              </a:solidFill>
              <a:latin typeface="Calibri"/>
              <a:ea typeface="Calibri"/>
              <a:cs typeface="Calibri"/>
              <a:sym typeface="Calibri"/>
            </a:endParaRPr>
          </a:p>
        </p:txBody>
      </p:sp>
      <p:sp>
        <p:nvSpPr>
          <p:cNvPr id="102" name="Google Shape;102;p15"/>
          <p:cNvSpPr/>
          <p:nvPr/>
        </p:nvSpPr>
        <p:spPr>
          <a:xfrm>
            <a:off x="5365194" y="3648313"/>
            <a:ext cx="3899892" cy="1875234"/>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3A3630"/>
              </a:buClr>
              <a:buSzPts val="1500"/>
              <a:buFont typeface="Source Sans 3"/>
              <a:buNone/>
            </a:pPr>
            <a:r>
              <a:rPr lang="en-US" sz="1500">
                <a:solidFill>
                  <a:srgbClr val="3A3630"/>
                </a:solidFill>
                <a:latin typeface="Source Sans 3"/>
                <a:ea typeface="Source Sans 3"/>
                <a:cs typeface="Source Sans 3"/>
                <a:sym typeface="Source Sans 3"/>
              </a:rPr>
              <a:t>Kết quả hiển thị: "Hướng Dẫn Cách Làm Pizza Tại Nhà Đơn Giản Nhất (Chỉ 30 Phút)". Đây là một bản tóm tắt nội dung. Vẫn súc tích nhưng đầy đủ ý nghĩa hơn, có cấu trúc và thường mang tính "giật tít". Giống như một "bản tóm tắt câu trả lời".</a:t>
            </a:r>
            <a:endParaRPr sz="1500">
              <a:solidFill>
                <a:schemeClr val="dk1"/>
              </a:solidFill>
              <a:latin typeface="Calibri"/>
              <a:ea typeface="Calibri"/>
              <a:cs typeface="Calibri"/>
              <a:sym typeface="Calibri"/>
            </a:endParaRPr>
          </a:p>
        </p:txBody>
      </p:sp>
      <p:sp>
        <p:nvSpPr>
          <p:cNvPr id="103" name="Google Shape;103;p15"/>
          <p:cNvSpPr/>
          <p:nvPr/>
        </p:nvSpPr>
        <p:spPr>
          <a:xfrm>
            <a:off x="9655850" y="3048476"/>
            <a:ext cx="4290655" cy="2982992"/>
          </a:xfrm>
          <a:prstGeom prst="roundRect">
            <a:avLst>
              <a:gd fmla="val 983"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p:nvPr/>
        </p:nvSpPr>
        <p:spPr>
          <a:xfrm>
            <a:off x="9851231" y="3243858"/>
            <a:ext cx="2873335" cy="2872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1800"/>
              <a:buFont typeface="Lora"/>
              <a:buNone/>
            </a:pPr>
            <a:r>
              <a:rPr lang="en-US" sz="1800">
                <a:solidFill>
                  <a:srgbClr val="3A3630"/>
                </a:solidFill>
                <a:latin typeface="Lora"/>
                <a:ea typeface="Lora"/>
                <a:cs typeface="Lora"/>
                <a:sym typeface="Lora"/>
              </a:rPr>
              <a:t>Ngôn Ngữ Nội Dung (Body)</a:t>
            </a:r>
            <a:endParaRPr sz="1800">
              <a:solidFill>
                <a:schemeClr val="dk1"/>
              </a:solidFill>
              <a:latin typeface="Calibri"/>
              <a:ea typeface="Calibri"/>
              <a:cs typeface="Calibri"/>
              <a:sym typeface="Calibri"/>
            </a:endParaRPr>
          </a:p>
        </p:txBody>
      </p:sp>
      <p:sp>
        <p:nvSpPr>
          <p:cNvPr id="105" name="Google Shape;105;p15"/>
          <p:cNvSpPr/>
          <p:nvPr/>
        </p:nvSpPr>
        <p:spPr>
          <a:xfrm>
            <a:off x="9851231" y="3648313"/>
            <a:ext cx="3899892" cy="2187773"/>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3A3630"/>
              </a:buClr>
              <a:buSzPts val="1500"/>
              <a:buFont typeface="Source Sans 3"/>
              <a:buNone/>
            </a:pPr>
            <a:r>
              <a:rPr lang="en-US" sz="1500">
                <a:solidFill>
                  <a:srgbClr val="3A3630"/>
                </a:solidFill>
                <a:latin typeface="Source Sans 3"/>
                <a:ea typeface="Source Sans 3"/>
                <a:cs typeface="Source Sans 3"/>
                <a:sym typeface="Source Sans 3"/>
              </a:rPr>
              <a:t>Nội dung bài viết: "Chào mừng các bạn... Hôm nay, chúng ta sẽ cùng nhau khám phá công thức... bạn cần chuẩn bị các nguyên liệu bao gồm 200g bột mì...". Đây là văn viết đầy đủ. Sử dụng câu cú hoàn chỉnh, đúng ngữ pháp, giải thích chi tiết và chứa rất nhiều từ chức năng. Đây là "câu trả lời đầy đủ".</a:t>
            </a:r>
            <a:endParaRPr sz="1500">
              <a:solidFill>
                <a:schemeClr val="dk1"/>
              </a:solidFill>
              <a:latin typeface="Calibri"/>
              <a:ea typeface="Calibri"/>
              <a:cs typeface="Calibri"/>
              <a:sym typeface="Calibri"/>
            </a:endParaRPr>
          </a:p>
        </p:txBody>
      </p:sp>
      <p:sp>
        <p:nvSpPr>
          <p:cNvPr id="106" name="Google Shape;106;p15"/>
          <p:cNvSpPr/>
          <p:nvPr/>
        </p:nvSpPr>
        <p:spPr>
          <a:xfrm>
            <a:off x="683776" y="6324481"/>
            <a:ext cx="2758440" cy="344805"/>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38512F"/>
              </a:buClr>
              <a:buSzPts val="2150"/>
              <a:buFont typeface="Lora"/>
              <a:buNone/>
            </a:pPr>
            <a:r>
              <a:rPr lang="en-US" sz="2150">
                <a:solidFill>
                  <a:srgbClr val="38512F"/>
                </a:solidFill>
                <a:latin typeface="Lora"/>
                <a:ea typeface="Lora"/>
                <a:cs typeface="Lora"/>
                <a:sym typeface="Lora"/>
              </a:rPr>
              <a:t>Vấn Đề Nghiên Cứu</a:t>
            </a:r>
            <a:endParaRPr sz="2150">
              <a:solidFill>
                <a:schemeClr val="dk1"/>
              </a:solidFill>
              <a:latin typeface="Calibri"/>
              <a:ea typeface="Calibri"/>
              <a:cs typeface="Calibri"/>
              <a:sym typeface="Calibri"/>
            </a:endParaRPr>
          </a:p>
        </p:txBody>
      </p:sp>
      <p:sp>
        <p:nvSpPr>
          <p:cNvPr id="107" name="Google Shape;107;p15"/>
          <p:cNvSpPr/>
          <p:nvPr/>
        </p:nvSpPr>
        <p:spPr>
          <a:xfrm>
            <a:off x="683776" y="6962299"/>
            <a:ext cx="13262848" cy="625078"/>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3A3630"/>
              </a:buClr>
              <a:buSzPts val="1500"/>
              <a:buFont typeface="Source Sans 3"/>
              <a:buNone/>
            </a:pPr>
            <a:r>
              <a:rPr lang="en-US" sz="1500">
                <a:solidFill>
                  <a:srgbClr val="3A3630"/>
                </a:solidFill>
                <a:latin typeface="Source Sans 3"/>
                <a:ea typeface="Source Sans 3"/>
                <a:cs typeface="Source Sans 3"/>
                <a:sym typeface="Source Sans 3"/>
              </a:rPr>
              <a:t>Mặc dù nhiều kỹ thuật đã cố gắng lý giải sự chênh lệch này, cho đến nay vẫn thiếu một phân tích quy mô lớn (large scale analysis) để làm rõ mức độ của những khác biệt này. Việc hiểu rõ bản chất của "ngôn ngữ truy vấn" là vô cùng quan trọng để cải thiện các tác vụ Xử lý Truy vấn Tìm kiếm (Search Query Processing - SQP).</a:t>
            </a:r>
            <a:endParaRPr sz="15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p:nvPr/>
        </p:nvSpPr>
        <p:spPr>
          <a:xfrm>
            <a:off x="524196" y="430700"/>
            <a:ext cx="6265200" cy="352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2200"/>
              <a:buFont typeface="Lora"/>
              <a:buNone/>
            </a:pPr>
            <a:r>
              <a:rPr lang="en-US" sz="2700">
                <a:solidFill>
                  <a:srgbClr val="38512F"/>
                </a:solidFill>
                <a:latin typeface="Lora"/>
                <a:ea typeface="Lora"/>
                <a:cs typeface="Lora"/>
                <a:sym typeface="Lora"/>
              </a:rPr>
              <a:t>Mục Tiêu và Đóng Góp Chính</a:t>
            </a:r>
            <a:endParaRPr sz="2700">
              <a:solidFill>
                <a:schemeClr val="dk1"/>
              </a:solidFill>
              <a:latin typeface="Calibri"/>
              <a:ea typeface="Calibri"/>
              <a:cs typeface="Calibri"/>
              <a:sym typeface="Calibri"/>
            </a:endParaRPr>
          </a:p>
        </p:txBody>
      </p:sp>
      <p:sp>
        <p:nvSpPr>
          <p:cNvPr id="114" name="Google Shape;114;p16"/>
          <p:cNvSpPr/>
          <p:nvPr/>
        </p:nvSpPr>
        <p:spPr>
          <a:xfrm>
            <a:off x="524210" y="824150"/>
            <a:ext cx="6535800" cy="2643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38512F"/>
              </a:buClr>
              <a:buSzPts val="1650"/>
              <a:buFont typeface="Lora"/>
              <a:buNone/>
            </a:pPr>
            <a:r>
              <a:rPr lang="en-US" sz="2150">
                <a:solidFill>
                  <a:srgbClr val="38512F"/>
                </a:solidFill>
                <a:latin typeface="Lora"/>
                <a:ea typeface="Lora"/>
                <a:cs typeface="Lora"/>
                <a:sym typeface="Lora"/>
              </a:rPr>
              <a:t>Mục Tiêu của Bài Báo</a:t>
            </a:r>
            <a:endParaRPr sz="2150">
              <a:solidFill>
                <a:schemeClr val="dk1"/>
              </a:solidFill>
              <a:latin typeface="Calibri"/>
              <a:ea typeface="Calibri"/>
              <a:cs typeface="Calibri"/>
              <a:sym typeface="Calibri"/>
            </a:endParaRPr>
          </a:p>
        </p:txBody>
      </p:sp>
      <p:sp>
        <p:nvSpPr>
          <p:cNvPr id="115" name="Google Shape;115;p16"/>
          <p:cNvSpPr/>
          <p:nvPr/>
        </p:nvSpPr>
        <p:spPr>
          <a:xfrm>
            <a:off x="524232" y="1313140"/>
            <a:ext cx="13581936" cy="239554"/>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3A3630"/>
              </a:buClr>
              <a:buSzPts val="1150"/>
              <a:buFont typeface="Source Sans 3"/>
              <a:buNone/>
            </a:pPr>
            <a:r>
              <a:rPr lang="en-US" sz="1650">
                <a:solidFill>
                  <a:srgbClr val="3A3630"/>
                </a:solidFill>
                <a:latin typeface="Source Sans 3"/>
                <a:ea typeface="Source Sans 3"/>
                <a:cs typeface="Source Sans 3"/>
                <a:sym typeface="Source Sans 3"/>
              </a:rPr>
              <a:t>Bài báo này trình bày một nghiên cứu sâu rộng (extensive study) về vấn đề trên bằng cách:</a:t>
            </a:r>
            <a:endParaRPr sz="1650">
              <a:solidFill>
                <a:schemeClr val="dk1"/>
              </a:solidFill>
              <a:latin typeface="Calibri"/>
              <a:ea typeface="Calibri"/>
              <a:cs typeface="Calibri"/>
              <a:sym typeface="Calibri"/>
            </a:endParaRPr>
          </a:p>
        </p:txBody>
      </p:sp>
      <p:sp>
        <p:nvSpPr>
          <p:cNvPr id="116" name="Google Shape;116;p16"/>
          <p:cNvSpPr/>
          <p:nvPr/>
        </p:nvSpPr>
        <p:spPr>
          <a:xfrm>
            <a:off x="524232" y="1721168"/>
            <a:ext cx="336947" cy="336947"/>
          </a:xfrm>
          <a:prstGeom prst="roundRect">
            <a:avLst>
              <a:gd fmla="val 6668"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117" name="Google Shape;117;p16"/>
          <p:cNvSpPr/>
          <p:nvPr/>
        </p:nvSpPr>
        <p:spPr>
          <a:xfrm>
            <a:off x="586978" y="1757482"/>
            <a:ext cx="211455" cy="26431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A3630"/>
              </a:buClr>
              <a:buSzPts val="1650"/>
              <a:buFont typeface="Lora"/>
              <a:buNone/>
            </a:pPr>
            <a:r>
              <a:rPr lang="en-US" sz="2150">
                <a:solidFill>
                  <a:srgbClr val="3A3630"/>
                </a:solidFill>
                <a:latin typeface="Lora"/>
                <a:ea typeface="Lora"/>
                <a:cs typeface="Lora"/>
                <a:sym typeface="Lora"/>
              </a:rPr>
              <a:t>1</a:t>
            </a:r>
            <a:endParaRPr sz="2150">
              <a:solidFill>
                <a:schemeClr val="dk1"/>
              </a:solidFill>
              <a:latin typeface="Calibri"/>
              <a:ea typeface="Calibri"/>
              <a:cs typeface="Calibri"/>
              <a:sym typeface="Calibri"/>
            </a:endParaRPr>
          </a:p>
        </p:txBody>
      </p:sp>
      <p:sp>
        <p:nvSpPr>
          <p:cNvPr id="118" name="Google Shape;118;p16"/>
          <p:cNvSpPr/>
          <p:nvPr/>
        </p:nvSpPr>
        <p:spPr>
          <a:xfrm>
            <a:off x="1010960" y="1772603"/>
            <a:ext cx="1762244" cy="220266"/>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3A3630"/>
              </a:buClr>
              <a:buSzPts val="1350"/>
              <a:buFont typeface="Lora"/>
              <a:buNone/>
            </a:pPr>
            <a:r>
              <a:rPr lang="en-US" sz="1850">
                <a:solidFill>
                  <a:srgbClr val="3A3630"/>
                </a:solidFill>
                <a:latin typeface="Lora"/>
                <a:ea typeface="Lora"/>
                <a:cs typeface="Lora"/>
                <a:sym typeface="Lora"/>
              </a:rPr>
              <a:t>Kiểm Tra</a:t>
            </a:r>
            <a:endParaRPr sz="1850">
              <a:solidFill>
                <a:schemeClr val="dk1"/>
              </a:solidFill>
              <a:latin typeface="Calibri"/>
              <a:ea typeface="Calibri"/>
              <a:cs typeface="Calibri"/>
              <a:sym typeface="Calibri"/>
            </a:endParaRPr>
          </a:p>
        </p:txBody>
      </p:sp>
      <p:sp>
        <p:nvSpPr>
          <p:cNvPr id="119" name="Google Shape;119;p16"/>
          <p:cNvSpPr/>
          <p:nvPr/>
        </p:nvSpPr>
        <p:spPr>
          <a:xfrm>
            <a:off x="1010960" y="2082641"/>
            <a:ext cx="3915728" cy="479108"/>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3A3630"/>
              </a:buClr>
              <a:buSzPts val="1150"/>
              <a:buFont typeface="Source Sans 3"/>
              <a:buNone/>
            </a:pPr>
            <a:r>
              <a:rPr lang="en-US" sz="1650">
                <a:solidFill>
                  <a:srgbClr val="3A3630"/>
                </a:solidFill>
                <a:latin typeface="Source Sans 3"/>
                <a:ea typeface="Source Sans 3"/>
                <a:cs typeface="Source Sans 3"/>
                <a:sym typeface="Source Sans 3"/>
              </a:rPr>
              <a:t>Các thuộc tính mô hình ngôn ngữ của bốn nguồn dữ liệu quy mô web khác nhau.</a:t>
            </a:r>
            <a:endParaRPr sz="1650">
              <a:solidFill>
                <a:schemeClr val="dk1"/>
              </a:solidFill>
              <a:latin typeface="Calibri"/>
              <a:ea typeface="Calibri"/>
              <a:cs typeface="Calibri"/>
              <a:sym typeface="Calibri"/>
            </a:endParaRPr>
          </a:p>
        </p:txBody>
      </p:sp>
      <p:sp>
        <p:nvSpPr>
          <p:cNvPr id="120" name="Google Shape;120;p16"/>
          <p:cNvSpPr/>
          <p:nvPr/>
        </p:nvSpPr>
        <p:spPr>
          <a:xfrm>
            <a:off x="5113853" y="1721168"/>
            <a:ext cx="336947" cy="336947"/>
          </a:xfrm>
          <a:prstGeom prst="roundRect">
            <a:avLst>
              <a:gd fmla="val 6668"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121" name="Google Shape;121;p16"/>
          <p:cNvSpPr/>
          <p:nvPr/>
        </p:nvSpPr>
        <p:spPr>
          <a:xfrm>
            <a:off x="5176599" y="1757482"/>
            <a:ext cx="211455" cy="26431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A3630"/>
              </a:buClr>
              <a:buSzPts val="1650"/>
              <a:buFont typeface="Lora"/>
              <a:buNone/>
            </a:pPr>
            <a:r>
              <a:rPr lang="en-US" sz="2150">
                <a:solidFill>
                  <a:srgbClr val="3A3630"/>
                </a:solidFill>
                <a:latin typeface="Lora"/>
                <a:ea typeface="Lora"/>
                <a:cs typeface="Lora"/>
                <a:sym typeface="Lora"/>
              </a:rPr>
              <a:t>2</a:t>
            </a:r>
            <a:endParaRPr sz="2150">
              <a:solidFill>
                <a:schemeClr val="dk1"/>
              </a:solidFill>
              <a:latin typeface="Calibri"/>
              <a:ea typeface="Calibri"/>
              <a:cs typeface="Calibri"/>
              <a:sym typeface="Calibri"/>
            </a:endParaRPr>
          </a:p>
        </p:txBody>
      </p:sp>
      <p:sp>
        <p:nvSpPr>
          <p:cNvPr id="122" name="Google Shape;122;p16"/>
          <p:cNvSpPr/>
          <p:nvPr/>
        </p:nvSpPr>
        <p:spPr>
          <a:xfrm>
            <a:off x="5600581" y="1772603"/>
            <a:ext cx="1762244" cy="220266"/>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3A3630"/>
              </a:buClr>
              <a:buSzPts val="1350"/>
              <a:buFont typeface="Lora"/>
              <a:buNone/>
            </a:pPr>
            <a:r>
              <a:rPr lang="en-US" sz="1850">
                <a:solidFill>
                  <a:srgbClr val="3A3630"/>
                </a:solidFill>
                <a:latin typeface="Lora"/>
                <a:ea typeface="Lora"/>
                <a:cs typeface="Lora"/>
                <a:sym typeface="Lora"/>
              </a:rPr>
              <a:t>Định Lượng</a:t>
            </a:r>
            <a:endParaRPr sz="1850">
              <a:solidFill>
                <a:schemeClr val="dk1"/>
              </a:solidFill>
              <a:latin typeface="Calibri"/>
              <a:ea typeface="Calibri"/>
              <a:cs typeface="Calibri"/>
              <a:sym typeface="Calibri"/>
            </a:endParaRPr>
          </a:p>
        </p:txBody>
      </p:sp>
      <p:sp>
        <p:nvSpPr>
          <p:cNvPr id="123" name="Google Shape;123;p16"/>
          <p:cNvSpPr/>
          <p:nvPr/>
        </p:nvSpPr>
        <p:spPr>
          <a:xfrm>
            <a:off x="5600581" y="2082641"/>
            <a:ext cx="3915847" cy="718661"/>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3A3630"/>
              </a:buClr>
              <a:buSzPts val="1150"/>
              <a:buFont typeface="Source Sans 3"/>
              <a:buNone/>
            </a:pPr>
            <a:r>
              <a:rPr lang="en-US" sz="1650">
                <a:solidFill>
                  <a:srgbClr val="3A3630"/>
                </a:solidFill>
                <a:latin typeface="Source Sans 3"/>
                <a:ea typeface="Source Sans 3"/>
                <a:cs typeface="Source Sans 3"/>
                <a:sym typeface="Source Sans 3"/>
              </a:rPr>
              <a:t>Sử dụng phân tích lý thuyết thông tin (cụ thể là Perplexity) để đo lường sự tương đồng và khác biệt giữa các nguồn ngôn ngữ này.</a:t>
            </a:r>
            <a:endParaRPr sz="1650">
              <a:solidFill>
                <a:schemeClr val="dk1"/>
              </a:solidFill>
              <a:latin typeface="Calibri"/>
              <a:ea typeface="Calibri"/>
              <a:cs typeface="Calibri"/>
              <a:sym typeface="Calibri"/>
            </a:endParaRPr>
          </a:p>
        </p:txBody>
      </p:sp>
      <p:sp>
        <p:nvSpPr>
          <p:cNvPr id="124" name="Google Shape;124;p16"/>
          <p:cNvSpPr/>
          <p:nvPr/>
        </p:nvSpPr>
        <p:spPr>
          <a:xfrm>
            <a:off x="9703594" y="1721168"/>
            <a:ext cx="336947" cy="336947"/>
          </a:xfrm>
          <a:prstGeom prst="roundRect">
            <a:avLst>
              <a:gd fmla="val 6668"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125" name="Google Shape;125;p16"/>
          <p:cNvSpPr/>
          <p:nvPr/>
        </p:nvSpPr>
        <p:spPr>
          <a:xfrm>
            <a:off x="9766340" y="1757482"/>
            <a:ext cx="211455" cy="26431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A3630"/>
              </a:buClr>
              <a:buSzPts val="1650"/>
              <a:buFont typeface="Lora"/>
              <a:buNone/>
            </a:pPr>
            <a:r>
              <a:rPr lang="en-US" sz="2150">
                <a:solidFill>
                  <a:srgbClr val="3A3630"/>
                </a:solidFill>
                <a:latin typeface="Lora"/>
                <a:ea typeface="Lora"/>
                <a:cs typeface="Lora"/>
                <a:sym typeface="Lora"/>
              </a:rPr>
              <a:t>3</a:t>
            </a:r>
            <a:endParaRPr sz="2150">
              <a:solidFill>
                <a:schemeClr val="dk1"/>
              </a:solidFill>
              <a:latin typeface="Calibri"/>
              <a:ea typeface="Calibri"/>
              <a:cs typeface="Calibri"/>
              <a:sym typeface="Calibri"/>
            </a:endParaRPr>
          </a:p>
        </p:txBody>
      </p:sp>
      <p:sp>
        <p:nvSpPr>
          <p:cNvPr id="126" name="Google Shape;126;p16"/>
          <p:cNvSpPr/>
          <p:nvPr/>
        </p:nvSpPr>
        <p:spPr>
          <a:xfrm>
            <a:off x="10190321" y="1772603"/>
            <a:ext cx="1762244" cy="220266"/>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3A3630"/>
              </a:buClr>
              <a:buSzPts val="1350"/>
              <a:buFont typeface="Lora"/>
              <a:buNone/>
            </a:pPr>
            <a:r>
              <a:rPr lang="en-US" sz="1850">
                <a:solidFill>
                  <a:srgbClr val="3A3630"/>
                </a:solidFill>
                <a:latin typeface="Lora"/>
                <a:ea typeface="Lora"/>
                <a:cs typeface="Lora"/>
                <a:sym typeface="Lora"/>
              </a:rPr>
              <a:t>Ứng Dụng</a:t>
            </a:r>
            <a:endParaRPr sz="1850">
              <a:solidFill>
                <a:schemeClr val="dk1"/>
              </a:solidFill>
              <a:latin typeface="Calibri"/>
              <a:ea typeface="Calibri"/>
              <a:cs typeface="Calibri"/>
              <a:sym typeface="Calibri"/>
            </a:endParaRPr>
          </a:p>
        </p:txBody>
      </p:sp>
      <p:sp>
        <p:nvSpPr>
          <p:cNvPr id="127" name="Google Shape;127;p16"/>
          <p:cNvSpPr/>
          <p:nvPr/>
        </p:nvSpPr>
        <p:spPr>
          <a:xfrm>
            <a:off x="10190321" y="2082641"/>
            <a:ext cx="3915847" cy="479108"/>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3A3630"/>
              </a:buClr>
              <a:buSzPts val="1150"/>
              <a:buFont typeface="Source Sans 3"/>
              <a:buNone/>
            </a:pPr>
            <a:r>
              <a:rPr lang="en-US" sz="1650">
                <a:solidFill>
                  <a:srgbClr val="3A3630"/>
                </a:solidFill>
                <a:latin typeface="Source Sans 3"/>
                <a:ea typeface="Source Sans 3"/>
                <a:cs typeface="Source Sans 3"/>
                <a:sym typeface="Source Sans 3"/>
              </a:rPr>
              <a:t>Áp dụng các mô hình ngôn ngữ N-gram quy mô web này vào ba tác vụ SQP cụ thể.</a:t>
            </a:r>
            <a:endParaRPr sz="1650">
              <a:solidFill>
                <a:schemeClr val="dk1"/>
              </a:solidFill>
              <a:latin typeface="Calibri"/>
              <a:ea typeface="Calibri"/>
              <a:cs typeface="Calibri"/>
              <a:sym typeface="Calibri"/>
            </a:endParaRPr>
          </a:p>
        </p:txBody>
      </p:sp>
      <p:sp>
        <p:nvSpPr>
          <p:cNvPr id="128" name="Google Shape;128;p16"/>
          <p:cNvSpPr/>
          <p:nvPr/>
        </p:nvSpPr>
        <p:spPr>
          <a:xfrm>
            <a:off x="524221" y="3092300"/>
            <a:ext cx="5355000" cy="2643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38512F"/>
              </a:buClr>
              <a:buSzPts val="1650"/>
              <a:buFont typeface="Lora"/>
              <a:buNone/>
            </a:pPr>
            <a:r>
              <a:rPr lang="en-US" sz="2150">
                <a:solidFill>
                  <a:srgbClr val="38512F"/>
                </a:solidFill>
                <a:latin typeface="Lora"/>
                <a:ea typeface="Lora"/>
                <a:cs typeface="Lora"/>
                <a:sym typeface="Lora"/>
              </a:rPr>
              <a:t>Bốn Nguồn Dữ Liệu Được Khảo Sát</a:t>
            </a:r>
            <a:endParaRPr sz="2150">
              <a:solidFill>
                <a:schemeClr val="dk1"/>
              </a:solidFill>
              <a:latin typeface="Calibri"/>
              <a:ea typeface="Calibri"/>
              <a:cs typeface="Calibri"/>
              <a:sym typeface="Calibri"/>
            </a:endParaRPr>
          </a:p>
        </p:txBody>
      </p:sp>
      <p:sp>
        <p:nvSpPr>
          <p:cNvPr id="129" name="Google Shape;129;p16"/>
          <p:cNvSpPr/>
          <p:nvPr/>
        </p:nvSpPr>
        <p:spPr>
          <a:xfrm>
            <a:off x="524232" y="3514963"/>
            <a:ext cx="13581936" cy="239554"/>
          </a:xfrm>
          <a:prstGeom prst="rect">
            <a:avLst/>
          </a:prstGeom>
          <a:noFill/>
          <a:ln>
            <a:noFill/>
          </a:ln>
        </p:spPr>
        <p:txBody>
          <a:bodyPr anchorCtr="0" anchor="t" bIns="0" lIns="0" spcFirstLastPara="1" rIns="0" wrap="square" tIns="0">
            <a:noAutofit/>
          </a:bodyPr>
          <a:lstStyle/>
          <a:p>
            <a:pPr indent="-374650" lvl="0" marL="342900" marR="0" rtl="0" algn="l">
              <a:lnSpc>
                <a:spcPct val="160869"/>
              </a:lnSpc>
              <a:spcBef>
                <a:spcPts val="0"/>
              </a:spcBef>
              <a:spcAft>
                <a:spcPts val="0"/>
              </a:spcAft>
              <a:buClr>
                <a:srgbClr val="3A3630"/>
              </a:buClr>
              <a:buSzPts val="1650"/>
              <a:buFont typeface="Source Sans 3"/>
              <a:buChar char="•"/>
            </a:pPr>
            <a:r>
              <a:rPr lang="en-US" sz="1650">
                <a:solidFill>
                  <a:srgbClr val="3A3630"/>
                </a:solidFill>
                <a:latin typeface="Source Sans 3"/>
                <a:ea typeface="Source Sans 3"/>
                <a:cs typeface="Source Sans 3"/>
                <a:sym typeface="Source Sans 3"/>
              </a:rPr>
              <a:t>Truy vấn tìm kiếm (Search queries)</a:t>
            </a:r>
            <a:endParaRPr sz="1650">
              <a:solidFill>
                <a:schemeClr val="dk1"/>
              </a:solidFill>
              <a:latin typeface="Calibri"/>
              <a:ea typeface="Calibri"/>
              <a:cs typeface="Calibri"/>
              <a:sym typeface="Calibri"/>
            </a:endParaRPr>
          </a:p>
        </p:txBody>
      </p:sp>
      <p:sp>
        <p:nvSpPr>
          <p:cNvPr id="130" name="Google Shape;130;p16"/>
          <p:cNvSpPr/>
          <p:nvPr/>
        </p:nvSpPr>
        <p:spPr>
          <a:xfrm>
            <a:off x="524232" y="3806904"/>
            <a:ext cx="13581936" cy="239554"/>
          </a:xfrm>
          <a:prstGeom prst="rect">
            <a:avLst/>
          </a:prstGeom>
          <a:noFill/>
          <a:ln>
            <a:noFill/>
          </a:ln>
        </p:spPr>
        <p:txBody>
          <a:bodyPr anchorCtr="0" anchor="t" bIns="0" lIns="0" spcFirstLastPara="1" rIns="0" wrap="square" tIns="0">
            <a:noAutofit/>
          </a:bodyPr>
          <a:lstStyle/>
          <a:p>
            <a:pPr indent="-374650" lvl="0" marL="342900" marR="0" rtl="0" algn="l">
              <a:lnSpc>
                <a:spcPct val="160869"/>
              </a:lnSpc>
              <a:spcBef>
                <a:spcPts val="0"/>
              </a:spcBef>
              <a:spcAft>
                <a:spcPts val="0"/>
              </a:spcAft>
              <a:buClr>
                <a:srgbClr val="3A3630"/>
              </a:buClr>
              <a:buSzPts val="1650"/>
              <a:buFont typeface="Source Sans 3"/>
              <a:buChar char="•"/>
            </a:pPr>
            <a:r>
              <a:rPr lang="en-US" sz="1650">
                <a:solidFill>
                  <a:srgbClr val="3A3630"/>
                </a:solidFill>
                <a:latin typeface="Source Sans 3"/>
                <a:ea typeface="Source Sans 3"/>
                <a:cs typeface="Source Sans 3"/>
                <a:sym typeface="Source Sans 3"/>
              </a:rPr>
              <a:t>Nội dung chính (Body)</a:t>
            </a:r>
            <a:endParaRPr sz="1650">
              <a:solidFill>
                <a:schemeClr val="dk1"/>
              </a:solidFill>
              <a:latin typeface="Calibri"/>
              <a:ea typeface="Calibri"/>
              <a:cs typeface="Calibri"/>
              <a:sym typeface="Calibri"/>
            </a:endParaRPr>
          </a:p>
        </p:txBody>
      </p:sp>
      <p:sp>
        <p:nvSpPr>
          <p:cNvPr id="131" name="Google Shape;131;p16"/>
          <p:cNvSpPr/>
          <p:nvPr/>
        </p:nvSpPr>
        <p:spPr>
          <a:xfrm>
            <a:off x="524232" y="4098834"/>
            <a:ext cx="13581900" cy="239700"/>
          </a:xfrm>
          <a:prstGeom prst="rect">
            <a:avLst/>
          </a:prstGeom>
          <a:noFill/>
          <a:ln>
            <a:noFill/>
          </a:ln>
        </p:spPr>
        <p:txBody>
          <a:bodyPr anchorCtr="0" anchor="t" bIns="0" lIns="0" spcFirstLastPara="1" rIns="0" wrap="square" tIns="0">
            <a:noAutofit/>
          </a:bodyPr>
          <a:lstStyle/>
          <a:p>
            <a:pPr indent="-374650" lvl="0" marL="342900" marR="0" rtl="0" algn="l">
              <a:lnSpc>
                <a:spcPct val="160869"/>
              </a:lnSpc>
              <a:spcBef>
                <a:spcPts val="0"/>
              </a:spcBef>
              <a:spcAft>
                <a:spcPts val="0"/>
              </a:spcAft>
              <a:buClr>
                <a:srgbClr val="3A3630"/>
              </a:buClr>
              <a:buSzPts val="1650"/>
              <a:buFont typeface="Source Sans 3"/>
              <a:buChar char="•"/>
            </a:pPr>
            <a:r>
              <a:rPr lang="en-US" sz="1650">
                <a:solidFill>
                  <a:srgbClr val="3A3630"/>
                </a:solidFill>
                <a:latin typeface="Source Sans 3"/>
                <a:ea typeface="Source Sans 3"/>
                <a:cs typeface="Source Sans 3"/>
                <a:sym typeface="Source Sans 3"/>
              </a:rPr>
              <a:t>Tiêu đề (Title)</a:t>
            </a:r>
            <a:endParaRPr sz="1650">
              <a:solidFill>
                <a:schemeClr val="dk1"/>
              </a:solidFill>
              <a:latin typeface="Calibri"/>
              <a:ea typeface="Calibri"/>
              <a:cs typeface="Calibri"/>
              <a:sym typeface="Calibri"/>
            </a:endParaRPr>
          </a:p>
        </p:txBody>
      </p:sp>
      <p:sp>
        <p:nvSpPr>
          <p:cNvPr id="132" name="Google Shape;132;p16"/>
          <p:cNvSpPr/>
          <p:nvPr/>
        </p:nvSpPr>
        <p:spPr>
          <a:xfrm>
            <a:off x="524232" y="4390787"/>
            <a:ext cx="13581936" cy="239554"/>
          </a:xfrm>
          <a:prstGeom prst="rect">
            <a:avLst/>
          </a:prstGeom>
          <a:noFill/>
          <a:ln>
            <a:noFill/>
          </a:ln>
        </p:spPr>
        <p:txBody>
          <a:bodyPr anchorCtr="0" anchor="t" bIns="0" lIns="0" spcFirstLastPara="1" rIns="0" wrap="square" tIns="0">
            <a:noAutofit/>
          </a:bodyPr>
          <a:lstStyle/>
          <a:p>
            <a:pPr indent="-374650" lvl="0" marL="342900" marR="0" rtl="0" algn="l">
              <a:lnSpc>
                <a:spcPct val="160869"/>
              </a:lnSpc>
              <a:spcBef>
                <a:spcPts val="0"/>
              </a:spcBef>
              <a:spcAft>
                <a:spcPts val="0"/>
              </a:spcAft>
              <a:buClr>
                <a:srgbClr val="3A3630"/>
              </a:buClr>
              <a:buSzPts val="1650"/>
              <a:buFont typeface="Source Sans 3"/>
              <a:buChar char="•"/>
            </a:pPr>
            <a:r>
              <a:rPr lang="en-US" sz="1650">
                <a:solidFill>
                  <a:srgbClr val="3A3630"/>
                </a:solidFill>
                <a:latin typeface="Source Sans 3"/>
                <a:ea typeface="Source Sans 3"/>
                <a:cs typeface="Source Sans 3"/>
                <a:sym typeface="Source Sans 3"/>
              </a:rPr>
              <a:t>Văn bản neo (Anchor text)</a:t>
            </a:r>
            <a:endParaRPr sz="1650">
              <a:solidFill>
                <a:schemeClr val="dk1"/>
              </a:solidFill>
              <a:latin typeface="Calibri"/>
              <a:ea typeface="Calibri"/>
              <a:cs typeface="Calibri"/>
              <a:sym typeface="Calibri"/>
            </a:endParaRPr>
          </a:p>
        </p:txBody>
      </p:sp>
      <p:sp>
        <p:nvSpPr>
          <p:cNvPr id="133" name="Google Shape;133;p16"/>
          <p:cNvSpPr/>
          <p:nvPr/>
        </p:nvSpPr>
        <p:spPr>
          <a:xfrm>
            <a:off x="524232" y="4798814"/>
            <a:ext cx="13581936" cy="239554"/>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38512F"/>
              </a:buClr>
              <a:buSzPts val="1150"/>
              <a:buFont typeface="Source Sans 3"/>
              <a:buNone/>
            </a:pPr>
            <a:r>
              <a:rPr b="1" lang="en-US" sz="1650">
                <a:solidFill>
                  <a:srgbClr val="38512F"/>
                </a:solidFill>
                <a:latin typeface="Source Sans 3"/>
                <a:ea typeface="Source Sans 3"/>
                <a:cs typeface="Source Sans 3"/>
                <a:sym typeface="Source Sans 3"/>
              </a:rPr>
              <a:t>Giả thuyết:</a:t>
            </a:r>
            <a:r>
              <a:rPr lang="en-US" sz="1650">
                <a:solidFill>
                  <a:srgbClr val="3A3630"/>
                </a:solidFill>
                <a:latin typeface="Source Sans 3"/>
                <a:ea typeface="Source Sans 3"/>
                <a:cs typeface="Source Sans 3"/>
                <a:sym typeface="Source Sans 3"/>
              </a:rPr>
              <a:t> Bài báo chứng minh rằng ngôn ngữ Query giống với Anchor và Title nhất, và khác xa so với Body.</a:t>
            </a:r>
            <a:endParaRPr sz="1650">
              <a:solidFill>
                <a:schemeClr val="dk1"/>
              </a:solidFill>
              <a:latin typeface="Calibri"/>
              <a:ea typeface="Calibri"/>
              <a:cs typeface="Calibri"/>
              <a:sym typeface="Calibri"/>
            </a:endParaRPr>
          </a:p>
        </p:txBody>
      </p:sp>
      <p:sp>
        <p:nvSpPr>
          <p:cNvPr id="134" name="Google Shape;134;p16"/>
          <p:cNvSpPr/>
          <p:nvPr/>
        </p:nvSpPr>
        <p:spPr>
          <a:xfrm>
            <a:off x="524221" y="5263050"/>
            <a:ext cx="4402500" cy="2643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38512F"/>
              </a:buClr>
              <a:buSzPts val="1650"/>
              <a:buFont typeface="Lora"/>
              <a:buNone/>
            </a:pPr>
            <a:r>
              <a:rPr lang="en-US" sz="2150">
                <a:solidFill>
                  <a:srgbClr val="38512F"/>
                </a:solidFill>
                <a:latin typeface="Lora"/>
                <a:ea typeface="Lora"/>
                <a:cs typeface="Lora"/>
                <a:sym typeface="Lora"/>
              </a:rPr>
              <a:t>Ba Tác Vụ SQP Được Áp Dụng</a:t>
            </a:r>
            <a:endParaRPr sz="2150">
              <a:solidFill>
                <a:schemeClr val="dk1"/>
              </a:solidFill>
              <a:latin typeface="Calibri"/>
              <a:ea typeface="Calibri"/>
              <a:cs typeface="Calibri"/>
              <a:sym typeface="Calibri"/>
            </a:endParaRPr>
          </a:p>
        </p:txBody>
      </p:sp>
      <p:sp>
        <p:nvSpPr>
          <p:cNvPr id="135" name="Google Shape;135;p16"/>
          <p:cNvSpPr/>
          <p:nvPr/>
        </p:nvSpPr>
        <p:spPr>
          <a:xfrm>
            <a:off x="524232" y="5752028"/>
            <a:ext cx="13581936" cy="239554"/>
          </a:xfrm>
          <a:prstGeom prst="rect">
            <a:avLst/>
          </a:prstGeom>
          <a:noFill/>
          <a:ln>
            <a:noFill/>
          </a:ln>
        </p:spPr>
        <p:txBody>
          <a:bodyPr anchorCtr="0" anchor="t" bIns="0" lIns="0" spcFirstLastPara="1" rIns="0" wrap="square" tIns="0">
            <a:noAutofit/>
          </a:bodyPr>
          <a:lstStyle/>
          <a:p>
            <a:pPr indent="-374650" lvl="0" marL="342900" marR="0" rtl="0" algn="l">
              <a:lnSpc>
                <a:spcPct val="160869"/>
              </a:lnSpc>
              <a:spcBef>
                <a:spcPts val="0"/>
              </a:spcBef>
              <a:spcAft>
                <a:spcPts val="0"/>
              </a:spcAft>
              <a:buClr>
                <a:srgbClr val="3A3630"/>
              </a:buClr>
              <a:buSzPts val="1650"/>
              <a:buFont typeface="Calibri"/>
              <a:buAutoNum type="arabicPeriod"/>
            </a:pPr>
            <a:r>
              <a:rPr lang="en-US" sz="1650">
                <a:solidFill>
                  <a:srgbClr val="3A3630"/>
                </a:solidFill>
                <a:latin typeface="Source Sans 3"/>
                <a:ea typeface="Source Sans 3"/>
                <a:cs typeface="Source Sans 3"/>
                <a:sym typeface="Source Sans 3"/>
              </a:rPr>
              <a:t>Sửa lỗi chính tả truy vấn (Query Spelling Correction)</a:t>
            </a:r>
            <a:endParaRPr sz="1650">
              <a:solidFill>
                <a:schemeClr val="dk1"/>
              </a:solidFill>
              <a:latin typeface="Calibri"/>
              <a:ea typeface="Calibri"/>
              <a:cs typeface="Calibri"/>
              <a:sym typeface="Calibri"/>
            </a:endParaRPr>
          </a:p>
        </p:txBody>
      </p:sp>
      <p:sp>
        <p:nvSpPr>
          <p:cNvPr id="136" name="Google Shape;136;p16"/>
          <p:cNvSpPr/>
          <p:nvPr/>
        </p:nvSpPr>
        <p:spPr>
          <a:xfrm>
            <a:off x="524232" y="6043970"/>
            <a:ext cx="13581936" cy="239554"/>
          </a:xfrm>
          <a:prstGeom prst="rect">
            <a:avLst/>
          </a:prstGeom>
          <a:noFill/>
          <a:ln>
            <a:noFill/>
          </a:ln>
        </p:spPr>
        <p:txBody>
          <a:bodyPr anchorCtr="0" anchor="t" bIns="0" lIns="0" spcFirstLastPara="1" rIns="0" wrap="square" tIns="0">
            <a:noAutofit/>
          </a:bodyPr>
          <a:lstStyle/>
          <a:p>
            <a:pPr indent="-374650" lvl="0" marL="342900" marR="0" rtl="0" algn="l">
              <a:lnSpc>
                <a:spcPct val="160869"/>
              </a:lnSpc>
              <a:spcBef>
                <a:spcPts val="0"/>
              </a:spcBef>
              <a:spcAft>
                <a:spcPts val="0"/>
              </a:spcAft>
              <a:buClr>
                <a:srgbClr val="3A3630"/>
              </a:buClr>
              <a:buSzPts val="1650"/>
              <a:buFont typeface="Calibri"/>
              <a:buAutoNum type="arabicPeriod" startAt="2"/>
            </a:pPr>
            <a:r>
              <a:rPr lang="en-US" sz="1650">
                <a:solidFill>
                  <a:srgbClr val="3A3630"/>
                </a:solidFill>
                <a:latin typeface="Source Sans 3"/>
                <a:ea typeface="Source Sans 3"/>
                <a:cs typeface="Source Sans 3"/>
                <a:sym typeface="Source Sans 3"/>
              </a:rPr>
              <a:t>Phân nhóm truy vấn (Query Bracketing) (cho truy vấn ngắn)</a:t>
            </a:r>
            <a:endParaRPr sz="1650">
              <a:solidFill>
                <a:schemeClr val="dk1"/>
              </a:solidFill>
              <a:latin typeface="Calibri"/>
              <a:ea typeface="Calibri"/>
              <a:cs typeface="Calibri"/>
              <a:sym typeface="Calibri"/>
            </a:endParaRPr>
          </a:p>
        </p:txBody>
      </p:sp>
      <p:sp>
        <p:nvSpPr>
          <p:cNvPr id="137" name="Google Shape;137;p16"/>
          <p:cNvSpPr/>
          <p:nvPr/>
        </p:nvSpPr>
        <p:spPr>
          <a:xfrm>
            <a:off x="524232" y="6335911"/>
            <a:ext cx="13581936" cy="239554"/>
          </a:xfrm>
          <a:prstGeom prst="rect">
            <a:avLst/>
          </a:prstGeom>
          <a:noFill/>
          <a:ln>
            <a:noFill/>
          </a:ln>
        </p:spPr>
        <p:txBody>
          <a:bodyPr anchorCtr="0" anchor="t" bIns="0" lIns="0" spcFirstLastPara="1" rIns="0" wrap="square" tIns="0">
            <a:noAutofit/>
          </a:bodyPr>
          <a:lstStyle/>
          <a:p>
            <a:pPr indent="-374650" lvl="0" marL="342900" marR="0" rtl="0" algn="l">
              <a:lnSpc>
                <a:spcPct val="160869"/>
              </a:lnSpc>
              <a:spcBef>
                <a:spcPts val="0"/>
              </a:spcBef>
              <a:spcAft>
                <a:spcPts val="0"/>
              </a:spcAft>
              <a:buClr>
                <a:srgbClr val="3A3630"/>
              </a:buClr>
              <a:buSzPts val="1650"/>
              <a:buFont typeface="Calibri"/>
              <a:buAutoNum type="arabicPeriod" startAt="3"/>
            </a:pPr>
            <a:r>
              <a:rPr lang="en-US" sz="1650">
                <a:solidFill>
                  <a:srgbClr val="3A3630"/>
                </a:solidFill>
                <a:latin typeface="Source Sans 3"/>
                <a:ea typeface="Source Sans 3"/>
                <a:cs typeface="Source Sans 3"/>
                <a:sym typeface="Source Sans 3"/>
              </a:rPr>
              <a:t>Phân đoạn truy vấn dài (Long Query Segmentation)</a:t>
            </a:r>
            <a:endParaRPr sz="1650">
              <a:solidFill>
                <a:schemeClr val="dk1"/>
              </a:solidFill>
              <a:latin typeface="Calibri"/>
              <a:ea typeface="Calibri"/>
              <a:cs typeface="Calibri"/>
              <a:sym typeface="Calibri"/>
            </a:endParaRPr>
          </a:p>
        </p:txBody>
      </p:sp>
      <p:sp>
        <p:nvSpPr>
          <p:cNvPr id="138" name="Google Shape;138;p16"/>
          <p:cNvSpPr/>
          <p:nvPr/>
        </p:nvSpPr>
        <p:spPr>
          <a:xfrm>
            <a:off x="524232" y="6800136"/>
            <a:ext cx="2114669" cy="264319"/>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38512F"/>
              </a:buClr>
              <a:buSzPts val="1650"/>
              <a:buFont typeface="Lora"/>
              <a:buNone/>
            </a:pPr>
            <a:r>
              <a:rPr lang="en-US" sz="2150">
                <a:solidFill>
                  <a:srgbClr val="38512F"/>
                </a:solidFill>
                <a:latin typeface="Lora"/>
                <a:ea typeface="Lora"/>
                <a:cs typeface="Lora"/>
                <a:sym typeface="Lora"/>
              </a:rPr>
              <a:t>Đóng Góp Chính</a:t>
            </a:r>
            <a:endParaRPr sz="2150">
              <a:solidFill>
                <a:schemeClr val="dk1"/>
              </a:solidFill>
              <a:latin typeface="Calibri"/>
              <a:ea typeface="Calibri"/>
              <a:cs typeface="Calibri"/>
              <a:sym typeface="Calibri"/>
            </a:endParaRPr>
          </a:p>
        </p:txBody>
      </p:sp>
      <p:sp>
        <p:nvSpPr>
          <p:cNvPr id="139" name="Google Shape;139;p16"/>
          <p:cNvSpPr/>
          <p:nvPr/>
        </p:nvSpPr>
        <p:spPr>
          <a:xfrm>
            <a:off x="524232" y="7289125"/>
            <a:ext cx="13581936" cy="239554"/>
          </a:xfrm>
          <a:prstGeom prst="rect">
            <a:avLst/>
          </a:prstGeom>
          <a:noFill/>
          <a:ln>
            <a:noFill/>
          </a:ln>
        </p:spPr>
        <p:txBody>
          <a:bodyPr anchorCtr="0" anchor="t" bIns="0" lIns="0" spcFirstLastPara="1" rIns="0" wrap="square" tIns="0">
            <a:noAutofit/>
          </a:bodyPr>
          <a:lstStyle/>
          <a:p>
            <a:pPr indent="-374650" lvl="0" marL="342900" marR="0" rtl="0" algn="l">
              <a:lnSpc>
                <a:spcPct val="160869"/>
              </a:lnSpc>
              <a:spcBef>
                <a:spcPts val="0"/>
              </a:spcBef>
              <a:spcAft>
                <a:spcPts val="0"/>
              </a:spcAft>
              <a:buClr>
                <a:srgbClr val="3A3630"/>
              </a:buClr>
              <a:buSzPts val="1650"/>
              <a:buFont typeface="Source Sans 3"/>
              <a:buChar char="•"/>
            </a:pPr>
            <a:r>
              <a:rPr lang="en-US" sz="1650">
                <a:solidFill>
                  <a:srgbClr val="3A3630"/>
                </a:solidFill>
                <a:latin typeface="Source Sans 3"/>
                <a:ea typeface="Source Sans 3"/>
                <a:cs typeface="Source Sans 3"/>
                <a:sym typeface="Source Sans 3"/>
              </a:rPr>
              <a:t>Cung cấp phân tích thực nghiệm quy mô lớn đầu tiên về thuộc tính LM của 4 nguồn dữ liệu này.</a:t>
            </a:r>
            <a:endParaRPr sz="1650">
              <a:solidFill>
                <a:schemeClr val="dk1"/>
              </a:solidFill>
              <a:latin typeface="Calibri"/>
              <a:ea typeface="Calibri"/>
              <a:cs typeface="Calibri"/>
              <a:sym typeface="Calibri"/>
            </a:endParaRPr>
          </a:p>
        </p:txBody>
      </p:sp>
      <p:sp>
        <p:nvSpPr>
          <p:cNvPr id="140" name="Google Shape;140;p16"/>
          <p:cNvSpPr/>
          <p:nvPr/>
        </p:nvSpPr>
        <p:spPr>
          <a:xfrm>
            <a:off x="524232" y="7581067"/>
            <a:ext cx="13581936" cy="239554"/>
          </a:xfrm>
          <a:prstGeom prst="rect">
            <a:avLst/>
          </a:prstGeom>
          <a:noFill/>
          <a:ln>
            <a:noFill/>
          </a:ln>
        </p:spPr>
        <p:txBody>
          <a:bodyPr anchorCtr="0" anchor="t" bIns="0" lIns="0" spcFirstLastPara="1" rIns="0" wrap="square" tIns="0">
            <a:noAutofit/>
          </a:bodyPr>
          <a:lstStyle/>
          <a:p>
            <a:pPr indent="-374650" lvl="0" marL="342900" marR="0" rtl="0" algn="l">
              <a:lnSpc>
                <a:spcPct val="160869"/>
              </a:lnSpc>
              <a:spcBef>
                <a:spcPts val="0"/>
              </a:spcBef>
              <a:spcAft>
                <a:spcPts val="0"/>
              </a:spcAft>
              <a:buClr>
                <a:srgbClr val="3A3630"/>
              </a:buClr>
              <a:buSzPts val="1650"/>
              <a:buFont typeface="Source Sans 3"/>
              <a:buChar char="•"/>
            </a:pPr>
            <a:r>
              <a:rPr lang="en-US" sz="1650">
                <a:solidFill>
                  <a:srgbClr val="3A3630"/>
                </a:solidFill>
                <a:latin typeface="Source Sans 3"/>
                <a:ea typeface="Source Sans 3"/>
                <a:cs typeface="Source Sans 3"/>
                <a:sym typeface="Source Sans 3"/>
              </a:rPr>
              <a:t>Trình bày các phương pháp phi giám sát (unsupervised methods) hiệu quả, dựa trên LM quy mô web, để giải quyết 3 tác vụ SQP trên.</a:t>
            </a:r>
            <a:endParaRPr sz="16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7"/>
          <p:cNvSpPr/>
          <p:nvPr/>
        </p:nvSpPr>
        <p:spPr>
          <a:xfrm>
            <a:off x="784741" y="794028"/>
            <a:ext cx="8134945" cy="527566"/>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38512F"/>
              </a:buClr>
              <a:buSzPts val="3300"/>
              <a:buFont typeface="Lora"/>
              <a:buNone/>
            </a:pPr>
            <a:r>
              <a:rPr lang="en-US" sz="3300">
                <a:solidFill>
                  <a:srgbClr val="38512F"/>
                </a:solidFill>
                <a:latin typeface="Lora"/>
                <a:ea typeface="Lora"/>
                <a:cs typeface="Lora"/>
                <a:sym typeface="Lora"/>
              </a:rPr>
              <a:t>Bộ Sưu Tập Mô Hình Ngôn Ngữ (WNLMC)</a:t>
            </a:r>
            <a:endParaRPr sz="3300">
              <a:solidFill>
                <a:schemeClr val="dk1"/>
              </a:solidFill>
              <a:latin typeface="Calibri"/>
              <a:ea typeface="Calibri"/>
              <a:cs typeface="Calibri"/>
              <a:sym typeface="Calibri"/>
            </a:endParaRPr>
          </a:p>
        </p:txBody>
      </p:sp>
      <p:sp>
        <p:nvSpPr>
          <p:cNvPr id="147" name="Google Shape;147;p17"/>
          <p:cNvSpPr/>
          <p:nvPr/>
        </p:nvSpPr>
        <p:spPr>
          <a:xfrm>
            <a:off x="784741" y="1411248"/>
            <a:ext cx="4730948" cy="395645"/>
          </a:xfrm>
          <a:prstGeom prst="rect">
            <a:avLst/>
          </a:prstGeom>
          <a:noFill/>
          <a:ln>
            <a:noFill/>
          </a:ln>
        </p:spPr>
        <p:txBody>
          <a:bodyPr anchorCtr="0" anchor="t" bIns="0" lIns="0" spcFirstLastPara="1" rIns="0" wrap="square" tIns="0">
            <a:noAutofit/>
          </a:bodyPr>
          <a:lstStyle/>
          <a:p>
            <a:pPr indent="0" lvl="0" marL="0" marR="0" rtl="0" algn="l">
              <a:lnSpc>
                <a:spcPct val="126530"/>
              </a:lnSpc>
              <a:spcBef>
                <a:spcPts val="0"/>
              </a:spcBef>
              <a:spcAft>
                <a:spcPts val="0"/>
              </a:spcAft>
              <a:buClr>
                <a:srgbClr val="38512F"/>
              </a:buClr>
              <a:buSzPts val="2450"/>
              <a:buFont typeface="Lora"/>
              <a:buNone/>
            </a:pPr>
            <a:r>
              <a:rPr lang="en-US" sz="2450">
                <a:solidFill>
                  <a:srgbClr val="38512F"/>
                </a:solidFill>
                <a:latin typeface="Lora"/>
                <a:ea typeface="Lora"/>
                <a:cs typeface="Lora"/>
                <a:sym typeface="Lora"/>
              </a:rPr>
              <a:t>Mục Tiêu và Bốn Nguồn Dữ Liệu</a:t>
            </a:r>
            <a:endParaRPr sz="2450">
              <a:solidFill>
                <a:schemeClr val="dk1"/>
              </a:solidFill>
              <a:latin typeface="Calibri"/>
              <a:ea typeface="Calibri"/>
              <a:cs typeface="Calibri"/>
              <a:sym typeface="Calibri"/>
            </a:endParaRPr>
          </a:p>
        </p:txBody>
      </p:sp>
      <p:sp>
        <p:nvSpPr>
          <p:cNvPr id="148" name="Google Shape;148;p17"/>
          <p:cNvSpPr/>
          <p:nvPr/>
        </p:nvSpPr>
        <p:spPr>
          <a:xfrm>
            <a:off x="784741" y="2143125"/>
            <a:ext cx="13060918" cy="71723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A3630"/>
              </a:buClr>
              <a:buSzPts val="1750"/>
              <a:buFont typeface="Source Sans 3"/>
              <a:buNone/>
            </a:pPr>
            <a:r>
              <a:rPr lang="en-US" sz="1750">
                <a:solidFill>
                  <a:srgbClr val="3A3630"/>
                </a:solidFill>
                <a:latin typeface="Source Sans 3"/>
                <a:ea typeface="Source Sans 3"/>
                <a:cs typeface="Source Sans 3"/>
                <a:sym typeface="Source Sans 3"/>
              </a:rPr>
              <a:t>Mục tiêu : Xây dựng một "Bộ sưu tập Mô hình Ngôn ngữ N-gram Web" (Web N-gram Language Models Collection - WNLMC). Bộ sưu tập được xây dựng từ dữ liệu tiếng Anh quy mô lớn (hàng tỷ trang) từ Bing. Bốn mô hình ngôn ngữ riêng biệt đã được xây dựng từ 4 nguồn:</a:t>
            </a:r>
            <a:endParaRPr sz="1750">
              <a:solidFill>
                <a:schemeClr val="dk1"/>
              </a:solidFill>
              <a:latin typeface="Calibri"/>
              <a:ea typeface="Calibri"/>
              <a:cs typeface="Calibri"/>
              <a:sym typeface="Calibri"/>
            </a:endParaRPr>
          </a:p>
        </p:txBody>
      </p:sp>
      <p:sp>
        <p:nvSpPr>
          <p:cNvPr id="149" name="Google Shape;149;p17"/>
          <p:cNvSpPr/>
          <p:nvPr/>
        </p:nvSpPr>
        <p:spPr>
          <a:xfrm>
            <a:off x="784741" y="3112532"/>
            <a:ext cx="6418302" cy="2049423"/>
          </a:xfrm>
          <a:prstGeom prst="roundRect">
            <a:avLst>
              <a:gd fmla="val 1641" name="adj"/>
            </a:avLst>
          </a:prstGeom>
          <a:solidFill>
            <a:srgbClr val="FEF5E7"/>
          </a:solidFill>
          <a:ln cap="flat" cmpd="sng" w="30475">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7"/>
          <p:cNvSpPr/>
          <p:nvPr/>
        </p:nvSpPr>
        <p:spPr>
          <a:xfrm>
            <a:off x="1039416" y="3367207"/>
            <a:ext cx="2637830" cy="32980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3A3630"/>
              </a:buClr>
              <a:buSzPts val="2050"/>
              <a:buFont typeface="Lora"/>
              <a:buNone/>
            </a:pPr>
            <a:r>
              <a:rPr lang="en-US" sz="2050">
                <a:solidFill>
                  <a:srgbClr val="3A3630"/>
                </a:solidFill>
                <a:latin typeface="Lora"/>
                <a:ea typeface="Lora"/>
                <a:cs typeface="Lora"/>
                <a:sym typeface="Lora"/>
              </a:rPr>
              <a:t>Body (Nội Dung)</a:t>
            </a:r>
            <a:endParaRPr sz="2050">
              <a:solidFill>
                <a:schemeClr val="dk1"/>
              </a:solidFill>
              <a:latin typeface="Calibri"/>
              <a:ea typeface="Calibri"/>
              <a:cs typeface="Calibri"/>
              <a:sym typeface="Calibri"/>
            </a:endParaRPr>
          </a:p>
        </p:txBody>
      </p:sp>
      <p:sp>
        <p:nvSpPr>
          <p:cNvPr id="151" name="Google Shape;151;p17"/>
          <p:cNvSpPr/>
          <p:nvPr/>
        </p:nvSpPr>
        <p:spPr>
          <a:xfrm>
            <a:off x="1039416" y="3831431"/>
            <a:ext cx="5908953" cy="107584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A3630"/>
              </a:buClr>
              <a:buSzPts val="1750"/>
              <a:buFont typeface="Source Sans 3"/>
              <a:buNone/>
            </a:pPr>
            <a:r>
              <a:rPr lang="en-US" sz="1750">
                <a:solidFill>
                  <a:srgbClr val="3A3630"/>
                </a:solidFill>
                <a:latin typeface="Source Sans 3"/>
                <a:ea typeface="Source Sans 3"/>
                <a:cs typeface="Source Sans 3"/>
                <a:sym typeface="Source Sans 3"/>
              </a:rPr>
              <a:t>Xây dựng từ văn bản thô (raw text) trích xuất từ nội dung chính của các trang web. Đây là nguồn ngôn ngữ trang trọng, đầy đủ ngữ pháp nhất.</a:t>
            </a:r>
            <a:endParaRPr sz="1750">
              <a:solidFill>
                <a:schemeClr val="dk1"/>
              </a:solidFill>
              <a:latin typeface="Calibri"/>
              <a:ea typeface="Calibri"/>
              <a:cs typeface="Calibri"/>
              <a:sym typeface="Calibri"/>
            </a:endParaRPr>
          </a:p>
        </p:txBody>
      </p:sp>
      <p:sp>
        <p:nvSpPr>
          <p:cNvPr id="152" name="Google Shape;152;p17"/>
          <p:cNvSpPr/>
          <p:nvPr/>
        </p:nvSpPr>
        <p:spPr>
          <a:xfrm>
            <a:off x="7427238" y="3112532"/>
            <a:ext cx="6418421" cy="2049423"/>
          </a:xfrm>
          <a:prstGeom prst="roundRect">
            <a:avLst>
              <a:gd fmla="val 1641" name="adj"/>
            </a:avLst>
          </a:prstGeom>
          <a:solidFill>
            <a:srgbClr val="FEF5E7"/>
          </a:solidFill>
          <a:ln cap="flat" cmpd="sng" w="30475">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7"/>
          <p:cNvSpPr/>
          <p:nvPr/>
        </p:nvSpPr>
        <p:spPr>
          <a:xfrm>
            <a:off x="7681912" y="3367207"/>
            <a:ext cx="2675573" cy="32980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3A3630"/>
              </a:buClr>
              <a:buSzPts val="2050"/>
              <a:buFont typeface="Lora"/>
              <a:buNone/>
            </a:pPr>
            <a:r>
              <a:rPr lang="en-US" sz="2050">
                <a:solidFill>
                  <a:srgbClr val="3A3630"/>
                </a:solidFill>
                <a:latin typeface="Lora"/>
                <a:ea typeface="Lora"/>
                <a:cs typeface="Lora"/>
                <a:sym typeface="Lora"/>
              </a:rPr>
              <a:t>Anchor (Văn Bản Neo)</a:t>
            </a:r>
            <a:endParaRPr sz="2050">
              <a:solidFill>
                <a:schemeClr val="dk1"/>
              </a:solidFill>
              <a:latin typeface="Calibri"/>
              <a:ea typeface="Calibri"/>
              <a:cs typeface="Calibri"/>
              <a:sym typeface="Calibri"/>
            </a:endParaRPr>
          </a:p>
        </p:txBody>
      </p:sp>
      <p:sp>
        <p:nvSpPr>
          <p:cNvPr id="154" name="Google Shape;154;p17"/>
          <p:cNvSpPr/>
          <p:nvPr/>
        </p:nvSpPr>
        <p:spPr>
          <a:xfrm>
            <a:off x="7681912" y="3831431"/>
            <a:ext cx="5909072" cy="71723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A3630"/>
              </a:buClr>
              <a:buSzPts val="1750"/>
              <a:buFont typeface="Source Sans 3"/>
              <a:buNone/>
            </a:pPr>
            <a:r>
              <a:rPr lang="en-US" sz="1750">
                <a:solidFill>
                  <a:srgbClr val="3A3630"/>
                </a:solidFill>
                <a:latin typeface="Source Sans 3"/>
                <a:ea typeface="Source Sans 3"/>
                <a:cs typeface="Source Sans 3"/>
                <a:sym typeface="Source Sans 3"/>
              </a:rPr>
              <a:t>Xây dựng từ văn bản hiển thị của các siêu liên kết (hyperlinks). Thường là các mô tả ngắn gọn, súc tích về trang đích.</a:t>
            </a:r>
            <a:endParaRPr sz="1750">
              <a:solidFill>
                <a:schemeClr val="dk1"/>
              </a:solidFill>
              <a:latin typeface="Calibri"/>
              <a:ea typeface="Calibri"/>
              <a:cs typeface="Calibri"/>
              <a:sym typeface="Calibri"/>
            </a:endParaRPr>
          </a:p>
        </p:txBody>
      </p:sp>
      <p:sp>
        <p:nvSpPr>
          <p:cNvPr id="155" name="Google Shape;155;p17"/>
          <p:cNvSpPr/>
          <p:nvPr/>
        </p:nvSpPr>
        <p:spPr>
          <a:xfrm>
            <a:off x="784741" y="5386149"/>
            <a:ext cx="6418302" cy="2049423"/>
          </a:xfrm>
          <a:prstGeom prst="roundRect">
            <a:avLst>
              <a:gd fmla="val 1641" name="adj"/>
            </a:avLst>
          </a:prstGeom>
          <a:solidFill>
            <a:srgbClr val="FEF5E7"/>
          </a:solidFill>
          <a:ln cap="flat" cmpd="sng" w="30475">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7"/>
          <p:cNvSpPr/>
          <p:nvPr/>
        </p:nvSpPr>
        <p:spPr>
          <a:xfrm>
            <a:off x="1039416" y="5640824"/>
            <a:ext cx="2637830" cy="32980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3A3630"/>
              </a:buClr>
              <a:buSzPts val="2050"/>
              <a:buFont typeface="Lora"/>
              <a:buNone/>
            </a:pPr>
            <a:r>
              <a:rPr lang="en-US" sz="2050">
                <a:solidFill>
                  <a:srgbClr val="3A3630"/>
                </a:solidFill>
                <a:latin typeface="Lora"/>
                <a:ea typeface="Lora"/>
                <a:cs typeface="Lora"/>
                <a:sym typeface="Lora"/>
              </a:rPr>
              <a:t>Title (Tiêu Đề)</a:t>
            </a:r>
            <a:endParaRPr sz="2050">
              <a:solidFill>
                <a:schemeClr val="dk1"/>
              </a:solidFill>
              <a:latin typeface="Calibri"/>
              <a:ea typeface="Calibri"/>
              <a:cs typeface="Calibri"/>
              <a:sym typeface="Calibri"/>
            </a:endParaRPr>
          </a:p>
        </p:txBody>
      </p:sp>
      <p:sp>
        <p:nvSpPr>
          <p:cNvPr id="157" name="Google Shape;157;p17"/>
          <p:cNvSpPr/>
          <p:nvPr/>
        </p:nvSpPr>
        <p:spPr>
          <a:xfrm>
            <a:off x="1039416" y="6105049"/>
            <a:ext cx="5908953" cy="71723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A3630"/>
              </a:buClr>
              <a:buSzPts val="1750"/>
              <a:buFont typeface="Source Sans 3"/>
              <a:buNone/>
            </a:pPr>
            <a:r>
              <a:rPr lang="en-US" sz="1750">
                <a:solidFill>
                  <a:srgbClr val="3A3630"/>
                </a:solidFill>
                <a:latin typeface="Source Sans 3"/>
                <a:ea typeface="Source Sans 3"/>
                <a:cs typeface="Source Sans 3"/>
                <a:sym typeface="Source Sans 3"/>
              </a:rPr>
              <a:t>Xây dựng từ tiêu đề của các trang web. Giống như Anchor, đây là các bản tóm tắt súc tích nội dung trang.</a:t>
            </a:r>
            <a:endParaRPr sz="1750">
              <a:solidFill>
                <a:schemeClr val="dk1"/>
              </a:solidFill>
              <a:latin typeface="Calibri"/>
              <a:ea typeface="Calibri"/>
              <a:cs typeface="Calibri"/>
              <a:sym typeface="Calibri"/>
            </a:endParaRPr>
          </a:p>
        </p:txBody>
      </p:sp>
      <p:sp>
        <p:nvSpPr>
          <p:cNvPr id="158" name="Google Shape;158;p17"/>
          <p:cNvSpPr/>
          <p:nvPr/>
        </p:nvSpPr>
        <p:spPr>
          <a:xfrm>
            <a:off x="7427238" y="5386149"/>
            <a:ext cx="6418421" cy="2049423"/>
          </a:xfrm>
          <a:prstGeom prst="roundRect">
            <a:avLst>
              <a:gd fmla="val 1641" name="adj"/>
            </a:avLst>
          </a:prstGeom>
          <a:solidFill>
            <a:srgbClr val="FEF5E7"/>
          </a:solidFill>
          <a:ln cap="flat" cmpd="sng" w="30475">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7"/>
          <p:cNvSpPr/>
          <p:nvPr/>
        </p:nvSpPr>
        <p:spPr>
          <a:xfrm>
            <a:off x="7681912" y="5640824"/>
            <a:ext cx="2637830" cy="32980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3A3630"/>
              </a:buClr>
              <a:buSzPts val="2050"/>
              <a:buFont typeface="Lora"/>
              <a:buNone/>
            </a:pPr>
            <a:r>
              <a:rPr lang="en-US" sz="2050">
                <a:solidFill>
                  <a:srgbClr val="3A3630"/>
                </a:solidFill>
                <a:latin typeface="Lora"/>
                <a:ea typeface="Lora"/>
                <a:cs typeface="Lora"/>
                <a:sym typeface="Lora"/>
              </a:rPr>
              <a:t>Query (Truy Vấn)</a:t>
            </a:r>
            <a:endParaRPr sz="2050">
              <a:solidFill>
                <a:schemeClr val="dk1"/>
              </a:solidFill>
              <a:latin typeface="Calibri"/>
              <a:ea typeface="Calibri"/>
              <a:cs typeface="Calibri"/>
              <a:sym typeface="Calibri"/>
            </a:endParaRPr>
          </a:p>
        </p:txBody>
      </p:sp>
      <p:sp>
        <p:nvSpPr>
          <p:cNvPr id="160" name="Google Shape;160;p17"/>
          <p:cNvSpPr/>
          <p:nvPr/>
        </p:nvSpPr>
        <p:spPr>
          <a:xfrm>
            <a:off x="7681912" y="6105049"/>
            <a:ext cx="5909072" cy="107584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A3630"/>
              </a:buClr>
              <a:buSzPts val="1750"/>
              <a:buFont typeface="Source Sans 3"/>
              <a:buNone/>
            </a:pPr>
            <a:r>
              <a:rPr lang="en-US" sz="1750">
                <a:solidFill>
                  <a:srgbClr val="3A3630"/>
                </a:solidFill>
                <a:latin typeface="Source Sans 3"/>
                <a:ea typeface="Source Sans 3"/>
                <a:cs typeface="Source Sans 3"/>
                <a:sym typeface="Source Sans 3"/>
              </a:rPr>
              <a:t>Xây dựng bằng cách lấy mẫu nhật ký (logs) truy vấn của người dùng trong nửa năm. Đại diện cho "ngôn ngữ truy vấn" thực tế của người dùng.</a:t>
            </a:r>
            <a:endParaRPr sz="17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p:nvPr/>
        </p:nvSpPr>
        <p:spPr>
          <a:xfrm>
            <a:off x="629483" y="494586"/>
            <a:ext cx="5560814" cy="423267"/>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38512F"/>
              </a:buClr>
              <a:buSzPts val="2650"/>
              <a:buFont typeface="Lora"/>
              <a:buNone/>
            </a:pPr>
            <a:r>
              <a:rPr lang="en-US" sz="2650">
                <a:solidFill>
                  <a:srgbClr val="38512F"/>
                </a:solidFill>
                <a:latin typeface="Lora"/>
                <a:ea typeface="Lora"/>
                <a:cs typeface="Lora"/>
                <a:sym typeface="Lora"/>
              </a:rPr>
              <a:t>Tiền Xử Lý và Thống Kê Bộ Sưu Tập</a:t>
            </a:r>
            <a:endParaRPr sz="2650">
              <a:solidFill>
                <a:schemeClr val="dk1"/>
              </a:solidFill>
              <a:latin typeface="Calibri"/>
              <a:ea typeface="Calibri"/>
              <a:cs typeface="Calibri"/>
              <a:sym typeface="Calibri"/>
            </a:endParaRPr>
          </a:p>
        </p:txBody>
      </p:sp>
      <p:sp>
        <p:nvSpPr>
          <p:cNvPr id="167" name="Google Shape;167;p18"/>
          <p:cNvSpPr/>
          <p:nvPr/>
        </p:nvSpPr>
        <p:spPr>
          <a:xfrm>
            <a:off x="629483" y="989767"/>
            <a:ext cx="5544741" cy="317421"/>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8512F"/>
              </a:buClr>
              <a:buSzPts val="1950"/>
              <a:buFont typeface="Lora"/>
              <a:buNone/>
            </a:pPr>
            <a:r>
              <a:rPr lang="en-US" sz="1950">
                <a:solidFill>
                  <a:srgbClr val="38512F"/>
                </a:solidFill>
                <a:latin typeface="Lora"/>
                <a:ea typeface="Lora"/>
                <a:cs typeface="Lora"/>
                <a:sym typeface="Lora"/>
              </a:rPr>
              <a:t>Tiền Xử Lý Đồng Nhất (Uniform Preprocessing)</a:t>
            </a:r>
            <a:endParaRPr sz="1950">
              <a:solidFill>
                <a:schemeClr val="dk1"/>
              </a:solidFill>
              <a:latin typeface="Calibri"/>
              <a:ea typeface="Calibri"/>
              <a:cs typeface="Calibri"/>
              <a:sym typeface="Calibri"/>
            </a:endParaRPr>
          </a:p>
        </p:txBody>
      </p:sp>
      <p:sp>
        <p:nvSpPr>
          <p:cNvPr id="168" name="Google Shape;168;p18"/>
          <p:cNvSpPr/>
          <p:nvPr/>
        </p:nvSpPr>
        <p:spPr>
          <a:xfrm>
            <a:off x="629483" y="1576983"/>
            <a:ext cx="13371433" cy="28777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A3630"/>
              </a:buClr>
              <a:buSzPts val="1400"/>
              <a:buFont typeface="Source Sans 3"/>
              <a:buNone/>
            </a:pPr>
            <a:r>
              <a:rPr lang="en-US" sz="1600">
                <a:solidFill>
                  <a:srgbClr val="3A3630"/>
                </a:solidFill>
                <a:latin typeface="Source Sans 3"/>
                <a:ea typeface="Source Sans 3"/>
                <a:cs typeface="Source Sans 3"/>
                <a:sym typeface="Source Sans 3"/>
              </a:rPr>
              <a:t>Để đảm bảo so sánh công bằng, tất cả 4 nguồn dữ liệu đều trải qua các bước chuẩn hóa giống hệt nhau:</a:t>
            </a:r>
            <a:endParaRPr sz="1600">
              <a:solidFill>
                <a:schemeClr val="dk1"/>
              </a:solidFill>
              <a:latin typeface="Calibri"/>
              <a:ea typeface="Calibri"/>
              <a:cs typeface="Calibri"/>
              <a:sym typeface="Calibri"/>
            </a:endParaRPr>
          </a:p>
        </p:txBody>
      </p:sp>
      <p:sp>
        <p:nvSpPr>
          <p:cNvPr id="169" name="Google Shape;169;p18"/>
          <p:cNvSpPr/>
          <p:nvPr/>
        </p:nvSpPr>
        <p:spPr>
          <a:xfrm>
            <a:off x="629483" y="2067044"/>
            <a:ext cx="13371433" cy="287774"/>
          </a:xfrm>
          <a:prstGeom prst="rect">
            <a:avLst/>
          </a:prstGeom>
          <a:noFill/>
          <a:ln>
            <a:noFill/>
          </a:ln>
        </p:spPr>
        <p:txBody>
          <a:bodyPr anchorCtr="0" anchor="t" bIns="0" lIns="0" spcFirstLastPara="1" rIns="0" wrap="square" tIns="0">
            <a:noAutofit/>
          </a:bodyPr>
          <a:lstStyle/>
          <a:p>
            <a:pPr indent="-355600" lvl="0" marL="342900" marR="0" rtl="0" algn="l">
              <a:lnSpc>
                <a:spcPct val="160714"/>
              </a:lnSpc>
              <a:spcBef>
                <a:spcPts val="0"/>
              </a:spcBef>
              <a:spcAft>
                <a:spcPts val="0"/>
              </a:spcAft>
              <a:buClr>
                <a:srgbClr val="3A3630"/>
              </a:buClr>
              <a:buSzPts val="1600"/>
              <a:buFont typeface="Source Sans 3"/>
              <a:buChar char="•"/>
            </a:pPr>
            <a:r>
              <a:rPr b="1" lang="en-US" sz="1600">
                <a:solidFill>
                  <a:srgbClr val="3A3630"/>
                </a:solidFill>
                <a:latin typeface="Source Sans 3"/>
                <a:ea typeface="Source Sans 3"/>
                <a:cs typeface="Source Sans 3"/>
                <a:sym typeface="Source Sans 3"/>
              </a:rPr>
              <a:t>Token hóa (Tokenization):</a:t>
            </a:r>
            <a:r>
              <a:rPr lang="en-US" sz="1600">
                <a:solidFill>
                  <a:srgbClr val="3A3630"/>
                </a:solidFill>
                <a:latin typeface="Source Sans 3"/>
                <a:ea typeface="Source Sans 3"/>
                <a:cs typeface="Source Sans 3"/>
                <a:sym typeface="Source Sans 3"/>
              </a:rPr>
              <a:t> Tách từ dựa trên khoảng trắng (white-space tokenized).</a:t>
            </a:r>
            <a:endParaRPr sz="1600">
              <a:solidFill>
                <a:schemeClr val="dk1"/>
              </a:solidFill>
              <a:latin typeface="Calibri"/>
              <a:ea typeface="Calibri"/>
              <a:cs typeface="Calibri"/>
              <a:sym typeface="Calibri"/>
            </a:endParaRPr>
          </a:p>
        </p:txBody>
      </p:sp>
      <p:sp>
        <p:nvSpPr>
          <p:cNvPr id="170" name="Google Shape;170;p18"/>
          <p:cNvSpPr/>
          <p:nvPr/>
        </p:nvSpPr>
        <p:spPr>
          <a:xfrm>
            <a:off x="629483" y="2417683"/>
            <a:ext cx="13371433" cy="287774"/>
          </a:xfrm>
          <a:prstGeom prst="rect">
            <a:avLst/>
          </a:prstGeom>
          <a:noFill/>
          <a:ln>
            <a:noFill/>
          </a:ln>
        </p:spPr>
        <p:txBody>
          <a:bodyPr anchorCtr="0" anchor="t" bIns="0" lIns="0" spcFirstLastPara="1" rIns="0" wrap="square" tIns="0">
            <a:noAutofit/>
          </a:bodyPr>
          <a:lstStyle/>
          <a:p>
            <a:pPr indent="-355600" lvl="0" marL="342900" marR="0" rtl="0" algn="l">
              <a:lnSpc>
                <a:spcPct val="160714"/>
              </a:lnSpc>
              <a:spcBef>
                <a:spcPts val="0"/>
              </a:spcBef>
              <a:spcAft>
                <a:spcPts val="0"/>
              </a:spcAft>
              <a:buClr>
                <a:srgbClr val="3A3630"/>
              </a:buClr>
              <a:buSzPts val="1600"/>
              <a:buFont typeface="Source Sans 3"/>
              <a:buChar char="•"/>
            </a:pPr>
            <a:r>
              <a:rPr b="1" lang="en-US" sz="1600">
                <a:solidFill>
                  <a:srgbClr val="3A3630"/>
                </a:solidFill>
                <a:latin typeface="Source Sans 3"/>
                <a:ea typeface="Source Sans 3"/>
                <a:cs typeface="Source Sans 3"/>
                <a:sym typeface="Source Sans 3"/>
              </a:rPr>
              <a:t>Viết thường (Lowercased):</a:t>
            </a:r>
            <a:r>
              <a:rPr lang="en-US" sz="1600">
                <a:solidFill>
                  <a:srgbClr val="3A3630"/>
                </a:solidFill>
                <a:latin typeface="Source Sans 3"/>
                <a:ea typeface="Source Sans 3"/>
                <a:cs typeface="Source Sans 3"/>
                <a:sym typeface="Source Sans 3"/>
              </a:rPr>
              <a:t> Tất cả các từ đều được chuyển thành chữ thường.</a:t>
            </a:r>
            <a:endParaRPr sz="1600">
              <a:solidFill>
                <a:schemeClr val="dk1"/>
              </a:solidFill>
              <a:latin typeface="Calibri"/>
              <a:ea typeface="Calibri"/>
              <a:cs typeface="Calibri"/>
              <a:sym typeface="Calibri"/>
            </a:endParaRPr>
          </a:p>
        </p:txBody>
      </p:sp>
      <p:sp>
        <p:nvSpPr>
          <p:cNvPr id="171" name="Google Shape;171;p18"/>
          <p:cNvSpPr/>
          <p:nvPr/>
        </p:nvSpPr>
        <p:spPr>
          <a:xfrm>
            <a:off x="629483" y="2768322"/>
            <a:ext cx="13371433" cy="287774"/>
          </a:xfrm>
          <a:prstGeom prst="rect">
            <a:avLst/>
          </a:prstGeom>
          <a:noFill/>
          <a:ln>
            <a:noFill/>
          </a:ln>
        </p:spPr>
        <p:txBody>
          <a:bodyPr anchorCtr="0" anchor="t" bIns="0" lIns="0" spcFirstLastPara="1" rIns="0" wrap="square" tIns="0">
            <a:noAutofit/>
          </a:bodyPr>
          <a:lstStyle/>
          <a:p>
            <a:pPr indent="-355600" lvl="0" marL="342900" marR="0" rtl="0" algn="l">
              <a:lnSpc>
                <a:spcPct val="160714"/>
              </a:lnSpc>
              <a:spcBef>
                <a:spcPts val="0"/>
              </a:spcBef>
              <a:spcAft>
                <a:spcPts val="0"/>
              </a:spcAft>
              <a:buClr>
                <a:srgbClr val="3A3630"/>
              </a:buClr>
              <a:buSzPts val="1600"/>
              <a:buFont typeface="Source Sans 3"/>
              <a:buChar char="•"/>
            </a:pPr>
            <a:r>
              <a:rPr b="1" lang="en-US" sz="1600">
                <a:solidFill>
                  <a:srgbClr val="3A3630"/>
                </a:solidFill>
                <a:latin typeface="Source Sans 3"/>
                <a:ea typeface="Source Sans 3"/>
                <a:cs typeface="Source Sans 3"/>
                <a:sym typeface="Source Sans 3"/>
              </a:rPr>
              <a:t>Giữ lại số (Retain Numbers):</a:t>
            </a:r>
            <a:r>
              <a:rPr lang="en-US" sz="1600">
                <a:solidFill>
                  <a:srgbClr val="3A3630"/>
                </a:solidFill>
                <a:latin typeface="Source Sans 3"/>
                <a:ea typeface="Source Sans 3"/>
                <a:cs typeface="Source Sans 3"/>
                <a:sym typeface="Source Sans 3"/>
              </a:rPr>
              <a:t> Các con số được giữ nguyên (ví dụ: "windows 7").</a:t>
            </a:r>
            <a:endParaRPr sz="1600">
              <a:solidFill>
                <a:schemeClr val="dk1"/>
              </a:solidFill>
              <a:latin typeface="Calibri"/>
              <a:ea typeface="Calibri"/>
              <a:cs typeface="Calibri"/>
              <a:sym typeface="Calibri"/>
            </a:endParaRPr>
          </a:p>
        </p:txBody>
      </p:sp>
      <p:sp>
        <p:nvSpPr>
          <p:cNvPr id="172" name="Google Shape;172;p18"/>
          <p:cNvSpPr/>
          <p:nvPr/>
        </p:nvSpPr>
        <p:spPr>
          <a:xfrm>
            <a:off x="629475" y="3118950"/>
            <a:ext cx="13773300" cy="287700"/>
          </a:xfrm>
          <a:prstGeom prst="rect">
            <a:avLst/>
          </a:prstGeom>
          <a:noFill/>
          <a:ln>
            <a:noFill/>
          </a:ln>
        </p:spPr>
        <p:txBody>
          <a:bodyPr anchorCtr="0" anchor="t" bIns="0" lIns="0" spcFirstLastPara="1" rIns="0" wrap="square" tIns="0">
            <a:noAutofit/>
          </a:bodyPr>
          <a:lstStyle/>
          <a:p>
            <a:pPr indent="-355600" lvl="0" marL="342900" marR="0" rtl="0" algn="l">
              <a:lnSpc>
                <a:spcPct val="160714"/>
              </a:lnSpc>
              <a:spcBef>
                <a:spcPts val="0"/>
              </a:spcBef>
              <a:spcAft>
                <a:spcPts val="0"/>
              </a:spcAft>
              <a:buClr>
                <a:srgbClr val="3A3630"/>
              </a:buClr>
              <a:buSzPts val="1600"/>
              <a:buFont typeface="Source Sans 3"/>
              <a:buChar char="•"/>
            </a:pPr>
            <a:r>
              <a:rPr b="1" lang="en-US" sz="1600">
                <a:solidFill>
                  <a:srgbClr val="3A3630"/>
                </a:solidFill>
                <a:latin typeface="Source Sans 3"/>
                <a:ea typeface="Source Sans 3"/>
                <a:cs typeface="Source Sans 3"/>
                <a:sym typeface="Source Sans 3"/>
              </a:rPr>
              <a:t>Không Stemming (No Stemming):</a:t>
            </a:r>
            <a:r>
              <a:rPr lang="en-US" sz="1600">
                <a:solidFill>
                  <a:srgbClr val="3A3630"/>
                </a:solidFill>
                <a:latin typeface="Source Sans 3"/>
                <a:ea typeface="Source Sans 3"/>
                <a:cs typeface="Source Sans 3"/>
                <a:sym typeface="Source Sans 3"/>
              </a:rPr>
              <a:t> Điểm quan trọng: Không thực hiện "stemming" (đưa từ về dạng gốc). "running" và "run" vẫn được coi là hai từ khác nhau.</a:t>
            </a:r>
            <a:endParaRPr sz="1600">
              <a:solidFill>
                <a:schemeClr val="dk1"/>
              </a:solidFill>
              <a:latin typeface="Calibri"/>
              <a:ea typeface="Calibri"/>
              <a:cs typeface="Calibri"/>
              <a:sym typeface="Calibri"/>
            </a:endParaRPr>
          </a:p>
        </p:txBody>
      </p:sp>
      <p:sp>
        <p:nvSpPr>
          <p:cNvPr id="173" name="Google Shape;173;p18"/>
          <p:cNvSpPr/>
          <p:nvPr/>
        </p:nvSpPr>
        <p:spPr>
          <a:xfrm>
            <a:off x="629475" y="3469600"/>
            <a:ext cx="14001000" cy="287700"/>
          </a:xfrm>
          <a:prstGeom prst="rect">
            <a:avLst/>
          </a:prstGeom>
          <a:noFill/>
          <a:ln>
            <a:noFill/>
          </a:ln>
        </p:spPr>
        <p:txBody>
          <a:bodyPr anchorCtr="0" anchor="t" bIns="0" lIns="0" spcFirstLastPara="1" rIns="0" wrap="square" tIns="0">
            <a:noAutofit/>
          </a:bodyPr>
          <a:lstStyle/>
          <a:p>
            <a:pPr indent="-355600" lvl="0" marL="342900" marR="0" rtl="0" algn="l">
              <a:lnSpc>
                <a:spcPct val="160714"/>
              </a:lnSpc>
              <a:spcBef>
                <a:spcPts val="0"/>
              </a:spcBef>
              <a:spcAft>
                <a:spcPts val="0"/>
              </a:spcAft>
              <a:buClr>
                <a:srgbClr val="3A3630"/>
              </a:buClr>
              <a:buSzPts val="1600"/>
              <a:buFont typeface="Source Sans 3"/>
              <a:buChar char="•"/>
            </a:pPr>
            <a:r>
              <a:rPr b="1" lang="en-US" sz="1600">
                <a:solidFill>
                  <a:srgbClr val="3A3630"/>
                </a:solidFill>
                <a:latin typeface="Source Sans 3"/>
                <a:ea typeface="Source Sans 3"/>
                <a:cs typeface="Source Sans 3"/>
                <a:sym typeface="Source Sans 3"/>
              </a:rPr>
              <a:t>Đánh dấu ranh giới (Boundaries):</a:t>
            </a:r>
            <a:r>
              <a:rPr lang="en-US" sz="1600">
                <a:solidFill>
                  <a:srgbClr val="3A3630"/>
                </a:solidFill>
                <a:latin typeface="Source Sans 3"/>
                <a:ea typeface="Source Sans 3"/>
                <a:cs typeface="Source Sans 3"/>
                <a:sym typeface="Source Sans 3"/>
              </a:rPr>
              <a:t> Ranh giới câu/truy vấn được bảo toàn bằng cách thêm các token đặc biệt [S] (bắt đầu) và [/S] (kết thúc).</a:t>
            </a:r>
            <a:endParaRPr sz="1600">
              <a:solidFill>
                <a:schemeClr val="dk1"/>
              </a:solidFill>
              <a:latin typeface="Calibri"/>
              <a:ea typeface="Calibri"/>
              <a:cs typeface="Calibri"/>
              <a:sym typeface="Calibri"/>
            </a:endParaRPr>
          </a:p>
        </p:txBody>
      </p:sp>
      <p:sp>
        <p:nvSpPr>
          <p:cNvPr id="174" name="Google Shape;174;p18"/>
          <p:cNvSpPr/>
          <p:nvPr/>
        </p:nvSpPr>
        <p:spPr>
          <a:xfrm>
            <a:off x="637108" y="3851833"/>
            <a:ext cx="3552600" cy="3174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8512F"/>
              </a:buClr>
              <a:buSzPts val="1950"/>
              <a:buFont typeface="Lora"/>
              <a:buNone/>
            </a:pPr>
            <a:r>
              <a:rPr lang="en-US" sz="1950">
                <a:solidFill>
                  <a:srgbClr val="38512F"/>
                </a:solidFill>
                <a:latin typeface="Lora"/>
                <a:ea typeface="Lora"/>
                <a:cs typeface="Lora"/>
                <a:sym typeface="Lora"/>
              </a:rPr>
              <a:t>Thống Kê Bộ Sưu Tập (Table 1)</a:t>
            </a:r>
            <a:endParaRPr sz="1950">
              <a:solidFill>
                <a:schemeClr val="dk1"/>
              </a:solidFill>
              <a:latin typeface="Calibri"/>
              <a:ea typeface="Calibri"/>
              <a:cs typeface="Calibri"/>
              <a:sym typeface="Calibri"/>
            </a:endParaRPr>
          </a:p>
        </p:txBody>
      </p:sp>
      <p:sp>
        <p:nvSpPr>
          <p:cNvPr id="175" name="Google Shape;175;p18"/>
          <p:cNvSpPr txBox="1"/>
          <p:nvPr/>
        </p:nvSpPr>
        <p:spPr>
          <a:xfrm>
            <a:off x="3495600" y="7623100"/>
            <a:ext cx="86496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latin typeface="Source Sans 3"/>
                <a:ea typeface="Source Sans 3"/>
                <a:cs typeface="Source Sans 3"/>
                <a:sym typeface="Source Sans 3"/>
              </a:rPr>
              <a:t>Bảng 1 : Thống kê của bộ sưu tập các mô hình ngôn ngữ n-gram trên web</a:t>
            </a:r>
            <a:endParaRPr sz="1600">
              <a:latin typeface="Source Sans 3"/>
              <a:ea typeface="Source Sans 3"/>
              <a:cs typeface="Source Sans 3"/>
              <a:sym typeface="Source Sans 3"/>
            </a:endParaRPr>
          </a:p>
        </p:txBody>
      </p:sp>
      <p:pic>
        <p:nvPicPr>
          <p:cNvPr id="176" name="Google Shape;176;p18"/>
          <p:cNvPicPr preferRelativeResize="0"/>
          <p:nvPr/>
        </p:nvPicPr>
        <p:blipFill>
          <a:blip r:embed="rId3">
            <a:alphaModFix/>
          </a:blip>
          <a:stretch>
            <a:fillRect/>
          </a:stretch>
        </p:blipFill>
        <p:spPr>
          <a:xfrm>
            <a:off x="2855775" y="4263743"/>
            <a:ext cx="8728349" cy="3342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9"/>
          <p:cNvSpPr/>
          <p:nvPr/>
        </p:nvSpPr>
        <p:spPr>
          <a:xfrm>
            <a:off x="707946" y="557927"/>
            <a:ext cx="5768578" cy="475893"/>
          </a:xfrm>
          <a:prstGeom prst="rect">
            <a:avLst/>
          </a:prstGeom>
          <a:noFill/>
          <a:ln>
            <a:noFill/>
          </a:ln>
        </p:spPr>
        <p:txBody>
          <a:bodyPr anchorCtr="0" anchor="t" bIns="0" lIns="0" spcFirstLastPara="1" rIns="0" wrap="square" tIns="0">
            <a:noAutofit/>
          </a:bodyPr>
          <a:lstStyle/>
          <a:p>
            <a:pPr indent="0" lvl="0" marL="0" marR="0" rtl="0" algn="l">
              <a:lnSpc>
                <a:spcPct val="125423"/>
              </a:lnSpc>
              <a:spcBef>
                <a:spcPts val="0"/>
              </a:spcBef>
              <a:spcAft>
                <a:spcPts val="0"/>
              </a:spcAft>
              <a:buClr>
                <a:srgbClr val="38512F"/>
              </a:buClr>
              <a:buSzPts val="2950"/>
              <a:buFont typeface="Lora"/>
              <a:buNone/>
            </a:pPr>
            <a:r>
              <a:rPr lang="en-US" sz="2950">
                <a:solidFill>
                  <a:srgbClr val="38512F"/>
                </a:solidFill>
                <a:latin typeface="Lora"/>
                <a:ea typeface="Lora"/>
                <a:cs typeface="Lora"/>
                <a:sym typeface="Lora"/>
              </a:rPr>
              <a:t>Kỹ Thuật Làm Mượt (Smoothing)</a:t>
            </a:r>
            <a:endParaRPr sz="2950">
              <a:solidFill>
                <a:schemeClr val="dk1"/>
              </a:solidFill>
              <a:latin typeface="Calibri"/>
              <a:ea typeface="Calibri"/>
              <a:cs typeface="Calibri"/>
              <a:sym typeface="Calibri"/>
            </a:endParaRPr>
          </a:p>
        </p:txBody>
      </p:sp>
      <p:sp>
        <p:nvSpPr>
          <p:cNvPr id="183" name="Google Shape;183;p19"/>
          <p:cNvSpPr/>
          <p:nvPr/>
        </p:nvSpPr>
        <p:spPr>
          <a:xfrm>
            <a:off x="707946" y="1114663"/>
            <a:ext cx="2855833" cy="356949"/>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8512F"/>
              </a:buClr>
              <a:buSzPts val="2200"/>
              <a:buFont typeface="Lora"/>
              <a:buNone/>
            </a:pPr>
            <a:r>
              <a:rPr lang="en-US" sz="2200">
                <a:solidFill>
                  <a:srgbClr val="38512F"/>
                </a:solidFill>
                <a:latin typeface="Lora"/>
                <a:ea typeface="Lora"/>
                <a:cs typeface="Lora"/>
                <a:sym typeface="Lora"/>
              </a:rPr>
              <a:t>Vấn Đề và Giải Pháp</a:t>
            </a:r>
            <a:endParaRPr sz="2200">
              <a:solidFill>
                <a:schemeClr val="dk1"/>
              </a:solidFill>
              <a:latin typeface="Calibri"/>
              <a:ea typeface="Calibri"/>
              <a:cs typeface="Calibri"/>
              <a:sym typeface="Calibri"/>
            </a:endParaRPr>
          </a:p>
        </p:txBody>
      </p:sp>
      <p:sp>
        <p:nvSpPr>
          <p:cNvPr id="184" name="Google Shape;184;p19"/>
          <p:cNvSpPr/>
          <p:nvPr/>
        </p:nvSpPr>
        <p:spPr>
          <a:xfrm>
            <a:off x="707946" y="1774984"/>
            <a:ext cx="13214509" cy="647224"/>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8512F"/>
              </a:buClr>
              <a:buSzPts val="1550"/>
              <a:buFont typeface="Source Sans 3"/>
              <a:buNone/>
            </a:pPr>
            <a:r>
              <a:rPr b="1" lang="en-US" sz="1550">
                <a:solidFill>
                  <a:srgbClr val="38512F"/>
                </a:solidFill>
                <a:latin typeface="Source Sans 3"/>
                <a:ea typeface="Source Sans 3"/>
                <a:cs typeface="Source Sans 3"/>
                <a:sym typeface="Source Sans 3"/>
              </a:rPr>
              <a:t>Vấn đề:</a:t>
            </a:r>
            <a:r>
              <a:rPr lang="en-US" sz="1550">
                <a:solidFill>
                  <a:srgbClr val="3A3630"/>
                </a:solidFill>
                <a:latin typeface="Source Sans 3"/>
                <a:ea typeface="Source Sans 3"/>
                <a:cs typeface="Source Sans 3"/>
                <a:sym typeface="Source Sans 3"/>
              </a:rPr>
              <a:t> Khi chỉ dùng tần suất thô (Maximum Likelihood Estimation - MLE), bất kỳ N-gram nào không xuất hiện trong dữ liệu huấn luyện (unseen N-grams) sẽ bị gán xác suất P = 0.</a:t>
            </a:r>
            <a:endParaRPr sz="1550">
              <a:solidFill>
                <a:schemeClr val="dk1"/>
              </a:solidFill>
              <a:latin typeface="Calibri"/>
              <a:ea typeface="Calibri"/>
              <a:cs typeface="Calibri"/>
              <a:sym typeface="Calibri"/>
            </a:endParaRPr>
          </a:p>
        </p:txBody>
      </p:sp>
      <p:sp>
        <p:nvSpPr>
          <p:cNvPr id="185" name="Google Shape;185;p19"/>
          <p:cNvSpPr/>
          <p:nvPr/>
        </p:nvSpPr>
        <p:spPr>
          <a:xfrm>
            <a:off x="707946" y="2649736"/>
            <a:ext cx="13214509" cy="647224"/>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8512F"/>
              </a:buClr>
              <a:buSzPts val="1550"/>
              <a:buFont typeface="Source Sans 3"/>
              <a:buNone/>
            </a:pPr>
            <a:r>
              <a:rPr b="1" lang="en-US" sz="1550">
                <a:solidFill>
                  <a:srgbClr val="38512F"/>
                </a:solidFill>
                <a:latin typeface="Source Sans 3"/>
                <a:ea typeface="Source Sans 3"/>
                <a:cs typeface="Source Sans 3"/>
                <a:sym typeface="Source Sans 3"/>
              </a:rPr>
              <a:t>Giải pháp:</a:t>
            </a:r>
            <a:r>
              <a:rPr lang="en-US" sz="1550">
                <a:solidFill>
                  <a:srgbClr val="3A3630"/>
                </a:solidFill>
                <a:latin typeface="Source Sans 3"/>
                <a:ea typeface="Source Sans 3"/>
                <a:cs typeface="Source Sans 3"/>
                <a:sym typeface="Source Sans 3"/>
              </a:rPr>
              <a:t> Kỹ thuật "Làm mượt" (Smoothing). Gán một xác suất "rất nhỏ nhưng khác không" (P &gt; 0) cho các N-gram chưa từng thấy. Điều này giúp mô hình có sức mạnh dự đoán tốt hơn đáng kể và mạnh mẽ (robust) hơn.</a:t>
            </a:r>
            <a:endParaRPr sz="1550">
              <a:solidFill>
                <a:schemeClr val="dk1"/>
              </a:solidFill>
              <a:latin typeface="Calibri"/>
              <a:ea typeface="Calibri"/>
              <a:cs typeface="Calibri"/>
              <a:sym typeface="Calibri"/>
            </a:endParaRPr>
          </a:p>
        </p:txBody>
      </p:sp>
      <p:sp>
        <p:nvSpPr>
          <p:cNvPr id="186" name="Google Shape;186;p19"/>
          <p:cNvSpPr/>
          <p:nvPr/>
        </p:nvSpPr>
        <p:spPr>
          <a:xfrm>
            <a:off x="707946" y="3600331"/>
            <a:ext cx="5993844" cy="356949"/>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8512F"/>
              </a:buClr>
              <a:buSzPts val="2200"/>
              <a:buFont typeface="Lora"/>
              <a:buNone/>
            </a:pPr>
            <a:r>
              <a:rPr lang="en-US" sz="2200">
                <a:solidFill>
                  <a:srgbClr val="38512F"/>
                </a:solidFill>
                <a:latin typeface="Lora"/>
                <a:ea typeface="Lora"/>
                <a:cs typeface="Lora"/>
                <a:sym typeface="Lora"/>
              </a:rPr>
              <a:t>Phương Pháp: Modified Absolute Discounting</a:t>
            </a:r>
            <a:endParaRPr sz="2200">
              <a:solidFill>
                <a:schemeClr val="dk1"/>
              </a:solidFill>
              <a:latin typeface="Calibri"/>
              <a:ea typeface="Calibri"/>
              <a:cs typeface="Calibri"/>
              <a:sym typeface="Calibri"/>
            </a:endParaRPr>
          </a:p>
        </p:txBody>
      </p:sp>
      <p:sp>
        <p:nvSpPr>
          <p:cNvPr id="187" name="Google Shape;187;p19"/>
          <p:cNvSpPr/>
          <p:nvPr/>
        </p:nvSpPr>
        <p:spPr>
          <a:xfrm>
            <a:off x="707946" y="4260652"/>
            <a:ext cx="13214509" cy="323612"/>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A3630"/>
              </a:buClr>
              <a:buSzPts val="1550"/>
              <a:buFont typeface="Source Sans 3"/>
              <a:buNone/>
            </a:pPr>
            <a:r>
              <a:rPr lang="en-US" sz="1550">
                <a:solidFill>
                  <a:srgbClr val="3A3630"/>
                </a:solidFill>
                <a:latin typeface="Source Sans 3"/>
                <a:ea typeface="Source Sans 3"/>
                <a:cs typeface="Source Sans 3"/>
                <a:sym typeface="Source Sans 3"/>
              </a:rPr>
              <a:t>Bài báo sử dụng "Modified Absolute Discounting". Công thức làm mượt (cho Trigram):</a:t>
            </a:r>
            <a:endParaRPr sz="1550">
              <a:solidFill>
                <a:schemeClr val="dk1"/>
              </a:solidFill>
              <a:latin typeface="Calibri"/>
              <a:ea typeface="Calibri"/>
              <a:cs typeface="Calibri"/>
              <a:sym typeface="Calibri"/>
            </a:endParaRPr>
          </a:p>
        </p:txBody>
      </p:sp>
      <p:sp>
        <p:nvSpPr>
          <p:cNvPr id="188" name="Google Shape;188;p19"/>
          <p:cNvSpPr/>
          <p:nvPr/>
        </p:nvSpPr>
        <p:spPr>
          <a:xfrm>
            <a:off x="707946" y="4840248"/>
            <a:ext cx="13214509" cy="82605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chemeClr val="dk1"/>
              </a:buClr>
              <a:buSzPts val="1750"/>
              <a:buFont typeface="Calibri"/>
              <a:buNone/>
            </a:pPr>
            <a:r>
              <a:t/>
            </a:r>
            <a:endParaRPr sz="1750">
              <a:solidFill>
                <a:schemeClr val="dk1"/>
              </a:solidFill>
              <a:latin typeface="Calibri"/>
              <a:ea typeface="Calibri"/>
              <a:cs typeface="Calibri"/>
              <a:sym typeface="Calibri"/>
            </a:endParaRPr>
          </a:p>
        </p:txBody>
      </p:sp>
      <p:pic>
        <p:nvPicPr>
          <p:cNvPr descr="preencoded.png" id="189" name="Google Shape;189;p19"/>
          <p:cNvPicPr preferRelativeResize="0"/>
          <p:nvPr/>
        </p:nvPicPr>
        <p:blipFill rotWithShape="1">
          <a:blip r:embed="rId3">
            <a:alphaModFix/>
          </a:blip>
          <a:srcRect b="0" l="0" r="0" t="0"/>
          <a:stretch/>
        </p:blipFill>
        <p:spPr>
          <a:xfrm>
            <a:off x="707946" y="4840248"/>
            <a:ext cx="13214509" cy="826056"/>
          </a:xfrm>
          <a:prstGeom prst="rect">
            <a:avLst/>
          </a:prstGeom>
          <a:noFill/>
          <a:ln>
            <a:noFill/>
          </a:ln>
        </p:spPr>
      </p:pic>
      <p:sp>
        <p:nvSpPr>
          <p:cNvPr id="190" name="Google Shape;190;p19"/>
          <p:cNvSpPr/>
          <p:nvPr/>
        </p:nvSpPr>
        <p:spPr>
          <a:xfrm>
            <a:off x="707946" y="5969675"/>
            <a:ext cx="2881193" cy="356949"/>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8512F"/>
              </a:buClr>
              <a:buSzPts val="2200"/>
              <a:buFont typeface="Lora"/>
              <a:buNone/>
            </a:pPr>
            <a:r>
              <a:rPr lang="en-US" sz="2200">
                <a:solidFill>
                  <a:srgbClr val="38512F"/>
                </a:solidFill>
                <a:latin typeface="Lora"/>
                <a:ea typeface="Lora"/>
                <a:cs typeface="Lora"/>
                <a:sym typeface="Lora"/>
              </a:rPr>
              <a:t>Giải Thích Công Thức</a:t>
            </a:r>
            <a:endParaRPr sz="2200">
              <a:solidFill>
                <a:schemeClr val="dk1"/>
              </a:solidFill>
              <a:latin typeface="Calibri"/>
              <a:ea typeface="Calibri"/>
              <a:cs typeface="Calibri"/>
              <a:sym typeface="Calibri"/>
            </a:endParaRPr>
          </a:p>
        </p:txBody>
      </p:sp>
      <p:sp>
        <p:nvSpPr>
          <p:cNvPr id="191" name="Google Shape;191;p19"/>
          <p:cNvSpPr/>
          <p:nvPr/>
        </p:nvSpPr>
        <p:spPr>
          <a:xfrm>
            <a:off x="707946" y="6629995"/>
            <a:ext cx="13214509" cy="323612"/>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3A3630"/>
              </a:buClr>
              <a:buSzPts val="1550"/>
              <a:buFont typeface="Source Sans 3"/>
              <a:buChar char="•"/>
            </a:pPr>
            <a:r>
              <a:rPr b="1" lang="en-US" sz="1550">
                <a:solidFill>
                  <a:srgbClr val="3A3630"/>
                </a:solidFill>
                <a:latin typeface="Source Sans 3"/>
                <a:ea typeface="Source Sans 3"/>
                <a:cs typeface="Source Sans 3"/>
                <a:sym typeface="Source Sans 3"/>
              </a:rPr>
              <a:t>Hàng trên (Nếu đã thấy):</a:t>
            </a:r>
            <a:r>
              <a:rPr lang="en-US" sz="1550">
                <a:solidFill>
                  <a:srgbClr val="3A3630"/>
                </a:solidFill>
                <a:latin typeface="Source Sans 3"/>
                <a:ea typeface="Source Sans 3"/>
                <a:cs typeface="Source Sans 3"/>
                <a:sym typeface="Source Sans 3"/>
              </a:rPr>
              <a:t> Lấy số đếm thô C(.) trừ đi một lượng chiết khấu D(.).</a:t>
            </a:r>
            <a:endParaRPr sz="1550">
              <a:solidFill>
                <a:schemeClr val="dk1"/>
              </a:solidFill>
              <a:latin typeface="Calibri"/>
              <a:ea typeface="Calibri"/>
              <a:cs typeface="Calibri"/>
              <a:sym typeface="Calibri"/>
            </a:endParaRPr>
          </a:p>
        </p:txBody>
      </p:sp>
      <p:sp>
        <p:nvSpPr>
          <p:cNvPr id="192" name="Google Shape;192;p19"/>
          <p:cNvSpPr/>
          <p:nvPr/>
        </p:nvSpPr>
        <p:spPr>
          <a:xfrm>
            <a:off x="707946" y="7024330"/>
            <a:ext cx="13214509" cy="64722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3A3630"/>
              </a:buClr>
              <a:buSzPts val="1550"/>
              <a:buFont typeface="Source Sans 3"/>
              <a:buChar char="•"/>
            </a:pPr>
            <a:r>
              <a:rPr b="1" lang="en-US" sz="1550">
                <a:solidFill>
                  <a:srgbClr val="3A3630"/>
                </a:solidFill>
                <a:latin typeface="Source Sans 3"/>
                <a:ea typeface="Source Sans 3"/>
                <a:cs typeface="Source Sans 3"/>
                <a:sym typeface="Source Sans 3"/>
              </a:rPr>
              <a:t>Hàng dưới (Nếu chưa thấy):</a:t>
            </a:r>
            <a:r>
              <a:rPr lang="en-US" sz="1550">
                <a:solidFill>
                  <a:srgbClr val="3A3630"/>
                </a:solidFill>
                <a:latin typeface="Source Sans 3"/>
                <a:ea typeface="Source Sans 3"/>
                <a:cs typeface="Source Sans 3"/>
                <a:sym typeface="Source Sans 3"/>
              </a:rPr>
              <a:t> Lùi về mô hình Bigram P(w_i|w_{i-1}) (gọi là "back-off") và nhân với một hệ số chuẩn hóa α(.) để đảm bảo tổng xác suất bằng 1.</a:t>
            </a:r>
            <a:endParaRPr sz="15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0"/>
          <p:cNvSpPr/>
          <p:nvPr/>
        </p:nvSpPr>
        <p:spPr>
          <a:xfrm>
            <a:off x="576151" y="719725"/>
            <a:ext cx="7382100" cy="387300"/>
          </a:xfrm>
          <a:prstGeom prst="rect">
            <a:avLst/>
          </a:prstGeom>
          <a:noFill/>
          <a:ln>
            <a:noFill/>
          </a:ln>
        </p:spPr>
        <p:txBody>
          <a:bodyPr anchorCtr="0" anchor="t" bIns="0" lIns="0" spcFirstLastPara="1" rIns="0" wrap="square" tIns="0">
            <a:noAutofit/>
          </a:bodyPr>
          <a:lstStyle/>
          <a:p>
            <a:pPr indent="0" lvl="0" marL="0" marR="0" rtl="0" algn="l">
              <a:lnSpc>
                <a:spcPct val="127083"/>
              </a:lnSpc>
              <a:spcBef>
                <a:spcPts val="0"/>
              </a:spcBef>
              <a:spcAft>
                <a:spcPts val="0"/>
              </a:spcAft>
              <a:buClr>
                <a:srgbClr val="38512F"/>
              </a:buClr>
              <a:buSzPts val="2400"/>
              <a:buFont typeface="Lora"/>
              <a:buNone/>
            </a:pPr>
            <a:r>
              <a:rPr lang="en-US" sz="2600">
                <a:solidFill>
                  <a:srgbClr val="38512F"/>
                </a:solidFill>
                <a:latin typeface="Lora"/>
                <a:ea typeface="Lora"/>
                <a:cs typeface="Lora"/>
                <a:sym typeface="Lora"/>
              </a:rPr>
              <a:t>Phân Tích Dữ Liệu N-gram Web: Perplexity</a:t>
            </a:r>
            <a:endParaRPr sz="2600">
              <a:solidFill>
                <a:schemeClr val="dk1"/>
              </a:solidFill>
              <a:latin typeface="Calibri"/>
              <a:ea typeface="Calibri"/>
              <a:cs typeface="Calibri"/>
              <a:sym typeface="Calibri"/>
            </a:endParaRPr>
          </a:p>
        </p:txBody>
      </p:sp>
      <p:sp>
        <p:nvSpPr>
          <p:cNvPr id="199" name="Google Shape;199;p20"/>
          <p:cNvSpPr/>
          <p:nvPr/>
        </p:nvSpPr>
        <p:spPr>
          <a:xfrm>
            <a:off x="576152" y="1172875"/>
            <a:ext cx="6656700" cy="29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1800"/>
              <a:buFont typeface="Lora"/>
              <a:buNone/>
            </a:pPr>
            <a:r>
              <a:rPr lang="en-US" sz="2200">
                <a:solidFill>
                  <a:srgbClr val="38512F"/>
                </a:solidFill>
                <a:latin typeface="Lora"/>
                <a:ea typeface="Lora"/>
                <a:cs typeface="Lora"/>
                <a:sym typeface="Lora"/>
              </a:rPr>
              <a:t>Phương Pháp Phân Tích: Perplexity (Độ Bối Rối)</a:t>
            </a:r>
            <a:endParaRPr sz="2200">
              <a:solidFill>
                <a:schemeClr val="dk1"/>
              </a:solidFill>
              <a:latin typeface="Calibri"/>
              <a:ea typeface="Calibri"/>
              <a:cs typeface="Calibri"/>
              <a:sym typeface="Calibri"/>
            </a:endParaRPr>
          </a:p>
        </p:txBody>
      </p:sp>
      <p:sp>
        <p:nvSpPr>
          <p:cNvPr id="200" name="Google Shape;200;p20"/>
          <p:cNvSpPr/>
          <p:nvPr/>
        </p:nvSpPr>
        <p:spPr>
          <a:xfrm>
            <a:off x="576143" y="1710333"/>
            <a:ext cx="13478113" cy="263366"/>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A3630"/>
              </a:buClr>
              <a:buSzPts val="1250"/>
              <a:buFont typeface="Source Sans 3"/>
              <a:buNone/>
            </a:pPr>
            <a:r>
              <a:rPr b="1" lang="en-US" sz="1650">
                <a:solidFill>
                  <a:srgbClr val="3A3630"/>
                </a:solidFill>
                <a:latin typeface="Source Sans 3"/>
                <a:ea typeface="Source Sans 3"/>
                <a:cs typeface="Source Sans 3"/>
                <a:sym typeface="Source Sans 3"/>
              </a:rPr>
              <a:t>Perplexity là gì?</a:t>
            </a:r>
            <a:r>
              <a:rPr lang="en-US" sz="1650">
                <a:solidFill>
                  <a:srgbClr val="3A3630"/>
                </a:solidFill>
                <a:latin typeface="Source Sans 3"/>
                <a:ea typeface="Source Sans 3"/>
                <a:cs typeface="Source Sans 3"/>
                <a:sym typeface="Source Sans 3"/>
              </a:rPr>
              <a:t> Đây là một thước đo lý thuyết thông tin (information theory metric). Dùng để đánh giá mức độ một mô hình ngôn ngữ (LM) dự đoán tốt dữ liệu thử nghiệm (test data).</a:t>
            </a:r>
            <a:endParaRPr sz="1650">
              <a:solidFill>
                <a:schemeClr val="dk1"/>
              </a:solidFill>
              <a:latin typeface="Calibri"/>
              <a:ea typeface="Calibri"/>
              <a:cs typeface="Calibri"/>
              <a:sym typeface="Calibri"/>
            </a:endParaRPr>
          </a:p>
        </p:txBody>
      </p:sp>
      <p:sp>
        <p:nvSpPr>
          <p:cNvPr id="201" name="Google Shape;201;p20"/>
          <p:cNvSpPr/>
          <p:nvPr/>
        </p:nvSpPr>
        <p:spPr>
          <a:xfrm>
            <a:off x="576143" y="2349641"/>
            <a:ext cx="13478100" cy="263400"/>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3A3630"/>
              </a:buClr>
              <a:buSzPts val="1250"/>
              <a:buFont typeface="Source Sans 3"/>
              <a:buNone/>
            </a:pPr>
            <a:r>
              <a:rPr b="1" lang="en-US" sz="1650">
                <a:solidFill>
                  <a:srgbClr val="3A3630"/>
                </a:solidFill>
                <a:latin typeface="Source Sans 3"/>
                <a:ea typeface="Source Sans 3"/>
                <a:cs typeface="Source Sans 3"/>
                <a:sym typeface="Source Sans 3"/>
              </a:rPr>
              <a:t>Ý nghĩa trực quan:</a:t>
            </a:r>
            <a:r>
              <a:rPr lang="en-US" sz="1650">
                <a:solidFill>
                  <a:srgbClr val="3A3630"/>
                </a:solidFill>
                <a:latin typeface="Source Sans 3"/>
                <a:ea typeface="Source Sans 3"/>
                <a:cs typeface="Source Sans 3"/>
                <a:sym typeface="Source Sans 3"/>
              </a:rPr>
              <a:t> Nó đo lường "mức độ ngạc nhiên" (surprise) của mô hình khi gặp một câu mới.</a:t>
            </a:r>
            <a:endParaRPr sz="1650">
              <a:solidFill>
                <a:schemeClr val="dk1"/>
              </a:solidFill>
              <a:latin typeface="Calibri"/>
              <a:ea typeface="Calibri"/>
              <a:cs typeface="Calibri"/>
              <a:sym typeface="Calibri"/>
            </a:endParaRPr>
          </a:p>
        </p:txBody>
      </p:sp>
      <p:sp>
        <p:nvSpPr>
          <p:cNvPr id="202" name="Google Shape;202;p20"/>
          <p:cNvSpPr/>
          <p:nvPr/>
        </p:nvSpPr>
        <p:spPr>
          <a:xfrm>
            <a:off x="576154" y="2669150"/>
            <a:ext cx="3568500" cy="29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1800"/>
              <a:buFont typeface="Lora"/>
              <a:buNone/>
            </a:pPr>
            <a:r>
              <a:rPr lang="en-US" sz="2200">
                <a:solidFill>
                  <a:srgbClr val="38512F"/>
                </a:solidFill>
                <a:latin typeface="Lora"/>
                <a:ea typeface="Lora"/>
                <a:cs typeface="Lora"/>
                <a:sym typeface="Lora"/>
              </a:rPr>
              <a:t>Diễn Giải Perplexity</a:t>
            </a:r>
            <a:endParaRPr sz="2200">
              <a:solidFill>
                <a:schemeClr val="dk1"/>
              </a:solidFill>
              <a:latin typeface="Calibri"/>
              <a:ea typeface="Calibri"/>
              <a:cs typeface="Calibri"/>
              <a:sym typeface="Calibri"/>
            </a:endParaRPr>
          </a:p>
        </p:txBody>
      </p:sp>
      <p:sp>
        <p:nvSpPr>
          <p:cNvPr id="203" name="Google Shape;203;p20"/>
          <p:cNvSpPr/>
          <p:nvPr/>
        </p:nvSpPr>
        <p:spPr>
          <a:xfrm>
            <a:off x="576150" y="3206602"/>
            <a:ext cx="6656700" cy="1443600"/>
          </a:xfrm>
          <a:prstGeom prst="roundRect">
            <a:avLst>
              <a:gd fmla="val 2064"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204" name="Google Shape;204;p20"/>
          <p:cNvSpPr/>
          <p:nvPr/>
        </p:nvSpPr>
        <p:spPr>
          <a:xfrm>
            <a:off x="740703" y="3262100"/>
            <a:ext cx="3033600" cy="242100"/>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3A3630"/>
              </a:buClr>
              <a:buSzPts val="1500"/>
              <a:buFont typeface="Lora"/>
              <a:buNone/>
            </a:pPr>
            <a:r>
              <a:rPr lang="en-US" sz="1800">
                <a:solidFill>
                  <a:srgbClr val="3A3630"/>
                </a:solidFill>
                <a:latin typeface="Lora"/>
                <a:ea typeface="Lora"/>
                <a:cs typeface="Lora"/>
                <a:sym typeface="Lora"/>
              </a:rPr>
              <a:t>Perplexity Thấp (Low PPL)</a:t>
            </a:r>
            <a:endParaRPr sz="1800">
              <a:solidFill>
                <a:schemeClr val="dk1"/>
              </a:solidFill>
              <a:latin typeface="Calibri"/>
              <a:ea typeface="Calibri"/>
              <a:cs typeface="Calibri"/>
              <a:sym typeface="Calibri"/>
            </a:endParaRPr>
          </a:p>
        </p:txBody>
      </p:sp>
      <p:sp>
        <p:nvSpPr>
          <p:cNvPr id="205" name="Google Shape;205;p20"/>
          <p:cNvSpPr/>
          <p:nvPr/>
        </p:nvSpPr>
        <p:spPr>
          <a:xfrm>
            <a:off x="740700" y="3752863"/>
            <a:ext cx="6656700" cy="526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A3630"/>
              </a:buClr>
              <a:buSzPts val="1250"/>
              <a:buFont typeface="Source Sans 3"/>
              <a:buNone/>
            </a:pPr>
            <a:r>
              <a:rPr lang="en-US" sz="1550">
                <a:solidFill>
                  <a:srgbClr val="3A3630"/>
                </a:solidFill>
                <a:latin typeface="Source Sans 3"/>
                <a:ea typeface="Source Sans 3"/>
                <a:cs typeface="Source Sans 3"/>
                <a:sym typeface="Source Sans 3"/>
              </a:rPr>
              <a:t>Mô hình dự đoán tốt, ít "ngạc nhiên". Dữ liệu thử nghiệm rất "quen thuộc", có nghĩa là ngôn ngữ của mô hình và ngôn ngữ của dữ liệu thử nghiệm rất giống nhau.</a:t>
            </a:r>
            <a:endParaRPr sz="1550">
              <a:solidFill>
                <a:schemeClr val="dk1"/>
              </a:solidFill>
              <a:latin typeface="Calibri"/>
              <a:ea typeface="Calibri"/>
              <a:cs typeface="Calibri"/>
              <a:sym typeface="Calibri"/>
            </a:endParaRPr>
          </a:p>
        </p:txBody>
      </p:sp>
      <p:sp>
        <p:nvSpPr>
          <p:cNvPr id="206" name="Google Shape;206;p20"/>
          <p:cNvSpPr/>
          <p:nvPr/>
        </p:nvSpPr>
        <p:spPr>
          <a:xfrm>
            <a:off x="7397475" y="3206602"/>
            <a:ext cx="6656700" cy="1443600"/>
          </a:xfrm>
          <a:prstGeom prst="roundRect">
            <a:avLst>
              <a:gd fmla="val 2064"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207" name="Google Shape;207;p20"/>
          <p:cNvSpPr/>
          <p:nvPr/>
        </p:nvSpPr>
        <p:spPr>
          <a:xfrm>
            <a:off x="7562030" y="3371125"/>
            <a:ext cx="3762600" cy="242100"/>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3A3630"/>
              </a:buClr>
              <a:buSzPts val="1500"/>
              <a:buFont typeface="Lora"/>
              <a:buNone/>
            </a:pPr>
            <a:r>
              <a:rPr lang="en-US" sz="1800">
                <a:solidFill>
                  <a:srgbClr val="3A3630"/>
                </a:solidFill>
                <a:latin typeface="Lora"/>
                <a:ea typeface="Lora"/>
                <a:cs typeface="Lora"/>
                <a:sym typeface="Lora"/>
              </a:rPr>
              <a:t>Perplexity Cao (High PPL)</a:t>
            </a:r>
            <a:endParaRPr sz="1800">
              <a:solidFill>
                <a:schemeClr val="dk1"/>
              </a:solidFill>
              <a:latin typeface="Calibri"/>
              <a:ea typeface="Calibri"/>
              <a:cs typeface="Calibri"/>
              <a:sym typeface="Calibri"/>
            </a:endParaRPr>
          </a:p>
        </p:txBody>
      </p:sp>
      <p:sp>
        <p:nvSpPr>
          <p:cNvPr id="208" name="Google Shape;208;p20"/>
          <p:cNvSpPr/>
          <p:nvPr/>
        </p:nvSpPr>
        <p:spPr>
          <a:xfrm>
            <a:off x="7562017" y="3711892"/>
            <a:ext cx="6327696" cy="526733"/>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3A3630"/>
              </a:buClr>
              <a:buSzPts val="1250"/>
              <a:buFont typeface="Source Sans 3"/>
              <a:buNone/>
            </a:pPr>
            <a:r>
              <a:rPr lang="en-US" sz="1550">
                <a:solidFill>
                  <a:srgbClr val="3A3630"/>
                </a:solidFill>
                <a:latin typeface="Source Sans 3"/>
                <a:ea typeface="Source Sans 3"/>
                <a:cs typeface="Source Sans 3"/>
                <a:sym typeface="Source Sans 3"/>
              </a:rPr>
              <a:t>Mô hình dự đoán kém, "rất bối rối". Dữ liệu thử nghiệm rất khác biệt so với ngôn ngữ mà mô hình đã học.</a:t>
            </a:r>
            <a:endParaRPr sz="1550">
              <a:solidFill>
                <a:schemeClr val="dk1"/>
              </a:solidFill>
              <a:latin typeface="Calibri"/>
              <a:ea typeface="Calibri"/>
              <a:cs typeface="Calibri"/>
              <a:sym typeface="Calibri"/>
            </a:endParaRPr>
          </a:p>
        </p:txBody>
      </p:sp>
      <p:sp>
        <p:nvSpPr>
          <p:cNvPr id="209" name="Google Shape;209;p20"/>
          <p:cNvSpPr/>
          <p:nvPr/>
        </p:nvSpPr>
        <p:spPr>
          <a:xfrm>
            <a:off x="576143" y="4650105"/>
            <a:ext cx="2534245" cy="2905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1800"/>
              <a:buFont typeface="Lora"/>
              <a:buNone/>
            </a:pPr>
            <a:r>
              <a:rPr lang="en-US" sz="1800">
                <a:solidFill>
                  <a:srgbClr val="38512F"/>
                </a:solidFill>
                <a:latin typeface="Lora"/>
                <a:ea typeface="Lora"/>
                <a:cs typeface="Lora"/>
                <a:sym typeface="Lora"/>
              </a:rPr>
              <a:t>Định Nghĩa Chính Thức</a:t>
            </a:r>
            <a:endParaRPr sz="1800">
              <a:solidFill>
                <a:schemeClr val="dk1"/>
              </a:solidFill>
              <a:latin typeface="Calibri"/>
              <a:ea typeface="Calibri"/>
              <a:cs typeface="Calibri"/>
              <a:sym typeface="Calibri"/>
            </a:endParaRPr>
          </a:p>
        </p:txBody>
      </p:sp>
      <p:sp>
        <p:nvSpPr>
          <p:cNvPr id="210" name="Google Shape;210;p20"/>
          <p:cNvSpPr/>
          <p:nvPr/>
        </p:nvSpPr>
        <p:spPr>
          <a:xfrm>
            <a:off x="576143" y="5187553"/>
            <a:ext cx="13478113" cy="263366"/>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3A3630"/>
              </a:buClr>
              <a:buSzPts val="1250"/>
              <a:buFont typeface="Source Sans 3"/>
              <a:buNone/>
            </a:pPr>
            <a:r>
              <a:rPr lang="en-US" sz="1550">
                <a:solidFill>
                  <a:srgbClr val="3A3630"/>
                </a:solidFill>
                <a:latin typeface="Source Sans 3"/>
                <a:ea typeface="Source Sans 3"/>
                <a:cs typeface="Source Sans 3"/>
                <a:sym typeface="Source Sans 3"/>
              </a:rPr>
              <a:t>Perplexity được định nghĩa dựa trên Cross Entropy (Entropy chéo) H(p̃, q):</a:t>
            </a:r>
            <a:endParaRPr sz="1550">
              <a:solidFill>
                <a:schemeClr val="dk1"/>
              </a:solidFill>
              <a:latin typeface="Calibri"/>
              <a:ea typeface="Calibri"/>
              <a:cs typeface="Calibri"/>
              <a:sym typeface="Calibri"/>
            </a:endParaRPr>
          </a:p>
        </p:txBody>
      </p:sp>
      <p:sp>
        <p:nvSpPr>
          <p:cNvPr id="211" name="Google Shape;211;p20"/>
          <p:cNvSpPr/>
          <p:nvPr/>
        </p:nvSpPr>
        <p:spPr>
          <a:xfrm>
            <a:off x="576143" y="5659279"/>
            <a:ext cx="13478113" cy="288488"/>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chemeClr val="dk1"/>
              </a:buClr>
              <a:buSzPts val="1450"/>
              <a:buFont typeface="Calibri"/>
              <a:buNone/>
            </a:pPr>
            <a:r>
              <a:t/>
            </a:r>
            <a:endParaRPr sz="1450">
              <a:solidFill>
                <a:schemeClr val="dk1"/>
              </a:solidFill>
              <a:latin typeface="Calibri"/>
              <a:ea typeface="Calibri"/>
              <a:cs typeface="Calibri"/>
              <a:sym typeface="Calibri"/>
            </a:endParaRPr>
          </a:p>
        </p:txBody>
      </p:sp>
      <p:pic>
        <p:nvPicPr>
          <p:cNvPr descr="preencoded.png" id="212" name="Google Shape;212;p20"/>
          <p:cNvPicPr preferRelativeResize="0"/>
          <p:nvPr/>
        </p:nvPicPr>
        <p:blipFill rotWithShape="1">
          <a:blip r:embed="rId3">
            <a:alphaModFix/>
          </a:blip>
          <a:srcRect b="0" l="0" r="0" t="0"/>
          <a:stretch/>
        </p:blipFill>
        <p:spPr>
          <a:xfrm>
            <a:off x="576143" y="5659279"/>
            <a:ext cx="13478113" cy="288488"/>
          </a:xfrm>
          <a:prstGeom prst="rect">
            <a:avLst/>
          </a:prstGeom>
          <a:noFill/>
          <a:ln>
            <a:noFill/>
          </a:ln>
        </p:spPr>
      </p:pic>
      <p:sp>
        <p:nvSpPr>
          <p:cNvPr id="213" name="Google Shape;213;p20"/>
          <p:cNvSpPr/>
          <p:nvPr/>
        </p:nvSpPr>
        <p:spPr>
          <a:xfrm>
            <a:off x="576143" y="6156127"/>
            <a:ext cx="13478113" cy="263366"/>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3A3630"/>
              </a:buClr>
              <a:buSzPts val="1250"/>
              <a:buFont typeface="Source Sans 3"/>
              <a:buNone/>
            </a:pPr>
            <a:r>
              <a:rPr lang="en-US" sz="1650">
                <a:solidFill>
                  <a:srgbClr val="3A3630"/>
                </a:solidFill>
                <a:latin typeface="Source Sans 3"/>
                <a:ea typeface="Source Sans 3"/>
                <a:cs typeface="Source Sans 3"/>
                <a:sym typeface="Source Sans 3"/>
              </a:rPr>
              <a:t>Trong đó:</a:t>
            </a:r>
            <a:endParaRPr sz="1650">
              <a:solidFill>
                <a:schemeClr val="dk1"/>
              </a:solidFill>
              <a:latin typeface="Calibri"/>
              <a:ea typeface="Calibri"/>
              <a:cs typeface="Calibri"/>
              <a:sym typeface="Calibri"/>
            </a:endParaRPr>
          </a:p>
        </p:txBody>
      </p:sp>
      <p:sp>
        <p:nvSpPr>
          <p:cNvPr id="214" name="Google Shape;214;p20"/>
          <p:cNvSpPr/>
          <p:nvPr/>
        </p:nvSpPr>
        <p:spPr>
          <a:xfrm>
            <a:off x="576143" y="6604635"/>
            <a:ext cx="13478113" cy="263366"/>
          </a:xfrm>
          <a:prstGeom prst="rect">
            <a:avLst/>
          </a:prstGeom>
          <a:noFill/>
          <a:ln>
            <a:noFill/>
          </a:ln>
        </p:spPr>
        <p:txBody>
          <a:bodyPr anchorCtr="0" anchor="t" bIns="0" lIns="0" spcFirstLastPara="1" rIns="0" wrap="square" tIns="0">
            <a:noAutofit/>
          </a:bodyPr>
          <a:lstStyle/>
          <a:p>
            <a:pPr indent="-368300" lvl="0" marL="342900" marR="0" rtl="0" algn="l">
              <a:lnSpc>
                <a:spcPct val="164000"/>
              </a:lnSpc>
              <a:spcBef>
                <a:spcPts val="0"/>
              </a:spcBef>
              <a:spcAft>
                <a:spcPts val="0"/>
              </a:spcAft>
              <a:buClr>
                <a:srgbClr val="3A3630"/>
              </a:buClr>
              <a:buSzPts val="1650"/>
              <a:buFont typeface="Source Sans 3"/>
              <a:buChar char="•"/>
            </a:pPr>
            <a:r>
              <a:rPr lang="en-US" sz="1650">
                <a:solidFill>
                  <a:srgbClr val="3A3630"/>
                </a:solidFill>
                <a:latin typeface="Source Sans 3"/>
                <a:ea typeface="Source Sans 3"/>
                <a:cs typeface="Source Sans 3"/>
                <a:sym typeface="Source Sans 3"/>
              </a:rPr>
              <a:t>H(p̃, q) = -∑_s p̃(s) log₂ q(s)</a:t>
            </a:r>
            <a:endParaRPr sz="1650">
              <a:solidFill>
                <a:schemeClr val="dk1"/>
              </a:solidFill>
              <a:latin typeface="Calibri"/>
              <a:ea typeface="Calibri"/>
              <a:cs typeface="Calibri"/>
              <a:sym typeface="Calibri"/>
            </a:endParaRPr>
          </a:p>
        </p:txBody>
      </p:sp>
      <p:sp>
        <p:nvSpPr>
          <p:cNvPr id="215" name="Google Shape;215;p20"/>
          <p:cNvSpPr/>
          <p:nvPr/>
        </p:nvSpPr>
        <p:spPr>
          <a:xfrm>
            <a:off x="576143" y="6925508"/>
            <a:ext cx="13478113" cy="263366"/>
          </a:xfrm>
          <a:prstGeom prst="rect">
            <a:avLst/>
          </a:prstGeom>
          <a:noFill/>
          <a:ln>
            <a:noFill/>
          </a:ln>
        </p:spPr>
        <p:txBody>
          <a:bodyPr anchorCtr="0" anchor="t" bIns="0" lIns="0" spcFirstLastPara="1" rIns="0" wrap="square" tIns="0">
            <a:noAutofit/>
          </a:bodyPr>
          <a:lstStyle/>
          <a:p>
            <a:pPr indent="-368300" lvl="0" marL="342900" marR="0" rtl="0" algn="l">
              <a:lnSpc>
                <a:spcPct val="164000"/>
              </a:lnSpc>
              <a:spcBef>
                <a:spcPts val="0"/>
              </a:spcBef>
              <a:spcAft>
                <a:spcPts val="0"/>
              </a:spcAft>
              <a:buClr>
                <a:srgbClr val="3A3630"/>
              </a:buClr>
              <a:buSzPts val="1650"/>
              <a:buFont typeface="Source Sans 3"/>
              <a:buChar char="•"/>
            </a:pPr>
            <a:r>
              <a:rPr lang="en-US" sz="1650">
                <a:solidFill>
                  <a:srgbClr val="3A3630"/>
                </a:solidFill>
                <a:latin typeface="Source Sans 3"/>
                <a:ea typeface="Source Sans 3"/>
                <a:cs typeface="Source Sans 3"/>
                <a:sym typeface="Source Sans 3"/>
              </a:rPr>
              <a:t>p̃: Phân phối xác suất thực nghiệm của dữ liệu thử nghiệm (ví dụ: các truy vấn trong log).</a:t>
            </a:r>
            <a:endParaRPr sz="1650">
              <a:solidFill>
                <a:schemeClr val="dk1"/>
              </a:solidFill>
              <a:latin typeface="Calibri"/>
              <a:ea typeface="Calibri"/>
              <a:cs typeface="Calibri"/>
              <a:sym typeface="Calibri"/>
            </a:endParaRPr>
          </a:p>
        </p:txBody>
      </p:sp>
      <p:sp>
        <p:nvSpPr>
          <p:cNvPr id="216" name="Google Shape;216;p20"/>
          <p:cNvSpPr/>
          <p:nvPr/>
        </p:nvSpPr>
        <p:spPr>
          <a:xfrm>
            <a:off x="576143" y="7246382"/>
            <a:ext cx="13478113" cy="263366"/>
          </a:xfrm>
          <a:prstGeom prst="rect">
            <a:avLst/>
          </a:prstGeom>
          <a:noFill/>
          <a:ln>
            <a:noFill/>
          </a:ln>
        </p:spPr>
        <p:txBody>
          <a:bodyPr anchorCtr="0" anchor="t" bIns="0" lIns="0" spcFirstLastPara="1" rIns="0" wrap="square" tIns="0">
            <a:noAutofit/>
          </a:bodyPr>
          <a:lstStyle/>
          <a:p>
            <a:pPr indent="-368300" lvl="0" marL="342900" marR="0" rtl="0" algn="l">
              <a:lnSpc>
                <a:spcPct val="164000"/>
              </a:lnSpc>
              <a:spcBef>
                <a:spcPts val="0"/>
              </a:spcBef>
              <a:spcAft>
                <a:spcPts val="0"/>
              </a:spcAft>
              <a:buClr>
                <a:srgbClr val="3A3630"/>
              </a:buClr>
              <a:buSzPts val="1650"/>
              <a:buFont typeface="Source Sans 3"/>
              <a:buChar char="•"/>
            </a:pPr>
            <a:r>
              <a:rPr lang="en-US" sz="1650">
                <a:solidFill>
                  <a:srgbClr val="3A3630"/>
                </a:solidFill>
                <a:latin typeface="Source Sans 3"/>
                <a:ea typeface="Source Sans 3"/>
                <a:cs typeface="Source Sans 3"/>
                <a:sym typeface="Source Sans 3"/>
              </a:rPr>
              <a:t>q: Phân phối xác suất mà mô hình ngôn ngữ (LM) gán cho dữ liệu đó.</a:t>
            </a:r>
            <a:endParaRPr sz="16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1"/>
          <p:cNvSpPr/>
          <p:nvPr/>
        </p:nvSpPr>
        <p:spPr>
          <a:xfrm>
            <a:off x="622102" y="625673"/>
            <a:ext cx="4572953" cy="41814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2600"/>
              <a:buFont typeface="Lora"/>
              <a:buNone/>
            </a:pPr>
            <a:r>
              <a:rPr lang="en-US" sz="2600">
                <a:solidFill>
                  <a:srgbClr val="38512F"/>
                </a:solidFill>
                <a:latin typeface="Lora"/>
                <a:ea typeface="Lora"/>
                <a:cs typeface="Lora"/>
                <a:sym typeface="Lora"/>
              </a:rPr>
              <a:t>Kết Quả Phân Tích Perplexity</a:t>
            </a:r>
            <a:endParaRPr sz="2600">
              <a:solidFill>
                <a:schemeClr val="dk1"/>
              </a:solidFill>
              <a:latin typeface="Calibri"/>
              <a:ea typeface="Calibri"/>
              <a:cs typeface="Calibri"/>
              <a:sym typeface="Calibri"/>
            </a:endParaRPr>
          </a:p>
        </p:txBody>
      </p:sp>
      <p:sp>
        <p:nvSpPr>
          <p:cNvPr id="223" name="Google Shape;223;p21"/>
          <p:cNvSpPr/>
          <p:nvPr/>
        </p:nvSpPr>
        <p:spPr>
          <a:xfrm>
            <a:off x="622102" y="1114901"/>
            <a:ext cx="2828330" cy="31373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8512F"/>
              </a:buClr>
              <a:buSzPts val="1950"/>
              <a:buFont typeface="Lora"/>
              <a:buNone/>
            </a:pPr>
            <a:r>
              <a:rPr lang="en-US" sz="1950">
                <a:solidFill>
                  <a:srgbClr val="38512F"/>
                </a:solidFill>
                <a:latin typeface="Lora"/>
                <a:ea typeface="Lora"/>
                <a:cs typeface="Lora"/>
                <a:sym typeface="Lora"/>
              </a:rPr>
              <a:t>Kết Quả Chính (Figure 1)</a:t>
            </a:r>
            <a:endParaRPr sz="1950">
              <a:solidFill>
                <a:schemeClr val="dk1"/>
              </a:solidFill>
              <a:latin typeface="Calibri"/>
              <a:ea typeface="Calibri"/>
              <a:cs typeface="Calibri"/>
              <a:sym typeface="Calibri"/>
            </a:endParaRPr>
          </a:p>
        </p:txBody>
      </p:sp>
      <p:sp>
        <p:nvSpPr>
          <p:cNvPr id="224" name="Google Shape;224;p21"/>
          <p:cNvSpPr/>
          <p:nvPr/>
        </p:nvSpPr>
        <p:spPr>
          <a:xfrm>
            <a:off x="622102" y="1499711"/>
            <a:ext cx="6253348" cy="31373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8512F"/>
              </a:buClr>
              <a:buSzPts val="1950"/>
              <a:buFont typeface="Lora"/>
              <a:buNone/>
            </a:pPr>
            <a:r>
              <a:rPr lang="en-US" sz="2150">
                <a:solidFill>
                  <a:srgbClr val="38512F"/>
                </a:solidFill>
                <a:latin typeface="Lora"/>
                <a:ea typeface="Lora"/>
                <a:cs typeface="Lora"/>
                <a:sym typeface="Lora"/>
              </a:rPr>
              <a:t>Phân Tích Kết Quả (Tập Trung Vào Order 3 - Trigram)</a:t>
            </a:r>
            <a:endParaRPr sz="2150">
              <a:solidFill>
                <a:schemeClr val="dk1"/>
              </a:solidFill>
              <a:latin typeface="Calibri"/>
              <a:ea typeface="Calibri"/>
              <a:cs typeface="Calibri"/>
              <a:sym typeface="Calibri"/>
            </a:endParaRPr>
          </a:p>
        </p:txBody>
      </p:sp>
      <p:sp>
        <p:nvSpPr>
          <p:cNvPr id="225" name="Google Shape;225;p21"/>
          <p:cNvSpPr/>
          <p:nvPr/>
        </p:nvSpPr>
        <p:spPr>
          <a:xfrm>
            <a:off x="673661" y="1855216"/>
            <a:ext cx="6604278" cy="1053227"/>
          </a:xfrm>
          <a:prstGeom prst="roundRect">
            <a:avLst>
              <a:gd fmla="val 10418" name="adj"/>
            </a:avLst>
          </a:prstGeom>
          <a:solidFill>
            <a:srgbClr val="FEF5E7"/>
          </a:solidFill>
          <a:ln cap="flat" cmpd="sng" w="22850">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26" name="Google Shape;226;p21"/>
          <p:cNvSpPr/>
          <p:nvPr/>
        </p:nvSpPr>
        <p:spPr>
          <a:xfrm>
            <a:off x="650801" y="1855216"/>
            <a:ext cx="91440" cy="1053227"/>
          </a:xfrm>
          <a:prstGeom prst="roundRect">
            <a:avLst>
              <a:gd fmla="val 29160"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27" name="Google Shape;227;p21"/>
          <p:cNvSpPr/>
          <p:nvPr/>
        </p:nvSpPr>
        <p:spPr>
          <a:xfrm>
            <a:off x="942753" y="2055725"/>
            <a:ext cx="2828400" cy="261300"/>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3A3630"/>
              </a:buClr>
              <a:buSzPts val="1600"/>
              <a:buFont typeface="Lora"/>
              <a:buNone/>
            </a:pPr>
            <a:r>
              <a:rPr lang="en-US" sz="1800">
                <a:solidFill>
                  <a:srgbClr val="3A3630"/>
                </a:solidFill>
                <a:latin typeface="Lora"/>
                <a:ea typeface="Lora"/>
                <a:cs typeface="Lora"/>
                <a:sym typeface="Lora"/>
              </a:rPr>
              <a:t>Query LM (PPL = 534)</a:t>
            </a:r>
            <a:endParaRPr sz="1800">
              <a:solidFill>
                <a:schemeClr val="dk1"/>
              </a:solidFill>
              <a:latin typeface="Calibri"/>
              <a:ea typeface="Calibri"/>
              <a:cs typeface="Calibri"/>
              <a:sym typeface="Calibri"/>
            </a:endParaRPr>
          </a:p>
        </p:txBody>
      </p:sp>
      <p:sp>
        <p:nvSpPr>
          <p:cNvPr id="228" name="Google Shape;228;p21"/>
          <p:cNvSpPr/>
          <p:nvPr/>
        </p:nvSpPr>
        <p:spPr>
          <a:xfrm>
            <a:off x="942742" y="2423620"/>
            <a:ext cx="6134695" cy="284321"/>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3A3630"/>
              </a:buClr>
              <a:buSzPts val="1350"/>
              <a:buFont typeface="Source Sans 3"/>
              <a:buNone/>
            </a:pPr>
            <a:r>
              <a:rPr lang="en-US" sz="1550">
                <a:solidFill>
                  <a:srgbClr val="3A3630"/>
                </a:solidFill>
                <a:latin typeface="Source Sans 3"/>
                <a:ea typeface="Source Sans 3"/>
                <a:cs typeface="Source Sans 3"/>
                <a:sym typeface="Source Sans 3"/>
              </a:rPr>
              <a:t>Thấp nhất. Đây là điều dễ hiểu (baseline).</a:t>
            </a:r>
            <a:endParaRPr sz="1550">
              <a:solidFill>
                <a:schemeClr val="dk1"/>
              </a:solidFill>
              <a:latin typeface="Calibri"/>
              <a:ea typeface="Calibri"/>
              <a:cs typeface="Calibri"/>
              <a:sym typeface="Calibri"/>
            </a:endParaRPr>
          </a:p>
        </p:txBody>
      </p:sp>
      <p:sp>
        <p:nvSpPr>
          <p:cNvPr id="229" name="Google Shape;229;p21"/>
          <p:cNvSpPr/>
          <p:nvPr/>
        </p:nvSpPr>
        <p:spPr>
          <a:xfrm>
            <a:off x="673657" y="3026980"/>
            <a:ext cx="6604200" cy="1053300"/>
          </a:xfrm>
          <a:prstGeom prst="roundRect">
            <a:avLst>
              <a:gd fmla="val 10418" name="adj"/>
            </a:avLst>
          </a:prstGeom>
          <a:solidFill>
            <a:srgbClr val="FEF5E7"/>
          </a:solidFill>
          <a:ln cap="flat" cmpd="sng" w="22850">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30" name="Google Shape;230;p21"/>
          <p:cNvSpPr/>
          <p:nvPr/>
        </p:nvSpPr>
        <p:spPr>
          <a:xfrm>
            <a:off x="654910" y="3038930"/>
            <a:ext cx="91440" cy="1053227"/>
          </a:xfrm>
          <a:prstGeom prst="roundRect">
            <a:avLst>
              <a:gd fmla="val 29160"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31" name="Google Shape;231;p21"/>
          <p:cNvSpPr/>
          <p:nvPr/>
        </p:nvSpPr>
        <p:spPr>
          <a:xfrm>
            <a:off x="946850" y="3109788"/>
            <a:ext cx="3129600" cy="261300"/>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3A3630"/>
              </a:buClr>
              <a:buSzPts val="1600"/>
              <a:buFont typeface="Lora"/>
              <a:buNone/>
            </a:pPr>
            <a:r>
              <a:rPr lang="en-US" sz="1800">
                <a:solidFill>
                  <a:srgbClr val="3A3630"/>
                </a:solidFill>
                <a:latin typeface="Lora"/>
                <a:ea typeface="Lora"/>
                <a:cs typeface="Lora"/>
                <a:sym typeface="Lora"/>
              </a:rPr>
              <a:t>Body LM (PPL = 8052)</a:t>
            </a:r>
            <a:endParaRPr sz="1800">
              <a:solidFill>
                <a:schemeClr val="dk1"/>
              </a:solidFill>
              <a:latin typeface="Calibri"/>
              <a:ea typeface="Calibri"/>
              <a:cs typeface="Calibri"/>
              <a:sym typeface="Calibri"/>
            </a:endParaRPr>
          </a:p>
        </p:txBody>
      </p:sp>
      <p:sp>
        <p:nvSpPr>
          <p:cNvPr id="232" name="Google Shape;232;p21"/>
          <p:cNvSpPr/>
          <p:nvPr/>
        </p:nvSpPr>
        <p:spPr>
          <a:xfrm>
            <a:off x="821663" y="3575813"/>
            <a:ext cx="6354000" cy="41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A3630"/>
              </a:buClr>
              <a:buSzPts val="1350"/>
              <a:buFont typeface="Source Sans 3"/>
              <a:buNone/>
            </a:pPr>
            <a:r>
              <a:rPr lang="en-US" sz="1550">
                <a:solidFill>
                  <a:srgbClr val="3A3630"/>
                </a:solidFill>
                <a:latin typeface="Source Sans 3"/>
                <a:ea typeface="Source Sans 3"/>
                <a:cs typeface="Source Sans 3"/>
                <a:sym typeface="Source Sans 3"/>
              </a:rPr>
              <a:t>Cao nhất. Chứng tỏ ngôn ngữ nội dung web rất khác biệt so với ngôn ngữ truy vấn.</a:t>
            </a:r>
            <a:endParaRPr sz="1550">
              <a:solidFill>
                <a:schemeClr val="dk1"/>
              </a:solidFill>
              <a:latin typeface="Calibri"/>
              <a:ea typeface="Calibri"/>
              <a:cs typeface="Calibri"/>
              <a:sym typeface="Calibri"/>
            </a:endParaRPr>
          </a:p>
        </p:txBody>
      </p:sp>
      <p:sp>
        <p:nvSpPr>
          <p:cNvPr id="233" name="Google Shape;233;p21"/>
          <p:cNvSpPr/>
          <p:nvPr/>
        </p:nvSpPr>
        <p:spPr>
          <a:xfrm>
            <a:off x="696521" y="4198718"/>
            <a:ext cx="6604278" cy="1053227"/>
          </a:xfrm>
          <a:prstGeom prst="roundRect">
            <a:avLst>
              <a:gd fmla="val 10418" name="adj"/>
            </a:avLst>
          </a:prstGeom>
          <a:solidFill>
            <a:srgbClr val="FEF5E7"/>
          </a:solidFill>
          <a:ln cap="flat" cmpd="sng" w="22850">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34" name="Google Shape;234;p21"/>
          <p:cNvSpPr/>
          <p:nvPr/>
        </p:nvSpPr>
        <p:spPr>
          <a:xfrm>
            <a:off x="673661" y="4198718"/>
            <a:ext cx="91440" cy="1053227"/>
          </a:xfrm>
          <a:prstGeom prst="roundRect">
            <a:avLst>
              <a:gd fmla="val 29160"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35" name="Google Shape;235;p21"/>
          <p:cNvSpPr/>
          <p:nvPr/>
        </p:nvSpPr>
        <p:spPr>
          <a:xfrm>
            <a:off x="946849" y="4286700"/>
            <a:ext cx="3338700" cy="261300"/>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3A3630"/>
              </a:buClr>
              <a:buSzPts val="1600"/>
              <a:buFont typeface="Lora"/>
              <a:buNone/>
            </a:pPr>
            <a:r>
              <a:rPr lang="en-US" sz="1800">
                <a:solidFill>
                  <a:srgbClr val="3A3630"/>
                </a:solidFill>
                <a:latin typeface="Lora"/>
                <a:ea typeface="Lora"/>
                <a:cs typeface="Lora"/>
                <a:sym typeface="Lora"/>
              </a:rPr>
              <a:t>Anchor LM (PPL = 738)</a:t>
            </a:r>
            <a:endParaRPr sz="1800">
              <a:solidFill>
                <a:schemeClr val="dk1"/>
              </a:solidFill>
              <a:latin typeface="Calibri"/>
              <a:ea typeface="Calibri"/>
              <a:cs typeface="Calibri"/>
              <a:sym typeface="Calibri"/>
            </a:endParaRPr>
          </a:p>
        </p:txBody>
      </p:sp>
      <p:sp>
        <p:nvSpPr>
          <p:cNvPr id="236" name="Google Shape;236;p21"/>
          <p:cNvSpPr/>
          <p:nvPr/>
        </p:nvSpPr>
        <p:spPr>
          <a:xfrm>
            <a:off x="946851" y="4654601"/>
            <a:ext cx="6134695" cy="284321"/>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3A3630"/>
              </a:buClr>
              <a:buSzPts val="1350"/>
              <a:buFont typeface="Source Sans 3"/>
              <a:buNone/>
            </a:pPr>
            <a:r>
              <a:rPr lang="en-US" sz="1550">
                <a:solidFill>
                  <a:srgbClr val="3A3630"/>
                </a:solidFill>
                <a:latin typeface="Source Sans 3"/>
                <a:ea typeface="Source Sans 3"/>
                <a:cs typeface="Source Sans 3"/>
                <a:sym typeface="Source Sans 3"/>
              </a:rPr>
              <a:t>Rất thấp, gần với Query LM.</a:t>
            </a:r>
            <a:endParaRPr sz="1550">
              <a:solidFill>
                <a:schemeClr val="dk1"/>
              </a:solidFill>
              <a:latin typeface="Calibri"/>
              <a:ea typeface="Calibri"/>
              <a:cs typeface="Calibri"/>
              <a:sym typeface="Calibri"/>
            </a:endParaRPr>
          </a:p>
        </p:txBody>
      </p:sp>
      <p:sp>
        <p:nvSpPr>
          <p:cNvPr id="237" name="Google Shape;237;p21"/>
          <p:cNvSpPr/>
          <p:nvPr/>
        </p:nvSpPr>
        <p:spPr>
          <a:xfrm>
            <a:off x="696521" y="5319127"/>
            <a:ext cx="6604278" cy="1053227"/>
          </a:xfrm>
          <a:prstGeom prst="roundRect">
            <a:avLst>
              <a:gd fmla="val 10418" name="adj"/>
            </a:avLst>
          </a:prstGeom>
          <a:solidFill>
            <a:srgbClr val="FEF5E7"/>
          </a:solidFill>
          <a:ln cap="flat" cmpd="sng" w="22850">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38" name="Google Shape;238;p21"/>
          <p:cNvSpPr/>
          <p:nvPr/>
        </p:nvSpPr>
        <p:spPr>
          <a:xfrm>
            <a:off x="673661" y="5319127"/>
            <a:ext cx="91440" cy="1053227"/>
          </a:xfrm>
          <a:prstGeom prst="roundRect">
            <a:avLst>
              <a:gd fmla="val 29160"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39" name="Google Shape;239;p21"/>
          <p:cNvSpPr/>
          <p:nvPr/>
        </p:nvSpPr>
        <p:spPr>
          <a:xfrm>
            <a:off x="965599" y="5519625"/>
            <a:ext cx="3227100" cy="261300"/>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3A3630"/>
              </a:buClr>
              <a:buSzPts val="1600"/>
              <a:buFont typeface="Lora"/>
              <a:buNone/>
            </a:pPr>
            <a:r>
              <a:rPr lang="en-US" sz="1800">
                <a:solidFill>
                  <a:srgbClr val="3A3630"/>
                </a:solidFill>
                <a:latin typeface="Lora"/>
                <a:ea typeface="Lora"/>
                <a:cs typeface="Lora"/>
                <a:sym typeface="Lora"/>
              </a:rPr>
              <a:t>Title LM (PPL = 1242)</a:t>
            </a:r>
            <a:endParaRPr sz="1800">
              <a:solidFill>
                <a:schemeClr val="dk1"/>
              </a:solidFill>
              <a:latin typeface="Calibri"/>
              <a:ea typeface="Calibri"/>
              <a:cs typeface="Calibri"/>
              <a:sym typeface="Calibri"/>
            </a:endParaRPr>
          </a:p>
        </p:txBody>
      </p:sp>
      <p:sp>
        <p:nvSpPr>
          <p:cNvPr id="240" name="Google Shape;240;p21"/>
          <p:cNvSpPr/>
          <p:nvPr/>
        </p:nvSpPr>
        <p:spPr>
          <a:xfrm>
            <a:off x="965602" y="5887531"/>
            <a:ext cx="6134695" cy="284321"/>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3A3630"/>
              </a:buClr>
              <a:buSzPts val="1350"/>
              <a:buFont typeface="Source Sans 3"/>
              <a:buNone/>
            </a:pPr>
            <a:r>
              <a:rPr lang="en-US" sz="1550">
                <a:solidFill>
                  <a:srgbClr val="3A3630"/>
                </a:solidFill>
                <a:latin typeface="Source Sans 3"/>
                <a:ea typeface="Source Sans 3"/>
                <a:cs typeface="Source Sans 3"/>
                <a:sym typeface="Source Sans 3"/>
              </a:rPr>
              <a:t>Cũng rất thấp, thấp hơn đáng kể so với Body.</a:t>
            </a:r>
            <a:endParaRPr sz="1550">
              <a:solidFill>
                <a:schemeClr val="dk1"/>
              </a:solidFill>
              <a:latin typeface="Calibri"/>
              <a:ea typeface="Calibri"/>
              <a:cs typeface="Calibri"/>
              <a:sym typeface="Calibri"/>
            </a:endParaRPr>
          </a:p>
        </p:txBody>
      </p:sp>
      <p:sp>
        <p:nvSpPr>
          <p:cNvPr id="241" name="Google Shape;241;p21"/>
          <p:cNvSpPr/>
          <p:nvPr/>
        </p:nvSpPr>
        <p:spPr>
          <a:xfrm>
            <a:off x="673661" y="6552299"/>
            <a:ext cx="2509480" cy="31373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8512F"/>
              </a:buClr>
              <a:buSzPts val="1950"/>
              <a:buFont typeface="Lora"/>
              <a:buNone/>
            </a:pPr>
            <a:r>
              <a:rPr lang="en-US" sz="1950">
                <a:solidFill>
                  <a:srgbClr val="38512F"/>
                </a:solidFill>
                <a:latin typeface="Lora"/>
                <a:ea typeface="Lora"/>
                <a:cs typeface="Lora"/>
                <a:sym typeface="Lora"/>
              </a:rPr>
              <a:t>Kết Luận:</a:t>
            </a:r>
            <a:endParaRPr sz="1950">
              <a:solidFill>
                <a:schemeClr val="dk1"/>
              </a:solidFill>
              <a:latin typeface="Calibri"/>
              <a:ea typeface="Calibri"/>
              <a:cs typeface="Calibri"/>
              <a:sym typeface="Calibri"/>
            </a:endParaRPr>
          </a:p>
        </p:txBody>
      </p:sp>
      <p:sp>
        <p:nvSpPr>
          <p:cNvPr id="242" name="Google Shape;242;p21"/>
          <p:cNvSpPr/>
          <p:nvPr/>
        </p:nvSpPr>
        <p:spPr>
          <a:xfrm>
            <a:off x="649936" y="7022187"/>
            <a:ext cx="13386197" cy="284321"/>
          </a:xfrm>
          <a:prstGeom prst="rect">
            <a:avLst/>
          </a:prstGeom>
          <a:noFill/>
          <a:ln>
            <a:noFill/>
          </a:ln>
        </p:spPr>
        <p:txBody>
          <a:bodyPr anchorCtr="0" anchor="t" bIns="0" lIns="0" spcFirstLastPara="1" rIns="0" wrap="square" tIns="0">
            <a:noAutofit/>
          </a:bodyPr>
          <a:lstStyle/>
          <a:p>
            <a:pPr indent="-355600" lvl="0" marL="342900" marR="0" rtl="0" algn="l">
              <a:lnSpc>
                <a:spcPct val="162962"/>
              </a:lnSpc>
              <a:spcBef>
                <a:spcPts val="0"/>
              </a:spcBef>
              <a:spcAft>
                <a:spcPts val="0"/>
              </a:spcAft>
              <a:buClr>
                <a:srgbClr val="3A3630"/>
              </a:buClr>
              <a:buSzPts val="1550"/>
              <a:buFont typeface="Calibri"/>
              <a:buAutoNum type="arabicPeriod"/>
            </a:pPr>
            <a:r>
              <a:rPr b="1" lang="en-US" sz="1550">
                <a:solidFill>
                  <a:srgbClr val="3A3630"/>
                </a:solidFill>
                <a:latin typeface="Source Sans 3"/>
                <a:ea typeface="Source Sans 3"/>
                <a:cs typeface="Source Sans 3"/>
                <a:sym typeface="Source Sans 3"/>
              </a:rPr>
              <a:t>Khẳng định định lượng:</a:t>
            </a:r>
            <a:r>
              <a:rPr lang="en-US" sz="1550">
                <a:solidFill>
                  <a:srgbClr val="3A3630"/>
                </a:solidFill>
                <a:latin typeface="Source Sans 3"/>
                <a:ea typeface="Source Sans 3"/>
                <a:cs typeface="Source Sans 3"/>
                <a:sym typeface="Source Sans 3"/>
              </a:rPr>
              <a:t> Phân tích Perplexity đã cung cấp bằng chứng định lượng cho quan sát ban đầu.</a:t>
            </a:r>
            <a:endParaRPr sz="1550">
              <a:solidFill>
                <a:schemeClr val="dk1"/>
              </a:solidFill>
              <a:latin typeface="Calibri"/>
              <a:ea typeface="Calibri"/>
              <a:cs typeface="Calibri"/>
              <a:sym typeface="Calibri"/>
            </a:endParaRPr>
          </a:p>
        </p:txBody>
      </p:sp>
      <p:sp>
        <p:nvSpPr>
          <p:cNvPr id="243" name="Google Shape;243;p21"/>
          <p:cNvSpPr/>
          <p:nvPr/>
        </p:nvSpPr>
        <p:spPr>
          <a:xfrm>
            <a:off x="677770" y="7363628"/>
            <a:ext cx="13386197" cy="284321"/>
          </a:xfrm>
          <a:prstGeom prst="rect">
            <a:avLst/>
          </a:prstGeom>
          <a:noFill/>
          <a:ln>
            <a:noFill/>
          </a:ln>
        </p:spPr>
        <p:txBody>
          <a:bodyPr anchorCtr="0" anchor="t" bIns="0" lIns="0" spcFirstLastPara="1" rIns="0" wrap="square" tIns="0">
            <a:noAutofit/>
          </a:bodyPr>
          <a:lstStyle/>
          <a:p>
            <a:pPr indent="-355600" lvl="0" marL="342900" marR="0" rtl="0" algn="l">
              <a:lnSpc>
                <a:spcPct val="162962"/>
              </a:lnSpc>
              <a:spcBef>
                <a:spcPts val="0"/>
              </a:spcBef>
              <a:spcAft>
                <a:spcPts val="0"/>
              </a:spcAft>
              <a:buClr>
                <a:srgbClr val="3A3630"/>
              </a:buClr>
              <a:buSzPts val="1550"/>
              <a:buFont typeface="Calibri"/>
              <a:buAutoNum type="arabicPeriod" startAt="2"/>
            </a:pPr>
            <a:r>
              <a:rPr b="1" lang="en-US" sz="1550">
                <a:solidFill>
                  <a:srgbClr val="3A3630"/>
                </a:solidFill>
                <a:latin typeface="Source Sans 3"/>
                <a:ea typeface="Source Sans 3"/>
                <a:cs typeface="Source Sans 3"/>
                <a:sym typeface="Source Sans 3"/>
              </a:rPr>
              <a:t>Sự tương đồng:</a:t>
            </a:r>
            <a:r>
              <a:rPr lang="en-US" sz="1550">
                <a:solidFill>
                  <a:srgbClr val="3A3630"/>
                </a:solidFill>
                <a:latin typeface="Source Sans 3"/>
                <a:ea typeface="Source Sans 3"/>
                <a:cs typeface="Source Sans 3"/>
                <a:sym typeface="Source Sans 3"/>
              </a:rPr>
              <a:t> Ngôn ngữ Truy vấn (Query) được soạn thảo theo cách giống nhất với Văn bản neo (Anchor) và Tiêu đề (Title).</a:t>
            </a:r>
            <a:endParaRPr sz="1550">
              <a:solidFill>
                <a:schemeClr val="dk1"/>
              </a:solidFill>
              <a:latin typeface="Calibri"/>
              <a:ea typeface="Calibri"/>
              <a:cs typeface="Calibri"/>
              <a:sym typeface="Calibri"/>
            </a:endParaRPr>
          </a:p>
        </p:txBody>
      </p:sp>
      <p:sp>
        <p:nvSpPr>
          <p:cNvPr id="244" name="Google Shape;244;p21"/>
          <p:cNvSpPr/>
          <p:nvPr/>
        </p:nvSpPr>
        <p:spPr>
          <a:xfrm>
            <a:off x="649936" y="7715131"/>
            <a:ext cx="13386197" cy="284321"/>
          </a:xfrm>
          <a:prstGeom prst="rect">
            <a:avLst/>
          </a:prstGeom>
          <a:noFill/>
          <a:ln>
            <a:noFill/>
          </a:ln>
        </p:spPr>
        <p:txBody>
          <a:bodyPr anchorCtr="0" anchor="t" bIns="0" lIns="0" spcFirstLastPara="1" rIns="0" wrap="square" tIns="0">
            <a:noAutofit/>
          </a:bodyPr>
          <a:lstStyle/>
          <a:p>
            <a:pPr indent="-355600" lvl="0" marL="342900" marR="0" rtl="0" algn="l">
              <a:lnSpc>
                <a:spcPct val="162962"/>
              </a:lnSpc>
              <a:spcBef>
                <a:spcPts val="0"/>
              </a:spcBef>
              <a:spcAft>
                <a:spcPts val="0"/>
              </a:spcAft>
              <a:buClr>
                <a:srgbClr val="3A3630"/>
              </a:buClr>
              <a:buSzPts val="1550"/>
              <a:buFont typeface="Calibri"/>
              <a:buAutoNum type="arabicPeriod" startAt="3"/>
            </a:pPr>
            <a:r>
              <a:rPr b="1" lang="en-US" sz="1550">
                <a:solidFill>
                  <a:srgbClr val="3A3630"/>
                </a:solidFill>
                <a:latin typeface="Source Sans 3"/>
                <a:ea typeface="Source Sans 3"/>
                <a:cs typeface="Source Sans 3"/>
                <a:sym typeface="Source Sans 3"/>
              </a:rPr>
              <a:t>Lý do:</a:t>
            </a:r>
            <a:r>
              <a:rPr lang="en-US" sz="1550">
                <a:solidFill>
                  <a:srgbClr val="3A3630"/>
                </a:solidFill>
                <a:latin typeface="Source Sans 3"/>
                <a:ea typeface="Source Sans 3"/>
                <a:cs typeface="Source Sans 3"/>
                <a:sym typeface="Source Sans 3"/>
              </a:rPr>
              <a:t> Cả ba đều là "các biểu diễn súc tích" (succinct representations), trong khi Body chứa các câu đầy đủ ngữ pháp.</a:t>
            </a:r>
            <a:endParaRPr sz="1550">
              <a:solidFill>
                <a:schemeClr val="dk1"/>
              </a:solidFill>
              <a:latin typeface="Calibri"/>
              <a:ea typeface="Calibri"/>
              <a:cs typeface="Calibri"/>
              <a:sym typeface="Calibri"/>
            </a:endParaRPr>
          </a:p>
        </p:txBody>
      </p:sp>
      <p:pic>
        <p:nvPicPr>
          <p:cNvPr id="245" name="Google Shape;245;p21"/>
          <p:cNvPicPr preferRelativeResize="0"/>
          <p:nvPr/>
        </p:nvPicPr>
        <p:blipFill rotWithShape="1">
          <a:blip r:embed="rId3">
            <a:alphaModFix/>
          </a:blip>
          <a:srcRect b="0" l="0" r="0" t="0"/>
          <a:stretch/>
        </p:blipFill>
        <p:spPr>
          <a:xfrm>
            <a:off x="8059270" y="1111529"/>
            <a:ext cx="5591573" cy="4517138"/>
          </a:xfrm>
          <a:prstGeom prst="rect">
            <a:avLst/>
          </a:prstGeom>
          <a:noFill/>
          <a:ln>
            <a:noFill/>
          </a:ln>
        </p:spPr>
      </p:pic>
      <p:sp>
        <p:nvSpPr>
          <p:cNvPr id="246" name="Google Shape;246;p21"/>
          <p:cNvSpPr txBox="1"/>
          <p:nvPr/>
        </p:nvSpPr>
        <p:spPr>
          <a:xfrm>
            <a:off x="8107100" y="5990675"/>
            <a:ext cx="5831100" cy="6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latin typeface="Source Sans 3"/>
                <a:ea typeface="Source Sans 3"/>
                <a:cs typeface="Source Sans 3"/>
                <a:sym typeface="Source Sans 3"/>
              </a:rPr>
              <a:t>Biểu đồ 1:  So sánh độ bối rối (perplexity) của từ trong truy vấn với các bậc (order) khác nhau của các mô hình ngôn ngữ có kích thước tương tự, bắt nguồn từ các nguồn dữ liệu khác nhau</a:t>
            </a:r>
            <a:endParaRPr sz="1600">
              <a:latin typeface="Source Sans 3"/>
              <a:ea typeface="Source Sans 3"/>
              <a:cs typeface="Source Sans 3"/>
              <a:sym typeface="Source Sans 3"/>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2"/>
          <p:cNvSpPr/>
          <p:nvPr/>
        </p:nvSpPr>
        <p:spPr>
          <a:xfrm>
            <a:off x="622102" y="625673"/>
            <a:ext cx="4572953" cy="41814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2600"/>
              <a:buFont typeface="Lora"/>
              <a:buNone/>
            </a:pPr>
            <a:r>
              <a:rPr lang="en-US" sz="2600">
                <a:solidFill>
                  <a:srgbClr val="38512F"/>
                </a:solidFill>
                <a:latin typeface="Lora"/>
                <a:ea typeface="Lora"/>
                <a:cs typeface="Lora"/>
                <a:sym typeface="Lora"/>
              </a:rPr>
              <a:t>Kết Quả Phân Tích Perplexity</a:t>
            </a:r>
            <a:endParaRPr sz="2600">
              <a:solidFill>
                <a:schemeClr val="dk1"/>
              </a:solidFill>
              <a:latin typeface="Calibri"/>
              <a:ea typeface="Calibri"/>
              <a:cs typeface="Calibri"/>
              <a:sym typeface="Calibri"/>
            </a:endParaRPr>
          </a:p>
        </p:txBody>
      </p:sp>
      <p:sp>
        <p:nvSpPr>
          <p:cNvPr id="253" name="Google Shape;253;p22"/>
          <p:cNvSpPr/>
          <p:nvPr/>
        </p:nvSpPr>
        <p:spPr>
          <a:xfrm>
            <a:off x="622102" y="1114901"/>
            <a:ext cx="2828330" cy="31373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8512F"/>
              </a:buClr>
              <a:buSzPts val="1950"/>
              <a:buFont typeface="Lora"/>
              <a:buNone/>
            </a:pPr>
            <a:r>
              <a:rPr lang="en-US" sz="1950">
                <a:solidFill>
                  <a:srgbClr val="38512F"/>
                </a:solidFill>
                <a:latin typeface="Lora"/>
                <a:ea typeface="Lora"/>
                <a:cs typeface="Lora"/>
                <a:sym typeface="Lora"/>
              </a:rPr>
              <a:t>Kết Quả Chính (Figure 1)</a:t>
            </a:r>
            <a:endParaRPr sz="1950">
              <a:solidFill>
                <a:schemeClr val="dk1"/>
              </a:solidFill>
              <a:latin typeface="Calibri"/>
              <a:ea typeface="Calibri"/>
              <a:cs typeface="Calibri"/>
              <a:sym typeface="Calibri"/>
            </a:endParaRPr>
          </a:p>
        </p:txBody>
      </p:sp>
      <p:sp>
        <p:nvSpPr>
          <p:cNvPr id="254" name="Google Shape;254;p22"/>
          <p:cNvSpPr/>
          <p:nvPr/>
        </p:nvSpPr>
        <p:spPr>
          <a:xfrm>
            <a:off x="622102" y="1645529"/>
            <a:ext cx="7211616" cy="31373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8512F"/>
              </a:buClr>
              <a:buSzPts val="1950"/>
              <a:buFont typeface="Lora"/>
              <a:buNone/>
            </a:pPr>
            <a:r>
              <a:rPr lang="en-US" sz="1950">
                <a:solidFill>
                  <a:srgbClr val="38512F"/>
                </a:solidFill>
                <a:latin typeface="Lora"/>
                <a:ea typeface="Lora"/>
                <a:cs typeface="Lora"/>
                <a:sym typeface="Lora"/>
              </a:rPr>
              <a:t>Kết Quả Phụ (Figure 2): Perplexity vs. Kích Thước (Anchor LM)</a:t>
            </a:r>
            <a:endParaRPr sz="1950">
              <a:solidFill>
                <a:schemeClr val="dk1"/>
              </a:solidFill>
              <a:latin typeface="Calibri"/>
              <a:ea typeface="Calibri"/>
              <a:cs typeface="Calibri"/>
              <a:sym typeface="Calibri"/>
            </a:endParaRPr>
          </a:p>
        </p:txBody>
      </p:sp>
      <p:sp>
        <p:nvSpPr>
          <p:cNvPr id="255" name="Google Shape;255;p22"/>
          <p:cNvSpPr/>
          <p:nvPr/>
        </p:nvSpPr>
        <p:spPr>
          <a:xfrm>
            <a:off x="622102" y="2225840"/>
            <a:ext cx="6469733" cy="568643"/>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3A3630"/>
              </a:buClr>
              <a:buSzPts val="1600"/>
              <a:buFont typeface="Source Sans 3"/>
              <a:buNone/>
            </a:pPr>
            <a:r>
              <a:rPr b="1" lang="en-US" sz="1600">
                <a:solidFill>
                  <a:srgbClr val="3A3630"/>
                </a:solidFill>
                <a:latin typeface="Source Sans 3"/>
                <a:ea typeface="Source Sans 3"/>
                <a:cs typeface="Source Sans 3"/>
                <a:sym typeface="Source Sans 3"/>
              </a:rPr>
              <a:t>Phân tích (Figure 2):</a:t>
            </a:r>
            <a:r>
              <a:rPr lang="en-US" sz="1600">
                <a:solidFill>
                  <a:srgbClr val="3A3630"/>
                </a:solidFill>
                <a:latin typeface="Source Sans 3"/>
                <a:ea typeface="Source Sans 3"/>
                <a:cs typeface="Source Sans 3"/>
                <a:sym typeface="Source Sans 3"/>
              </a:rPr>
              <a:t> Việc tăng kích thước mô hình (thêm dữ liệu) luôn luôn giảm Perplexity (cải thiện mô hình). Phát hiện quan trọng: Đường cong chưa có dấu hiệu bão hòa (saturate), ngay cả ở quy mô hàng tỷ N-gram.</a:t>
            </a:r>
            <a:endParaRPr sz="1600">
              <a:solidFill>
                <a:schemeClr val="dk1"/>
              </a:solidFill>
              <a:latin typeface="Calibri"/>
              <a:ea typeface="Calibri"/>
              <a:cs typeface="Calibri"/>
              <a:sym typeface="Calibri"/>
            </a:endParaRPr>
          </a:p>
        </p:txBody>
      </p:sp>
      <p:pic>
        <p:nvPicPr>
          <p:cNvPr id="256" name="Google Shape;256;p22"/>
          <p:cNvPicPr preferRelativeResize="0"/>
          <p:nvPr/>
        </p:nvPicPr>
        <p:blipFill rotWithShape="1">
          <a:blip r:embed="rId3">
            <a:alphaModFix/>
          </a:blip>
          <a:srcRect b="0" l="0" r="0" t="0"/>
          <a:stretch/>
        </p:blipFill>
        <p:spPr>
          <a:xfrm>
            <a:off x="8982985" y="971804"/>
            <a:ext cx="5382169" cy="5118212"/>
          </a:xfrm>
          <a:prstGeom prst="rect">
            <a:avLst/>
          </a:prstGeom>
          <a:noFill/>
          <a:ln>
            <a:noFill/>
          </a:ln>
        </p:spPr>
      </p:pic>
      <p:sp>
        <p:nvSpPr>
          <p:cNvPr id="257" name="Google Shape;257;p22"/>
          <p:cNvSpPr/>
          <p:nvPr/>
        </p:nvSpPr>
        <p:spPr>
          <a:xfrm>
            <a:off x="526715" y="4027656"/>
            <a:ext cx="8187000" cy="3416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350"/>
              <a:buFont typeface="Source Sans 3"/>
              <a:buNone/>
            </a:pPr>
            <a:r>
              <a:rPr b="1" i="0" lang="en-US" sz="1550" u="none" cap="none" strike="noStrike">
                <a:solidFill>
                  <a:schemeClr val="dk1"/>
                </a:solidFill>
                <a:latin typeface="Source Sans 3"/>
                <a:ea typeface="Source Sans 3"/>
                <a:cs typeface="Source Sans 3"/>
                <a:sym typeface="Source Sans 3"/>
              </a:rPr>
              <a:t>1.</a:t>
            </a:r>
            <a:r>
              <a:rPr b="1" i="0" lang="en-US" sz="1550" u="none" cap="none" strike="noStrike">
                <a:solidFill>
                  <a:schemeClr val="dk1"/>
                </a:solidFill>
                <a:latin typeface="Source Sans 3"/>
                <a:ea typeface="Source Sans 3"/>
                <a:cs typeface="Source Sans 3"/>
                <a:sym typeface="Source Sans 3"/>
              </a:rPr>
              <a:t>     </a:t>
            </a:r>
            <a:r>
              <a:rPr b="1" i="0" lang="en-US" sz="1550" u="none" cap="none" strike="noStrike">
                <a:solidFill>
                  <a:schemeClr val="dk1"/>
                </a:solidFill>
                <a:latin typeface="Source Sans 3"/>
                <a:ea typeface="Source Sans 3"/>
                <a:cs typeface="Source Sans 3"/>
                <a:sym typeface="Source Sans 3"/>
              </a:rPr>
              <a:t>Bậc mô hình (Order) cao hơn giúp dự đoán tốt hơn:</a:t>
            </a:r>
            <a:endParaRPr i="0" sz="1550" u="none" cap="none" strike="noStrike">
              <a:solidFill>
                <a:schemeClr val="dk1"/>
              </a:solidFill>
              <a:latin typeface="Source Sans 3"/>
              <a:ea typeface="Source Sans 3"/>
              <a:cs typeface="Source Sans 3"/>
              <a:sym typeface="Source Sans 3"/>
            </a:endParaRPr>
          </a:p>
          <a:p>
            <a:pPr indent="-98425" lvl="1" marL="457200" marR="0" rtl="0" algn="l">
              <a:lnSpc>
                <a:spcPct val="100000"/>
              </a:lnSpc>
              <a:spcBef>
                <a:spcPts val="0"/>
              </a:spcBef>
              <a:spcAft>
                <a:spcPts val="0"/>
              </a:spcAft>
              <a:buClr>
                <a:schemeClr val="dk1"/>
              </a:buClr>
              <a:buSzPts val="1550"/>
              <a:buFont typeface="Source Sans 3"/>
              <a:buChar char="•"/>
            </a:pPr>
            <a:r>
              <a:rPr i="0" lang="en-US" sz="1550" u="none" cap="none" strike="noStrike">
                <a:solidFill>
                  <a:schemeClr val="dk1"/>
                </a:solidFill>
                <a:latin typeface="Source Sans 3"/>
                <a:ea typeface="Source Sans 3"/>
                <a:cs typeface="Source Sans 3"/>
                <a:sym typeface="Source Sans 3"/>
              </a:rPr>
              <a:t>Ở bất kỳ kích thước mô hình nào, Perplexity của Order 4 &lt; Order 3 &lt; Order 2 &lt; Order 1.</a:t>
            </a:r>
            <a:endParaRPr sz="1600">
              <a:latin typeface="Source Sans 3"/>
              <a:ea typeface="Source Sans 3"/>
              <a:cs typeface="Source Sans 3"/>
              <a:sym typeface="Source Sans 3"/>
            </a:endParaRPr>
          </a:p>
          <a:p>
            <a:pPr indent="-98425" lvl="1" marL="457200" marR="0" rtl="0" algn="l">
              <a:lnSpc>
                <a:spcPct val="100000"/>
              </a:lnSpc>
              <a:spcBef>
                <a:spcPts val="0"/>
              </a:spcBef>
              <a:spcAft>
                <a:spcPts val="0"/>
              </a:spcAft>
              <a:buClr>
                <a:schemeClr val="dk1"/>
              </a:buClr>
              <a:buSzPts val="1550"/>
              <a:buFont typeface="Source Sans 3"/>
              <a:buChar char="•"/>
            </a:pPr>
            <a:r>
              <a:rPr i="0" lang="en-US" sz="1550" u="none" cap="none" strike="noStrike">
                <a:solidFill>
                  <a:schemeClr val="dk1"/>
                </a:solidFill>
                <a:latin typeface="Source Sans 3"/>
                <a:ea typeface="Source Sans 3"/>
                <a:cs typeface="Source Sans 3"/>
                <a:sym typeface="Source Sans 3"/>
              </a:rPr>
              <a:t>Ví dụ, mô hình Bậc 3 (Trigram) và Bậc 4 (Four-gram) có độ bối rối thấp hơn đáng kể so với Bậc 2 (Bigram).</a:t>
            </a:r>
            <a:endParaRPr sz="1600">
              <a:latin typeface="Source Sans 3"/>
              <a:ea typeface="Source Sans 3"/>
              <a:cs typeface="Source Sans 3"/>
              <a:sym typeface="Source Sans 3"/>
            </a:endParaRPr>
          </a:p>
          <a:p>
            <a:pPr indent="-98425" lvl="1" marL="457200" marR="0" rtl="0" algn="l">
              <a:lnSpc>
                <a:spcPct val="100000"/>
              </a:lnSpc>
              <a:spcBef>
                <a:spcPts val="0"/>
              </a:spcBef>
              <a:spcAft>
                <a:spcPts val="0"/>
              </a:spcAft>
              <a:buClr>
                <a:schemeClr val="dk1"/>
              </a:buClr>
              <a:buSzPts val="1550"/>
              <a:buFont typeface="Source Sans 3"/>
              <a:buChar char="•"/>
            </a:pPr>
            <a:r>
              <a:rPr b="1" i="0" lang="en-US" sz="1550" u="none" cap="none" strike="noStrike">
                <a:solidFill>
                  <a:schemeClr val="dk1"/>
                </a:solidFill>
                <a:latin typeface="Source Sans 3"/>
                <a:ea typeface="Source Sans 3"/>
                <a:cs typeface="Source Sans 3"/>
                <a:sym typeface="Source Sans 3"/>
              </a:rPr>
              <a:t>Ý nghĩa:</a:t>
            </a:r>
            <a:r>
              <a:rPr i="0" lang="en-US" sz="1550" u="none" cap="none" strike="noStrike">
                <a:solidFill>
                  <a:schemeClr val="dk1"/>
                </a:solidFill>
                <a:latin typeface="Source Sans 3"/>
                <a:ea typeface="Source Sans 3"/>
                <a:cs typeface="Source Sans 3"/>
                <a:sym typeface="Source Sans 3"/>
              </a:rPr>
              <a:t> Các mô hình phức tạp hơn (như Trigram) nắm bắt cấu trúc và thứ tự từ tốt hơn, giúp dự đoán ngôn ngữ truy vấn chính xác hơn.</a:t>
            </a:r>
            <a:endParaRPr sz="1600">
              <a:latin typeface="Source Sans 3"/>
              <a:ea typeface="Source Sans 3"/>
              <a:cs typeface="Source Sans 3"/>
              <a:sym typeface="Source Sans 3"/>
            </a:endParaRPr>
          </a:p>
          <a:p>
            <a:pPr indent="0" lvl="0" marL="0" marR="0" rtl="0" algn="l">
              <a:lnSpc>
                <a:spcPct val="100000"/>
              </a:lnSpc>
              <a:spcBef>
                <a:spcPts val="0"/>
              </a:spcBef>
              <a:spcAft>
                <a:spcPts val="0"/>
              </a:spcAft>
              <a:buNone/>
            </a:pPr>
            <a:r>
              <a:rPr b="1" lang="en-US" sz="1550">
                <a:solidFill>
                  <a:schemeClr val="dk1"/>
                </a:solidFill>
                <a:latin typeface="Source Sans 3"/>
                <a:ea typeface="Source Sans 3"/>
                <a:cs typeface="Source Sans 3"/>
                <a:sym typeface="Source Sans 3"/>
              </a:rPr>
              <a:t>2.</a:t>
            </a:r>
            <a:r>
              <a:rPr b="1" i="0" lang="en-US" sz="1550" u="none" cap="none" strike="noStrike">
                <a:solidFill>
                  <a:schemeClr val="dk1"/>
                </a:solidFill>
                <a:latin typeface="Source Sans 3"/>
                <a:ea typeface="Source Sans 3"/>
                <a:cs typeface="Source Sans 3"/>
                <a:sym typeface="Source Sans 3"/>
              </a:rPr>
              <a:t>    Tăng kích thước mô hình (Size) luôn cải thiện độ chính xác:</a:t>
            </a:r>
            <a:endParaRPr i="0" sz="1550" u="none" cap="none" strike="noStrike">
              <a:solidFill>
                <a:schemeClr val="dk1"/>
              </a:solidFill>
              <a:latin typeface="Source Sans 3"/>
              <a:ea typeface="Source Sans 3"/>
              <a:cs typeface="Source Sans 3"/>
              <a:sym typeface="Source Sans 3"/>
            </a:endParaRPr>
          </a:p>
          <a:p>
            <a:pPr indent="-98425" lvl="1" marL="457200" marR="0" rtl="0" algn="l">
              <a:lnSpc>
                <a:spcPct val="100000"/>
              </a:lnSpc>
              <a:spcBef>
                <a:spcPts val="0"/>
              </a:spcBef>
              <a:spcAft>
                <a:spcPts val="0"/>
              </a:spcAft>
              <a:buClr>
                <a:schemeClr val="dk1"/>
              </a:buClr>
              <a:buSzPts val="1550"/>
              <a:buFont typeface="Source Sans 3"/>
              <a:buChar char="•"/>
            </a:pPr>
            <a:r>
              <a:rPr i="0" lang="en-US" sz="1550" u="none" cap="none" strike="noStrike">
                <a:solidFill>
                  <a:schemeClr val="dk1"/>
                </a:solidFill>
                <a:latin typeface="Source Sans 3"/>
                <a:ea typeface="Source Sans 3"/>
                <a:cs typeface="Source Sans 3"/>
                <a:sym typeface="Source Sans 3"/>
              </a:rPr>
              <a:t>Nhìn vào bất kỳ đường nào (ví dụ: đường Order 3 màu xanh lá), khi di chuyển từ trái sang phải (kích thước tăng), đường này luôn đi xuống (Perplexity giảm).</a:t>
            </a:r>
            <a:endParaRPr sz="1600">
              <a:latin typeface="Source Sans 3"/>
              <a:ea typeface="Source Sans 3"/>
              <a:cs typeface="Source Sans 3"/>
              <a:sym typeface="Source Sans 3"/>
            </a:endParaRPr>
          </a:p>
          <a:p>
            <a:pPr indent="-98425" lvl="1" marL="457200" marR="0" rtl="0" algn="l">
              <a:lnSpc>
                <a:spcPct val="100000"/>
              </a:lnSpc>
              <a:spcBef>
                <a:spcPts val="0"/>
              </a:spcBef>
              <a:spcAft>
                <a:spcPts val="0"/>
              </a:spcAft>
              <a:buClr>
                <a:schemeClr val="dk1"/>
              </a:buClr>
              <a:buSzPts val="1550"/>
              <a:buFont typeface="Source Sans 3"/>
              <a:buChar char="•"/>
            </a:pPr>
            <a:r>
              <a:rPr b="1" i="0" lang="en-US" sz="1550" u="none" cap="none" strike="noStrike">
                <a:solidFill>
                  <a:schemeClr val="dk1"/>
                </a:solidFill>
                <a:latin typeface="Source Sans 3"/>
                <a:ea typeface="Source Sans 3"/>
                <a:cs typeface="Source Sans 3"/>
                <a:sym typeface="Source Sans 3"/>
              </a:rPr>
              <a:t>Ý nghĩa:</a:t>
            </a:r>
            <a:r>
              <a:rPr i="0" lang="en-US" sz="1550" u="none" cap="none" strike="noStrike">
                <a:solidFill>
                  <a:schemeClr val="dk1"/>
                </a:solidFill>
                <a:latin typeface="Source Sans 3"/>
                <a:ea typeface="Source Sans 3"/>
                <a:cs typeface="Source Sans 3"/>
                <a:sym typeface="Source Sans 3"/>
              </a:rPr>
              <a:t> Thêm nhiều dữ liệu hơn (tăng kích thước mô hình) cho phép mô hình ước tính xác suất của các n-gram (kể cả các n-gram hiếm) một cách chính xác hơn, từ đó cải thiện khả năng dự đoán.</a:t>
            </a:r>
            <a:endParaRPr sz="1600">
              <a:latin typeface="Source Sans 3"/>
              <a:ea typeface="Source Sans 3"/>
              <a:cs typeface="Source Sans 3"/>
              <a:sym typeface="Source Sans 3"/>
            </a:endParaRPr>
          </a:p>
          <a:p>
            <a:pPr indent="-98425" lvl="0" marL="0" marR="0" rtl="0" algn="l">
              <a:lnSpc>
                <a:spcPct val="100000"/>
              </a:lnSpc>
              <a:spcBef>
                <a:spcPts val="0"/>
              </a:spcBef>
              <a:spcAft>
                <a:spcPts val="0"/>
              </a:spcAft>
              <a:buClr>
                <a:schemeClr val="dk1"/>
              </a:buClr>
              <a:buSzPts val="1550"/>
              <a:buFont typeface="Source Sans 3"/>
              <a:buAutoNum type="arabicPeriod" startAt="2"/>
            </a:pPr>
            <a:r>
              <a:rPr b="1" i="0" lang="en-US" sz="1550" u="none" cap="none" strike="noStrike">
                <a:solidFill>
                  <a:schemeClr val="dk1"/>
                </a:solidFill>
                <a:latin typeface="Source Sans 3"/>
                <a:ea typeface="Source Sans 3"/>
                <a:cs typeface="Source Sans 3"/>
                <a:sym typeface="Source Sans 3"/>
              </a:rPr>
              <a:t>     Quan trọng nhất: Chưa có dấu hiệu bão hòa (Saturation):</a:t>
            </a:r>
            <a:endParaRPr i="0" sz="1550" u="none" cap="none" strike="noStrike">
              <a:solidFill>
                <a:schemeClr val="dk1"/>
              </a:solidFill>
              <a:latin typeface="Source Sans 3"/>
              <a:ea typeface="Source Sans 3"/>
              <a:cs typeface="Source Sans 3"/>
              <a:sym typeface="Source Sans 3"/>
            </a:endParaRPr>
          </a:p>
          <a:p>
            <a:pPr indent="-98425" lvl="1" marL="457200" marR="0" rtl="0" algn="l">
              <a:lnSpc>
                <a:spcPct val="100000"/>
              </a:lnSpc>
              <a:spcBef>
                <a:spcPts val="0"/>
              </a:spcBef>
              <a:spcAft>
                <a:spcPts val="0"/>
              </a:spcAft>
              <a:buClr>
                <a:schemeClr val="dk1"/>
              </a:buClr>
              <a:buSzPts val="1550"/>
              <a:buFont typeface="Source Sans 3"/>
              <a:buChar char="•"/>
            </a:pPr>
            <a:r>
              <a:rPr i="0" lang="en-US" sz="1550" u="none" cap="none" strike="noStrike">
                <a:solidFill>
                  <a:schemeClr val="dk1"/>
                </a:solidFill>
                <a:latin typeface="Source Sans 3"/>
                <a:ea typeface="Source Sans 3"/>
                <a:cs typeface="Source Sans 3"/>
                <a:sym typeface="Source Sans 3"/>
              </a:rPr>
              <a:t>Ngay cả ở kích thước lớn nhất (hơn 1 tỷ n-gram), các đường cong vẫn tiếp tục đi xuống và </a:t>
            </a:r>
            <a:r>
              <a:rPr b="1" i="0" lang="en-US" sz="1550" u="none" cap="none" strike="noStrike">
                <a:solidFill>
                  <a:schemeClr val="dk1"/>
                </a:solidFill>
                <a:latin typeface="Source Sans 3"/>
                <a:ea typeface="Source Sans 3"/>
                <a:cs typeface="Source Sans 3"/>
                <a:sym typeface="Source Sans 3"/>
              </a:rPr>
              <a:t>không có dấu hiệu đi ngang (bão hòa)</a:t>
            </a:r>
            <a:r>
              <a:rPr i="0" lang="en-US" sz="1550" u="none" cap="none" strike="noStrike">
                <a:solidFill>
                  <a:schemeClr val="dk1"/>
                </a:solidFill>
                <a:latin typeface="Source Sans 3"/>
                <a:ea typeface="Source Sans 3"/>
                <a:cs typeface="Source Sans 3"/>
                <a:sym typeface="Source Sans 3"/>
              </a:rPr>
              <a:t>.</a:t>
            </a:r>
            <a:endParaRPr sz="1600">
              <a:latin typeface="Source Sans 3"/>
              <a:ea typeface="Source Sans 3"/>
              <a:cs typeface="Source Sans 3"/>
              <a:sym typeface="Source Sans 3"/>
            </a:endParaRPr>
          </a:p>
          <a:p>
            <a:pPr indent="-98425" lvl="1" marL="457200" marR="0" rtl="0" algn="l">
              <a:lnSpc>
                <a:spcPct val="100000"/>
              </a:lnSpc>
              <a:spcBef>
                <a:spcPts val="0"/>
              </a:spcBef>
              <a:spcAft>
                <a:spcPts val="0"/>
              </a:spcAft>
              <a:buClr>
                <a:schemeClr val="dk1"/>
              </a:buClr>
              <a:buSzPts val="1550"/>
              <a:buFont typeface="Source Sans 3"/>
              <a:buChar char="•"/>
            </a:pPr>
            <a:r>
              <a:rPr b="1" i="0" lang="en-US" sz="1550" u="none" cap="none" strike="noStrike">
                <a:solidFill>
                  <a:schemeClr val="dk1"/>
                </a:solidFill>
                <a:latin typeface="Source Sans 3"/>
                <a:ea typeface="Source Sans 3"/>
                <a:cs typeface="Source Sans 3"/>
                <a:sym typeface="Source Sans 3"/>
              </a:rPr>
              <a:t>Ý nghĩa:</a:t>
            </a:r>
            <a:r>
              <a:rPr i="0" lang="en-US" sz="1550" u="none" cap="none" strike="noStrike">
                <a:solidFill>
                  <a:schemeClr val="dk1"/>
                </a:solidFill>
                <a:latin typeface="Source Sans 3"/>
                <a:ea typeface="Source Sans 3"/>
                <a:cs typeface="Source Sans 3"/>
                <a:sym typeface="Source Sans 3"/>
              </a:rPr>
              <a:t> Điều này cho thấy rằng ngay cả ở quy mô web, việc tiếp tục tăng kích thước dữ liệu huấn luyện </a:t>
            </a:r>
            <a:r>
              <a:rPr b="1" i="0" lang="en-US" sz="1550" u="none" cap="none" strike="noStrike">
                <a:solidFill>
                  <a:schemeClr val="dk1"/>
                </a:solidFill>
                <a:latin typeface="Source Sans 3"/>
                <a:ea typeface="Source Sans 3"/>
                <a:cs typeface="Source Sans 3"/>
                <a:sym typeface="Source Sans 3"/>
              </a:rPr>
              <a:t>vẫn sẽ tiếp tục mang lại lợi ích</a:t>
            </a:r>
            <a:r>
              <a:rPr i="0" lang="en-US" sz="1550" u="none" cap="none" strike="noStrike">
                <a:solidFill>
                  <a:schemeClr val="dk1"/>
                </a:solidFill>
                <a:latin typeface="Source Sans 3"/>
                <a:ea typeface="Source Sans 3"/>
                <a:cs typeface="Source Sans 3"/>
                <a:sym typeface="Source Sans 3"/>
              </a:rPr>
              <a:t> và cải thiện độ chính xác của mô hình ngôn ngữ.</a:t>
            </a:r>
            <a:endParaRPr sz="1600">
              <a:latin typeface="Source Sans 3"/>
              <a:ea typeface="Source Sans 3"/>
              <a:cs typeface="Source Sans 3"/>
              <a:sym typeface="Source Sans 3"/>
            </a:endParaRPr>
          </a:p>
          <a:p>
            <a:pPr indent="0" lvl="0" marL="0" marR="0" rtl="0" algn="l">
              <a:lnSpc>
                <a:spcPct val="100000"/>
              </a:lnSpc>
              <a:spcBef>
                <a:spcPts val="0"/>
              </a:spcBef>
              <a:spcAft>
                <a:spcPts val="0"/>
              </a:spcAft>
              <a:buClr>
                <a:schemeClr val="dk1"/>
              </a:buClr>
              <a:buSzPts val="1350"/>
              <a:buFont typeface="Calibri"/>
              <a:buNone/>
            </a:pPr>
            <a:r>
              <a:t/>
            </a:r>
            <a:endParaRPr i="0" sz="1550" u="none" cap="none" strike="noStrike">
              <a:solidFill>
                <a:schemeClr val="dk1"/>
              </a:solidFill>
              <a:latin typeface="Source Sans 3"/>
              <a:ea typeface="Source Sans 3"/>
              <a:cs typeface="Source Sans 3"/>
              <a:sym typeface="Source Sans 3"/>
            </a:endParaRPr>
          </a:p>
        </p:txBody>
      </p:sp>
      <p:sp>
        <p:nvSpPr>
          <p:cNvPr id="258" name="Google Shape;258;p22"/>
          <p:cNvSpPr/>
          <p:nvPr/>
        </p:nvSpPr>
        <p:spPr>
          <a:xfrm>
            <a:off x="622102" y="3210868"/>
            <a:ext cx="2509480" cy="31373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8512F"/>
              </a:buClr>
              <a:buSzPts val="1950"/>
              <a:buFont typeface="Lora"/>
              <a:buNone/>
            </a:pPr>
            <a:r>
              <a:rPr lang="en-US" sz="1950">
                <a:solidFill>
                  <a:srgbClr val="38512F"/>
                </a:solidFill>
                <a:latin typeface="Lora"/>
                <a:ea typeface="Lora"/>
                <a:cs typeface="Lora"/>
                <a:sym typeface="Lora"/>
              </a:rPr>
              <a:t>Kết Luận:</a:t>
            </a:r>
            <a:endParaRPr sz="1950">
              <a:solidFill>
                <a:schemeClr val="dk1"/>
              </a:solidFill>
              <a:latin typeface="Calibri"/>
              <a:ea typeface="Calibri"/>
              <a:cs typeface="Calibri"/>
              <a:sym typeface="Calibri"/>
            </a:endParaRPr>
          </a:p>
        </p:txBody>
      </p:sp>
      <p:sp>
        <p:nvSpPr>
          <p:cNvPr id="259" name="Google Shape;259;p22"/>
          <p:cNvSpPr txBox="1"/>
          <p:nvPr/>
        </p:nvSpPr>
        <p:spPr>
          <a:xfrm>
            <a:off x="9036350" y="6490175"/>
            <a:ext cx="5382300" cy="76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latin typeface="Source Sans 3"/>
                <a:ea typeface="Source Sans 3"/>
                <a:cs typeface="Source Sans 3"/>
                <a:sym typeface="Source Sans 3"/>
              </a:rPr>
              <a:t>Biểu đồ 2 : So sánh độ bối rối (perplexity) của từ trong truy vấn với các kích thước và bậc (order) khác nhau của mô hình ngôn ngữ anchor</a:t>
            </a:r>
            <a:endParaRPr sz="1600">
              <a:latin typeface="Source Sans 3"/>
              <a:ea typeface="Source Sans 3"/>
              <a:cs typeface="Source Sans 3"/>
              <a:sym typeface="Source Sans 3"/>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3"/>
          <p:cNvSpPr/>
          <p:nvPr/>
        </p:nvSpPr>
        <p:spPr>
          <a:xfrm>
            <a:off x="827008" y="650915"/>
            <a:ext cx="7184112" cy="556022"/>
          </a:xfrm>
          <a:prstGeom prst="rect">
            <a:avLst/>
          </a:prstGeom>
          <a:noFill/>
          <a:ln>
            <a:noFill/>
          </a:ln>
        </p:spPr>
        <p:txBody>
          <a:bodyPr anchorCtr="0" anchor="t" bIns="0" lIns="0" spcFirstLastPara="1" rIns="0" wrap="square" tIns="0">
            <a:noAutofit/>
          </a:bodyPr>
          <a:lstStyle/>
          <a:p>
            <a:pPr indent="0" lvl="0" marL="0" marR="0" rtl="0" algn="l">
              <a:lnSpc>
                <a:spcPct val="124285"/>
              </a:lnSpc>
              <a:spcBef>
                <a:spcPts val="0"/>
              </a:spcBef>
              <a:spcAft>
                <a:spcPts val="0"/>
              </a:spcAft>
              <a:buClr>
                <a:srgbClr val="38512F"/>
              </a:buClr>
              <a:buSzPts val="3500"/>
              <a:buFont typeface="Lora"/>
              <a:buNone/>
            </a:pPr>
            <a:r>
              <a:rPr lang="en-US" sz="3500">
                <a:solidFill>
                  <a:srgbClr val="38512F"/>
                </a:solidFill>
                <a:latin typeface="Lora"/>
                <a:ea typeface="Lora"/>
                <a:cs typeface="Lora"/>
                <a:sym typeface="Lora"/>
              </a:rPr>
              <a:t>Sửa Lỗi Chính Tả Truy Vấn (Phần 1)</a:t>
            </a:r>
            <a:endParaRPr sz="3500">
              <a:solidFill>
                <a:schemeClr val="dk1"/>
              </a:solidFill>
              <a:latin typeface="Calibri"/>
              <a:ea typeface="Calibri"/>
              <a:cs typeface="Calibri"/>
              <a:sym typeface="Calibri"/>
            </a:endParaRPr>
          </a:p>
        </p:txBody>
      </p:sp>
      <p:sp>
        <p:nvSpPr>
          <p:cNvPr id="266" name="Google Shape;266;p23"/>
          <p:cNvSpPr/>
          <p:nvPr/>
        </p:nvSpPr>
        <p:spPr>
          <a:xfrm>
            <a:off x="827008" y="1301353"/>
            <a:ext cx="5694164" cy="41695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2600"/>
              <a:buFont typeface="Lora"/>
              <a:buNone/>
            </a:pPr>
            <a:r>
              <a:rPr lang="en-US" sz="2600">
                <a:solidFill>
                  <a:srgbClr val="38512F"/>
                </a:solidFill>
                <a:latin typeface="Lora"/>
                <a:ea typeface="Lora"/>
                <a:cs typeface="Lora"/>
                <a:sym typeface="Lora"/>
              </a:rPr>
              <a:t>Mục Tiêu: Query Spelling Correction</a:t>
            </a:r>
            <a:endParaRPr sz="2600">
              <a:solidFill>
                <a:schemeClr val="dk1"/>
              </a:solidFill>
              <a:latin typeface="Calibri"/>
              <a:ea typeface="Calibri"/>
              <a:cs typeface="Calibri"/>
              <a:sym typeface="Calibri"/>
            </a:endParaRPr>
          </a:p>
        </p:txBody>
      </p:sp>
      <p:sp>
        <p:nvSpPr>
          <p:cNvPr id="267" name="Google Shape;267;p23"/>
          <p:cNvSpPr/>
          <p:nvPr/>
        </p:nvSpPr>
        <p:spPr>
          <a:xfrm>
            <a:off x="827008" y="2072759"/>
            <a:ext cx="12976384" cy="756285"/>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3A3630"/>
              </a:buClr>
              <a:buSzPts val="1850"/>
              <a:buFont typeface="Source Sans 3"/>
              <a:buNone/>
            </a:pPr>
            <a:r>
              <a:rPr b="1" lang="en-US" sz="1850">
                <a:solidFill>
                  <a:srgbClr val="3A3630"/>
                </a:solidFill>
                <a:latin typeface="Source Sans 3"/>
                <a:ea typeface="Source Sans 3"/>
                <a:cs typeface="Source Sans 3"/>
                <a:sym typeface="Source Sans 3"/>
              </a:rPr>
              <a:t>Nhiệm vụ:</a:t>
            </a:r>
            <a:r>
              <a:rPr lang="en-US" sz="1850">
                <a:solidFill>
                  <a:srgbClr val="3A3630"/>
                </a:solidFill>
                <a:latin typeface="Source Sans 3"/>
                <a:ea typeface="Source Sans 3"/>
                <a:cs typeface="Source Sans 3"/>
                <a:sym typeface="Source Sans 3"/>
              </a:rPr>
              <a:t> Tự động phát hiện và gợi ý cách viết đúng cho truy vấn của người dùng. Đây là một thành phần phổ biến trong các máy tìm kiếm, giúp cải thiện đáng kể trải nghiệm người dùng.</a:t>
            </a:r>
            <a:endParaRPr sz="1850">
              <a:solidFill>
                <a:schemeClr val="dk1"/>
              </a:solidFill>
              <a:latin typeface="Calibri"/>
              <a:ea typeface="Calibri"/>
              <a:cs typeface="Calibri"/>
              <a:sym typeface="Calibri"/>
            </a:endParaRPr>
          </a:p>
        </p:txBody>
      </p:sp>
      <p:sp>
        <p:nvSpPr>
          <p:cNvPr id="268" name="Google Shape;268;p23"/>
          <p:cNvSpPr/>
          <p:nvPr/>
        </p:nvSpPr>
        <p:spPr>
          <a:xfrm>
            <a:off x="827008" y="3183493"/>
            <a:ext cx="3500795" cy="41695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2600"/>
              <a:buFont typeface="Lora"/>
              <a:buNone/>
            </a:pPr>
            <a:r>
              <a:rPr lang="en-US" sz="2600">
                <a:solidFill>
                  <a:srgbClr val="38512F"/>
                </a:solidFill>
                <a:latin typeface="Lora"/>
                <a:ea typeface="Lora"/>
                <a:cs typeface="Lora"/>
                <a:sym typeface="Lora"/>
              </a:rPr>
              <a:t>Thách Thức: 2 Loại Lỗi</a:t>
            </a:r>
            <a:endParaRPr sz="2600">
              <a:solidFill>
                <a:schemeClr val="dk1"/>
              </a:solidFill>
              <a:latin typeface="Calibri"/>
              <a:ea typeface="Calibri"/>
              <a:cs typeface="Calibri"/>
              <a:sym typeface="Calibri"/>
            </a:endParaRPr>
          </a:p>
        </p:txBody>
      </p:sp>
      <p:sp>
        <p:nvSpPr>
          <p:cNvPr id="269" name="Google Shape;269;p23"/>
          <p:cNvSpPr/>
          <p:nvPr/>
        </p:nvSpPr>
        <p:spPr>
          <a:xfrm>
            <a:off x="827008" y="3954899"/>
            <a:ext cx="6370082" cy="3623786"/>
          </a:xfrm>
          <a:prstGeom prst="roundRect">
            <a:avLst>
              <a:gd fmla="val 978"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3"/>
          <p:cNvSpPr/>
          <p:nvPr/>
        </p:nvSpPr>
        <p:spPr>
          <a:xfrm>
            <a:off x="1063228" y="4191119"/>
            <a:ext cx="4750951" cy="347424"/>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3A3630"/>
              </a:buClr>
              <a:buSzPts val="2150"/>
              <a:buFont typeface="Lora"/>
              <a:buNone/>
            </a:pPr>
            <a:r>
              <a:rPr lang="en-US" sz="2150">
                <a:solidFill>
                  <a:srgbClr val="3A3630"/>
                </a:solidFill>
                <a:latin typeface="Lora"/>
                <a:ea typeface="Lora"/>
                <a:cs typeface="Lora"/>
                <a:sym typeface="Lora"/>
              </a:rPr>
              <a:t>Lỗi Đánh Máy (Typographical Errors)</a:t>
            </a:r>
            <a:endParaRPr sz="2150">
              <a:solidFill>
                <a:schemeClr val="dk1"/>
              </a:solidFill>
              <a:latin typeface="Calibri"/>
              <a:ea typeface="Calibri"/>
              <a:cs typeface="Calibri"/>
              <a:sym typeface="Calibri"/>
            </a:endParaRPr>
          </a:p>
        </p:txBody>
      </p:sp>
      <p:sp>
        <p:nvSpPr>
          <p:cNvPr id="271" name="Google Shape;271;p23"/>
          <p:cNvSpPr/>
          <p:nvPr/>
        </p:nvSpPr>
        <p:spPr>
          <a:xfrm>
            <a:off x="1063228" y="4680228"/>
            <a:ext cx="5897642" cy="151257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3A3630"/>
              </a:buClr>
              <a:buSzPts val="1850"/>
              <a:buFont typeface="Source Sans 3"/>
              <a:buNone/>
            </a:pPr>
            <a:r>
              <a:rPr lang="en-US" sz="1850">
                <a:solidFill>
                  <a:srgbClr val="3A3630"/>
                </a:solidFill>
                <a:latin typeface="Source Sans 3"/>
                <a:ea typeface="Source Sans 3"/>
                <a:cs typeface="Source Sans 3"/>
                <a:sym typeface="Source Sans 3"/>
              </a:rPr>
              <a:t>Ví dụ: "white zinfandal" → "white zinfandel". Ví dụ: "mivhael jakson" → "michael jackson". Thách thức: Từ điển (lexicon) truyền thống không thể bao phủ hết từ vựng trên web (tên riêng, từ mới, tiếng lóng).</a:t>
            </a:r>
            <a:endParaRPr sz="1850">
              <a:solidFill>
                <a:schemeClr val="dk1"/>
              </a:solidFill>
              <a:latin typeface="Calibri"/>
              <a:ea typeface="Calibri"/>
              <a:cs typeface="Calibri"/>
              <a:sym typeface="Calibri"/>
            </a:endParaRPr>
          </a:p>
        </p:txBody>
      </p:sp>
      <p:sp>
        <p:nvSpPr>
          <p:cNvPr id="272" name="Google Shape;272;p23"/>
          <p:cNvSpPr/>
          <p:nvPr/>
        </p:nvSpPr>
        <p:spPr>
          <a:xfrm>
            <a:off x="7433310" y="3954899"/>
            <a:ext cx="6370082" cy="3623786"/>
          </a:xfrm>
          <a:prstGeom prst="roundRect">
            <a:avLst>
              <a:gd fmla="val 978"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3"/>
          <p:cNvSpPr/>
          <p:nvPr/>
        </p:nvSpPr>
        <p:spPr>
          <a:xfrm>
            <a:off x="7669530" y="4191119"/>
            <a:ext cx="5202198" cy="347424"/>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3A3630"/>
              </a:buClr>
              <a:buSzPts val="2150"/>
              <a:buFont typeface="Lora"/>
              <a:buNone/>
            </a:pPr>
            <a:r>
              <a:rPr lang="en-US" sz="2150">
                <a:solidFill>
                  <a:srgbClr val="3A3630"/>
                </a:solidFill>
                <a:latin typeface="Lora"/>
                <a:ea typeface="Lora"/>
                <a:cs typeface="Lora"/>
                <a:sym typeface="Lora"/>
              </a:rPr>
              <a:t>Lỗi Ngữ Cảnh (Context-Sensitive Errors)</a:t>
            </a:r>
            <a:endParaRPr sz="2150">
              <a:solidFill>
                <a:schemeClr val="dk1"/>
              </a:solidFill>
              <a:latin typeface="Calibri"/>
              <a:ea typeface="Calibri"/>
              <a:cs typeface="Calibri"/>
              <a:sym typeface="Calibri"/>
            </a:endParaRPr>
          </a:p>
        </p:txBody>
      </p:sp>
      <p:sp>
        <p:nvSpPr>
          <p:cNvPr id="274" name="Google Shape;274;p23"/>
          <p:cNvSpPr/>
          <p:nvPr/>
        </p:nvSpPr>
        <p:spPr>
          <a:xfrm>
            <a:off x="7669530" y="4680228"/>
            <a:ext cx="5897642" cy="2662238"/>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3A3630"/>
              </a:buClr>
              <a:buSzPts val="1850"/>
              <a:buFont typeface="Source Sans 3"/>
              <a:buNone/>
            </a:pPr>
            <a:r>
              <a:rPr lang="en-US" sz="1850">
                <a:solidFill>
                  <a:srgbClr val="3A3630"/>
                </a:solidFill>
                <a:latin typeface="Source Sans 3"/>
                <a:ea typeface="Source Sans 3"/>
                <a:cs typeface="Source Sans 3"/>
                <a:sym typeface="Source Sans 3"/>
              </a:rPr>
              <a:t>Đây là loại lỗi phức tạp hơn, khi từ gõ sai vẫn là một từ có nghĩa. Ví dụ: Truy vấn gốc: "woods and water reality". Các ứng viên: "woods and water reality" (giữ nguyên), "woods and water realty" (</a:t>
            </a:r>
            <a:r>
              <a:rPr lang="en-US" sz="1850">
                <a:solidFill>
                  <a:srgbClr val="000000"/>
                </a:solidFill>
                <a:latin typeface="Source Sans 3"/>
                <a:ea typeface="Source Sans 3"/>
                <a:cs typeface="Source Sans 3"/>
                <a:sym typeface="Source Sans 3"/>
              </a:rPr>
              <a:t>✅</a:t>
            </a:r>
            <a:r>
              <a:rPr lang="en-US" sz="1850">
                <a:solidFill>
                  <a:srgbClr val="3A3630"/>
                </a:solidFill>
                <a:latin typeface="Source Sans 3"/>
                <a:ea typeface="Source Sans 3"/>
                <a:cs typeface="Source Sans 3"/>
                <a:sym typeface="Source Sans 3"/>
              </a:rPr>
              <a:t> Đúng: "realty" = bất động sản), "words and water reality" (</a:t>
            </a:r>
            <a:r>
              <a:rPr lang="en-US" sz="1850">
                <a:solidFill>
                  <a:srgbClr val="000000"/>
                </a:solidFill>
                <a:latin typeface="Source Sans 3"/>
                <a:ea typeface="Source Sans 3"/>
                <a:cs typeface="Source Sans 3"/>
                <a:sym typeface="Source Sans 3"/>
              </a:rPr>
              <a:t>❌</a:t>
            </a:r>
            <a:r>
              <a:rPr lang="en-US" sz="1850">
                <a:solidFill>
                  <a:srgbClr val="3A3630"/>
                </a:solidFill>
                <a:latin typeface="Source Sans 3"/>
                <a:ea typeface="Source Sans 3"/>
                <a:cs typeface="Source Sans 3"/>
                <a:sym typeface="Source Sans 3"/>
              </a:rPr>
              <a:t> Ngữ cảnh sai). Giải pháp: Lỗi này chỉ có thể được giải quyết bằng cách hiểu ngữ cảnh (context). Mô hình N-gram (LM) có khả năng làm điều này.</a:t>
            </a:r>
            <a:endParaRPr sz="185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4"/>
          <p:cNvSpPr/>
          <p:nvPr/>
        </p:nvSpPr>
        <p:spPr>
          <a:xfrm>
            <a:off x="608171" y="477798"/>
            <a:ext cx="5338405" cy="408742"/>
          </a:xfrm>
          <a:prstGeom prst="rect">
            <a:avLst/>
          </a:prstGeom>
          <a:noFill/>
          <a:ln>
            <a:noFill/>
          </a:ln>
        </p:spPr>
        <p:txBody>
          <a:bodyPr anchorCtr="0" anchor="t" bIns="0" lIns="0" spcFirstLastPara="1" rIns="0" wrap="square" tIns="0">
            <a:noAutofit/>
          </a:bodyPr>
          <a:lstStyle/>
          <a:p>
            <a:pPr indent="0" lvl="0" marL="0" marR="0" rtl="0" algn="l">
              <a:lnSpc>
                <a:spcPct val="125490"/>
              </a:lnSpc>
              <a:spcBef>
                <a:spcPts val="0"/>
              </a:spcBef>
              <a:spcAft>
                <a:spcPts val="0"/>
              </a:spcAft>
              <a:buClr>
                <a:srgbClr val="38512F"/>
              </a:buClr>
              <a:buSzPts val="2550"/>
              <a:buFont typeface="Lora"/>
              <a:buNone/>
            </a:pPr>
            <a:r>
              <a:rPr lang="en-US" sz="2550">
                <a:solidFill>
                  <a:srgbClr val="38512F"/>
                </a:solidFill>
                <a:latin typeface="Lora"/>
                <a:ea typeface="Lora"/>
                <a:cs typeface="Lora"/>
                <a:sym typeface="Lora"/>
              </a:rPr>
              <a:t>Sửa Lỗi Chính Tả Truy Vấn (Phần 2)</a:t>
            </a:r>
            <a:endParaRPr sz="2550">
              <a:solidFill>
                <a:schemeClr val="dk1"/>
              </a:solidFill>
              <a:latin typeface="Calibri"/>
              <a:ea typeface="Calibri"/>
              <a:cs typeface="Calibri"/>
              <a:sym typeface="Calibri"/>
            </a:endParaRPr>
          </a:p>
        </p:txBody>
      </p:sp>
      <p:sp>
        <p:nvSpPr>
          <p:cNvPr id="281" name="Google Shape;281;p24"/>
          <p:cNvSpPr/>
          <p:nvPr/>
        </p:nvSpPr>
        <p:spPr>
          <a:xfrm>
            <a:off x="608171" y="955953"/>
            <a:ext cx="2897148" cy="306705"/>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38512F"/>
              </a:buClr>
              <a:buSzPts val="1900"/>
              <a:buFont typeface="Lora"/>
              <a:buNone/>
            </a:pPr>
            <a:r>
              <a:rPr lang="en-US" sz="1900">
                <a:solidFill>
                  <a:srgbClr val="38512F"/>
                </a:solidFill>
                <a:latin typeface="Lora"/>
                <a:ea typeface="Lora"/>
                <a:cs typeface="Lora"/>
                <a:sym typeface="Lora"/>
              </a:rPr>
              <a:t>Phương Pháp Thí Nghiệm</a:t>
            </a:r>
            <a:endParaRPr sz="1900">
              <a:solidFill>
                <a:schemeClr val="dk1"/>
              </a:solidFill>
              <a:latin typeface="Calibri"/>
              <a:ea typeface="Calibri"/>
              <a:cs typeface="Calibri"/>
              <a:sym typeface="Calibri"/>
            </a:endParaRPr>
          </a:p>
        </p:txBody>
      </p:sp>
      <p:sp>
        <p:nvSpPr>
          <p:cNvPr id="282" name="Google Shape;282;p24"/>
          <p:cNvSpPr/>
          <p:nvPr/>
        </p:nvSpPr>
        <p:spPr>
          <a:xfrm>
            <a:off x="608182" y="1523277"/>
            <a:ext cx="493500" cy="21720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Lora"/>
              <a:buNone/>
            </a:pPr>
            <a:r>
              <a:rPr lang="en-US" sz="1550">
                <a:solidFill>
                  <a:srgbClr val="3A3630"/>
                </a:solidFill>
                <a:latin typeface="Lora"/>
                <a:ea typeface="Lora"/>
                <a:cs typeface="Lora"/>
                <a:sym typeface="Lora"/>
              </a:rPr>
              <a:t>01</a:t>
            </a:r>
            <a:endParaRPr sz="1550">
              <a:solidFill>
                <a:schemeClr val="dk1"/>
              </a:solidFill>
              <a:latin typeface="Calibri"/>
              <a:ea typeface="Calibri"/>
              <a:cs typeface="Calibri"/>
              <a:sym typeface="Calibri"/>
            </a:endParaRPr>
          </a:p>
        </p:txBody>
      </p:sp>
      <p:sp>
        <p:nvSpPr>
          <p:cNvPr id="283" name="Google Shape;283;p24"/>
          <p:cNvSpPr/>
          <p:nvPr/>
        </p:nvSpPr>
        <p:spPr>
          <a:xfrm>
            <a:off x="608171" y="1795582"/>
            <a:ext cx="4355544" cy="22860"/>
          </a:xfrm>
          <a:prstGeom prst="rect">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84" name="Google Shape;284;p24"/>
          <p:cNvSpPr/>
          <p:nvPr/>
        </p:nvSpPr>
        <p:spPr>
          <a:xfrm>
            <a:off x="608171" y="1928098"/>
            <a:ext cx="2044422" cy="25550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1600"/>
              <a:buFont typeface="Lora"/>
              <a:buNone/>
            </a:pPr>
            <a:r>
              <a:rPr lang="en-US" sz="1800">
                <a:solidFill>
                  <a:srgbClr val="3A3630"/>
                </a:solidFill>
                <a:latin typeface="Lora"/>
                <a:ea typeface="Lora"/>
                <a:cs typeface="Lora"/>
                <a:sym typeface="Lora"/>
              </a:rPr>
              <a:t>Lấy Dữ Liệu</a:t>
            </a:r>
            <a:endParaRPr sz="1800">
              <a:solidFill>
                <a:schemeClr val="dk1"/>
              </a:solidFill>
              <a:latin typeface="Calibri"/>
              <a:ea typeface="Calibri"/>
              <a:cs typeface="Calibri"/>
              <a:sym typeface="Calibri"/>
            </a:endParaRPr>
          </a:p>
        </p:txBody>
      </p:sp>
      <p:sp>
        <p:nvSpPr>
          <p:cNvPr id="285" name="Google Shape;285;p24"/>
          <p:cNvSpPr/>
          <p:nvPr/>
        </p:nvSpPr>
        <p:spPr>
          <a:xfrm>
            <a:off x="608171" y="2287786"/>
            <a:ext cx="4355544" cy="55626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Source Sans 3"/>
              <a:buNone/>
            </a:pPr>
            <a:r>
              <a:rPr lang="en-US" sz="1650">
                <a:solidFill>
                  <a:srgbClr val="3A3630"/>
                </a:solidFill>
                <a:latin typeface="Source Sans 3"/>
                <a:ea typeface="Source Sans 3"/>
                <a:cs typeface="Source Sans 3"/>
                <a:sym typeface="Source Sans 3"/>
              </a:rPr>
              <a:t>Thu thập 15.657 truy vấn thật từ log tìm kiếm. Sau khi người gán nhãn, 2.349 truy vấn được xác định là có lỗi và cần sửa.</a:t>
            </a:r>
            <a:endParaRPr sz="1650">
              <a:solidFill>
                <a:schemeClr val="dk1"/>
              </a:solidFill>
              <a:latin typeface="Calibri"/>
              <a:ea typeface="Calibri"/>
              <a:cs typeface="Calibri"/>
              <a:sym typeface="Calibri"/>
            </a:endParaRPr>
          </a:p>
        </p:txBody>
      </p:sp>
      <p:sp>
        <p:nvSpPr>
          <p:cNvPr id="286" name="Google Shape;286;p24"/>
          <p:cNvSpPr/>
          <p:nvPr/>
        </p:nvSpPr>
        <p:spPr>
          <a:xfrm>
            <a:off x="5137421" y="1523275"/>
            <a:ext cx="384900" cy="21720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Lora"/>
              <a:buNone/>
            </a:pPr>
            <a:r>
              <a:rPr lang="en-US" sz="1550">
                <a:solidFill>
                  <a:srgbClr val="3A3630"/>
                </a:solidFill>
                <a:latin typeface="Lora"/>
                <a:ea typeface="Lora"/>
                <a:cs typeface="Lora"/>
                <a:sym typeface="Lora"/>
              </a:rPr>
              <a:t>02</a:t>
            </a:r>
            <a:endParaRPr sz="1550">
              <a:solidFill>
                <a:schemeClr val="dk1"/>
              </a:solidFill>
              <a:latin typeface="Calibri"/>
              <a:ea typeface="Calibri"/>
              <a:cs typeface="Calibri"/>
              <a:sym typeface="Calibri"/>
            </a:endParaRPr>
          </a:p>
        </p:txBody>
      </p:sp>
      <p:sp>
        <p:nvSpPr>
          <p:cNvPr id="287" name="Google Shape;287;p24"/>
          <p:cNvSpPr/>
          <p:nvPr/>
        </p:nvSpPr>
        <p:spPr>
          <a:xfrm>
            <a:off x="5137428" y="1795582"/>
            <a:ext cx="4355544" cy="22860"/>
          </a:xfrm>
          <a:prstGeom prst="rect">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88" name="Google Shape;288;p24"/>
          <p:cNvSpPr/>
          <p:nvPr/>
        </p:nvSpPr>
        <p:spPr>
          <a:xfrm>
            <a:off x="5137425" y="1928100"/>
            <a:ext cx="4061700" cy="255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1600"/>
              <a:buFont typeface="Lora"/>
              <a:buNone/>
            </a:pPr>
            <a:r>
              <a:rPr lang="en-US" sz="1800">
                <a:solidFill>
                  <a:srgbClr val="3A3630"/>
                </a:solidFill>
                <a:latin typeface="Lora"/>
                <a:ea typeface="Lora"/>
                <a:cs typeface="Lora"/>
                <a:sym typeface="Lora"/>
              </a:rPr>
              <a:t>Sinh Ứng Viên (Candidate Generation)</a:t>
            </a:r>
            <a:endParaRPr sz="1800">
              <a:solidFill>
                <a:schemeClr val="dk1"/>
              </a:solidFill>
              <a:latin typeface="Calibri"/>
              <a:ea typeface="Calibri"/>
              <a:cs typeface="Calibri"/>
              <a:sym typeface="Calibri"/>
            </a:endParaRPr>
          </a:p>
        </p:txBody>
      </p:sp>
      <p:sp>
        <p:nvSpPr>
          <p:cNvPr id="289" name="Google Shape;289;p24"/>
          <p:cNvSpPr/>
          <p:nvPr/>
        </p:nvSpPr>
        <p:spPr>
          <a:xfrm>
            <a:off x="5137428" y="2287786"/>
            <a:ext cx="4355544" cy="111252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Source Sans 3"/>
              <a:buNone/>
            </a:pPr>
            <a:r>
              <a:rPr lang="en-US" sz="1650">
                <a:solidFill>
                  <a:srgbClr val="3A3630"/>
                </a:solidFill>
                <a:latin typeface="Source Sans 3"/>
                <a:ea typeface="Source Sans 3"/>
                <a:cs typeface="Source Sans 3"/>
                <a:sym typeface="Source Sans 3"/>
              </a:rPr>
              <a:t>Với mỗi truy vấn sai, hệ thống tạo ra tối đa 20 ứng viên sửa lỗi. Các ứng viên được tạo từ nhiều cách: khoảng cách chỉnh sửa nhỏ (edit distance), hình thái (morphology), tách/gộp từ (word breaking).</a:t>
            </a:r>
            <a:endParaRPr sz="1650">
              <a:solidFill>
                <a:schemeClr val="dk1"/>
              </a:solidFill>
              <a:latin typeface="Calibri"/>
              <a:ea typeface="Calibri"/>
              <a:cs typeface="Calibri"/>
              <a:sym typeface="Calibri"/>
            </a:endParaRPr>
          </a:p>
        </p:txBody>
      </p:sp>
      <p:sp>
        <p:nvSpPr>
          <p:cNvPr id="290" name="Google Shape;290;p24"/>
          <p:cNvSpPr/>
          <p:nvPr/>
        </p:nvSpPr>
        <p:spPr>
          <a:xfrm>
            <a:off x="9666658" y="1523275"/>
            <a:ext cx="493500" cy="21720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Lora"/>
              <a:buNone/>
            </a:pPr>
            <a:r>
              <a:rPr lang="en-US" sz="1550">
                <a:solidFill>
                  <a:srgbClr val="3A3630"/>
                </a:solidFill>
                <a:latin typeface="Lora"/>
                <a:ea typeface="Lora"/>
                <a:cs typeface="Lora"/>
                <a:sym typeface="Lora"/>
              </a:rPr>
              <a:t>03</a:t>
            </a:r>
            <a:endParaRPr sz="1550">
              <a:solidFill>
                <a:schemeClr val="dk1"/>
              </a:solidFill>
              <a:latin typeface="Calibri"/>
              <a:ea typeface="Calibri"/>
              <a:cs typeface="Calibri"/>
              <a:sym typeface="Calibri"/>
            </a:endParaRPr>
          </a:p>
        </p:txBody>
      </p:sp>
      <p:sp>
        <p:nvSpPr>
          <p:cNvPr id="291" name="Google Shape;291;p24"/>
          <p:cNvSpPr/>
          <p:nvPr/>
        </p:nvSpPr>
        <p:spPr>
          <a:xfrm>
            <a:off x="9666684" y="1795582"/>
            <a:ext cx="4355544" cy="22860"/>
          </a:xfrm>
          <a:prstGeom prst="rect">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292" name="Google Shape;292;p24"/>
          <p:cNvSpPr/>
          <p:nvPr/>
        </p:nvSpPr>
        <p:spPr>
          <a:xfrm>
            <a:off x="9666672" y="1928100"/>
            <a:ext cx="4355700" cy="255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1600"/>
              <a:buFont typeface="Lora"/>
              <a:buNone/>
            </a:pPr>
            <a:r>
              <a:rPr lang="en-US" sz="1800">
                <a:solidFill>
                  <a:srgbClr val="3A3630"/>
                </a:solidFill>
                <a:latin typeface="Lora"/>
                <a:ea typeface="Lora"/>
                <a:cs typeface="Lora"/>
                <a:sym typeface="Lora"/>
              </a:rPr>
              <a:t>Chấm Điểm &amp; Xếp Hạng (Ranking)</a:t>
            </a:r>
            <a:endParaRPr sz="1800">
              <a:solidFill>
                <a:schemeClr val="dk1"/>
              </a:solidFill>
              <a:latin typeface="Calibri"/>
              <a:ea typeface="Calibri"/>
              <a:cs typeface="Calibri"/>
              <a:sym typeface="Calibri"/>
            </a:endParaRPr>
          </a:p>
        </p:txBody>
      </p:sp>
      <p:sp>
        <p:nvSpPr>
          <p:cNvPr id="293" name="Google Shape;293;p24"/>
          <p:cNvSpPr/>
          <p:nvPr/>
        </p:nvSpPr>
        <p:spPr>
          <a:xfrm>
            <a:off x="9666684" y="2287786"/>
            <a:ext cx="4355544" cy="83439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Source Sans 3"/>
              <a:buNone/>
            </a:pPr>
            <a:r>
              <a:rPr lang="en-US" sz="1650">
                <a:solidFill>
                  <a:srgbClr val="3A3630"/>
                </a:solidFill>
                <a:latin typeface="Source Sans 3"/>
                <a:ea typeface="Source Sans 3"/>
                <a:cs typeface="Source Sans 3"/>
                <a:sym typeface="Source Sans 3"/>
              </a:rPr>
              <a:t>Dùng các Mô hình Ngôn ngữ N-gram (LM) đã xây dựng (Sec 2) để xếp hạng 20 ứng viên này. Ứng viên có xác suất cao nhất sẽ được chọn làm gợi ý #1.</a:t>
            </a:r>
            <a:endParaRPr sz="1650">
              <a:solidFill>
                <a:schemeClr val="dk1"/>
              </a:solidFill>
              <a:latin typeface="Calibri"/>
              <a:ea typeface="Calibri"/>
              <a:cs typeface="Calibri"/>
              <a:sym typeface="Calibri"/>
            </a:endParaRPr>
          </a:p>
        </p:txBody>
      </p:sp>
      <p:sp>
        <p:nvSpPr>
          <p:cNvPr id="294" name="Google Shape;294;p24"/>
          <p:cNvSpPr/>
          <p:nvPr/>
        </p:nvSpPr>
        <p:spPr>
          <a:xfrm>
            <a:off x="608177" y="3791200"/>
            <a:ext cx="7371300" cy="3066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38512F"/>
              </a:buClr>
              <a:buSzPts val="1900"/>
              <a:buFont typeface="Lora"/>
              <a:buNone/>
            </a:pPr>
            <a:r>
              <a:rPr lang="en-US" sz="2100">
                <a:solidFill>
                  <a:srgbClr val="38512F"/>
                </a:solidFill>
                <a:latin typeface="Lora"/>
                <a:ea typeface="Lora"/>
                <a:cs typeface="Lora"/>
                <a:sym typeface="Lora"/>
              </a:rPr>
              <a:t>Công Thức Chấm Điểm: Joint Probability P(q)</a:t>
            </a:r>
            <a:endParaRPr sz="2100">
              <a:solidFill>
                <a:schemeClr val="dk1"/>
              </a:solidFill>
              <a:latin typeface="Calibri"/>
              <a:ea typeface="Calibri"/>
              <a:cs typeface="Calibri"/>
              <a:sym typeface="Calibri"/>
            </a:endParaRPr>
          </a:p>
        </p:txBody>
      </p:sp>
      <p:sp>
        <p:nvSpPr>
          <p:cNvPr id="295" name="Google Shape;295;p24"/>
          <p:cNvSpPr/>
          <p:nvPr/>
        </p:nvSpPr>
        <p:spPr>
          <a:xfrm>
            <a:off x="608171" y="4358521"/>
            <a:ext cx="13414058" cy="27813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Source Sans 3"/>
              <a:buNone/>
            </a:pPr>
            <a:r>
              <a:rPr lang="en-US" sz="1650">
                <a:solidFill>
                  <a:srgbClr val="3A3630"/>
                </a:solidFill>
                <a:latin typeface="Source Sans 3"/>
                <a:ea typeface="Source Sans 3"/>
                <a:cs typeface="Source Sans 3"/>
                <a:sym typeface="Source Sans 3"/>
              </a:rPr>
              <a:t>Mỗi ứng viên q = w₁, w₂, ..., w_k được chấm điểm bằng xác suất liên hợp (joint probability) của nó, theo mô hình N-gram bậc r:</a:t>
            </a:r>
            <a:endParaRPr sz="1650">
              <a:solidFill>
                <a:schemeClr val="dk1"/>
              </a:solidFill>
              <a:latin typeface="Calibri"/>
              <a:ea typeface="Calibri"/>
              <a:cs typeface="Calibri"/>
              <a:sym typeface="Calibri"/>
            </a:endParaRPr>
          </a:p>
        </p:txBody>
      </p:sp>
      <p:sp>
        <p:nvSpPr>
          <p:cNvPr id="296" name="Google Shape;296;p24"/>
          <p:cNvSpPr/>
          <p:nvPr/>
        </p:nvSpPr>
        <p:spPr>
          <a:xfrm>
            <a:off x="608171" y="4856559"/>
            <a:ext cx="13414058" cy="736521"/>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chemeClr val="dk1"/>
              </a:buClr>
              <a:buSzPts val="1500"/>
              <a:buFont typeface="Calibri"/>
              <a:buNone/>
            </a:pPr>
            <a:r>
              <a:t/>
            </a:r>
            <a:endParaRPr sz="1500">
              <a:solidFill>
                <a:schemeClr val="dk1"/>
              </a:solidFill>
              <a:latin typeface="Calibri"/>
              <a:ea typeface="Calibri"/>
              <a:cs typeface="Calibri"/>
              <a:sym typeface="Calibri"/>
            </a:endParaRPr>
          </a:p>
        </p:txBody>
      </p:sp>
      <p:pic>
        <p:nvPicPr>
          <p:cNvPr descr="preencoded.png" id="297" name="Google Shape;297;p24"/>
          <p:cNvPicPr preferRelativeResize="0"/>
          <p:nvPr/>
        </p:nvPicPr>
        <p:blipFill rotWithShape="1">
          <a:blip r:embed="rId3">
            <a:alphaModFix/>
          </a:blip>
          <a:srcRect b="0" l="0" r="0" t="0"/>
          <a:stretch/>
        </p:blipFill>
        <p:spPr>
          <a:xfrm>
            <a:off x="815996" y="4856572"/>
            <a:ext cx="13414055" cy="736521"/>
          </a:xfrm>
          <a:prstGeom prst="rect">
            <a:avLst/>
          </a:prstGeom>
          <a:noFill/>
          <a:ln>
            <a:noFill/>
          </a:ln>
        </p:spPr>
      </p:pic>
      <p:sp>
        <p:nvSpPr>
          <p:cNvPr id="298" name="Google Shape;298;p24"/>
          <p:cNvSpPr/>
          <p:nvPr/>
        </p:nvSpPr>
        <p:spPr>
          <a:xfrm>
            <a:off x="608171" y="5812988"/>
            <a:ext cx="13414058" cy="55626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Source Sans 3"/>
              <a:buNone/>
            </a:pPr>
            <a:r>
              <a:rPr b="1" lang="en-US" sz="1650">
                <a:solidFill>
                  <a:srgbClr val="3A3630"/>
                </a:solidFill>
                <a:latin typeface="Source Sans 3"/>
                <a:ea typeface="Source Sans 3"/>
                <a:cs typeface="Source Sans 3"/>
                <a:sym typeface="Source Sans 3"/>
              </a:rPr>
              <a:t>Giải thích:</a:t>
            </a:r>
            <a:r>
              <a:rPr lang="en-US" sz="1650">
                <a:solidFill>
                  <a:srgbClr val="3A3630"/>
                </a:solidFill>
                <a:latin typeface="Source Sans 3"/>
                <a:ea typeface="Source Sans 3"/>
                <a:cs typeface="Source Sans 3"/>
                <a:sym typeface="Source Sans 3"/>
              </a:rPr>
              <a:t> Công thức này tính xác suất của toàn bộ chuỗi từ xuất hiện cùng nhau, dựa trên ngữ cảnh. Ví dụ (lỗi ngữ cảnh): P("woods and water realty") sẽ cao hơn P("woods and water reality"). Do đó, mô hình sẽ chọn "realty" làm gợi ý hàng đầu.</a:t>
            </a:r>
            <a:endParaRPr sz="1650">
              <a:solidFill>
                <a:schemeClr val="dk1"/>
              </a:solidFill>
              <a:latin typeface="Calibri"/>
              <a:ea typeface="Calibri"/>
              <a:cs typeface="Calibri"/>
              <a:sym typeface="Calibri"/>
            </a:endParaRPr>
          </a:p>
        </p:txBody>
      </p:sp>
      <p:sp>
        <p:nvSpPr>
          <p:cNvPr id="299" name="Google Shape;299;p24"/>
          <p:cNvSpPr/>
          <p:nvPr/>
        </p:nvSpPr>
        <p:spPr>
          <a:xfrm>
            <a:off x="608177" y="6629875"/>
            <a:ext cx="4687800" cy="3066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38512F"/>
              </a:buClr>
              <a:buSzPts val="1900"/>
              <a:buFont typeface="Lora"/>
              <a:buNone/>
            </a:pPr>
            <a:r>
              <a:rPr lang="en-US" sz="2200">
                <a:solidFill>
                  <a:srgbClr val="38512F"/>
                </a:solidFill>
                <a:latin typeface="Lora"/>
                <a:ea typeface="Lora"/>
                <a:cs typeface="Lora"/>
                <a:sym typeface="Lora"/>
              </a:rPr>
              <a:t>Thước Đo: Precisional (Pal)</a:t>
            </a:r>
            <a:endParaRPr sz="2200">
              <a:solidFill>
                <a:schemeClr val="dk1"/>
              </a:solidFill>
              <a:latin typeface="Calibri"/>
              <a:ea typeface="Calibri"/>
              <a:cs typeface="Calibri"/>
              <a:sym typeface="Calibri"/>
            </a:endParaRPr>
          </a:p>
        </p:txBody>
      </p:sp>
      <p:sp>
        <p:nvSpPr>
          <p:cNvPr id="300" name="Google Shape;300;p24"/>
          <p:cNvSpPr/>
          <p:nvPr/>
        </p:nvSpPr>
        <p:spPr>
          <a:xfrm>
            <a:off x="608171" y="7197209"/>
            <a:ext cx="13414058" cy="556260"/>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Source Sans 3"/>
              <a:buNone/>
            </a:pPr>
            <a:r>
              <a:rPr b="1" lang="en-US" sz="1650">
                <a:solidFill>
                  <a:srgbClr val="3A3630"/>
                </a:solidFill>
                <a:latin typeface="Source Sans 3"/>
                <a:ea typeface="Source Sans 3"/>
                <a:cs typeface="Source Sans 3"/>
                <a:sym typeface="Source Sans 3"/>
              </a:rPr>
              <a:t>Định nghĩa:</a:t>
            </a:r>
            <a:r>
              <a:rPr lang="en-US" sz="1650">
                <a:solidFill>
                  <a:srgbClr val="3A3630"/>
                </a:solidFill>
                <a:latin typeface="Source Sans 3"/>
                <a:ea typeface="Source Sans 3"/>
                <a:cs typeface="Source Sans 3"/>
                <a:sym typeface="Source Sans 3"/>
              </a:rPr>
              <a:t> Tỷ lệ phần trăm truy vấn mà gợi ý đầu tiên (#1) (ứng viên có P(q) cao nhất) là gợi ý đúng. Đây là chỉ số quan trọng nhất trong thực tế vì người dùng thường chỉ xem gợi ý đầu tiên.</a:t>
            </a:r>
            <a:endParaRPr sz="165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5"/>
          <p:cNvSpPr/>
          <p:nvPr/>
        </p:nvSpPr>
        <p:spPr>
          <a:xfrm>
            <a:off x="223470" y="1107162"/>
            <a:ext cx="4505920" cy="563285"/>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8512F"/>
              </a:buClr>
              <a:buSzPts val="3500"/>
              <a:buFont typeface="Lora"/>
              <a:buNone/>
            </a:pPr>
            <a:r>
              <a:rPr lang="en-US" sz="3500">
                <a:solidFill>
                  <a:srgbClr val="38512F"/>
                </a:solidFill>
                <a:latin typeface="Lora"/>
                <a:ea typeface="Lora"/>
                <a:cs typeface="Lora"/>
                <a:sym typeface="Lora"/>
              </a:rPr>
              <a:t>Phân tích (Biểu đồ 3)</a:t>
            </a:r>
            <a:endParaRPr sz="3500">
              <a:solidFill>
                <a:schemeClr val="dk1"/>
              </a:solidFill>
              <a:latin typeface="Calibri"/>
              <a:ea typeface="Calibri"/>
              <a:cs typeface="Calibri"/>
              <a:sym typeface="Calibri"/>
            </a:endParaRPr>
          </a:p>
        </p:txBody>
      </p:sp>
      <p:sp>
        <p:nvSpPr>
          <p:cNvPr id="307" name="Google Shape;307;p25"/>
          <p:cNvSpPr/>
          <p:nvPr/>
        </p:nvSpPr>
        <p:spPr>
          <a:xfrm>
            <a:off x="5947195" y="1962685"/>
            <a:ext cx="7468553" cy="2650927"/>
          </a:xfrm>
          <a:prstGeom prst="roundRect">
            <a:avLst>
              <a:gd fmla="val 1355" name="adj"/>
            </a:avLst>
          </a:prstGeom>
          <a:solidFill>
            <a:srgbClr val="FEF5E7"/>
          </a:solidFill>
          <a:ln cap="flat" cmpd="sng" w="30475">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5"/>
          <p:cNvSpPr/>
          <p:nvPr/>
        </p:nvSpPr>
        <p:spPr>
          <a:xfrm>
            <a:off x="6216990" y="2232480"/>
            <a:ext cx="4002167"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2200"/>
              <a:buFont typeface="Lora"/>
              <a:buNone/>
            </a:pPr>
            <a:r>
              <a:rPr lang="en-US" sz="2200">
                <a:solidFill>
                  <a:srgbClr val="3A3630"/>
                </a:solidFill>
                <a:latin typeface="Lora"/>
                <a:ea typeface="Lora"/>
                <a:cs typeface="Lora"/>
                <a:sym typeface="Lora"/>
              </a:rPr>
              <a:t>Tác động của Kích thước (Size)</a:t>
            </a:r>
            <a:endParaRPr sz="2200">
              <a:solidFill>
                <a:schemeClr val="dk1"/>
              </a:solidFill>
              <a:latin typeface="Calibri"/>
              <a:ea typeface="Calibri"/>
              <a:cs typeface="Calibri"/>
              <a:sym typeface="Calibri"/>
            </a:endParaRPr>
          </a:p>
        </p:txBody>
      </p:sp>
      <p:sp>
        <p:nvSpPr>
          <p:cNvPr id="309" name="Google Shape;309;p25"/>
          <p:cNvSpPr/>
          <p:nvPr/>
        </p:nvSpPr>
        <p:spPr>
          <a:xfrm>
            <a:off x="6216990" y="2728018"/>
            <a:ext cx="6928961" cy="766048"/>
          </a:xfrm>
          <a:prstGeom prst="rect">
            <a:avLst/>
          </a:prstGeom>
          <a:noFill/>
          <a:ln>
            <a:noFill/>
          </a:ln>
        </p:spPr>
        <p:txBody>
          <a:bodyPr anchorCtr="0" anchor="t" bIns="0" lIns="0" spcFirstLastPara="1" rIns="0" wrap="square" tIns="0">
            <a:noAutofit/>
          </a:bodyPr>
          <a:lstStyle/>
          <a:p>
            <a:pPr indent="-342900" lvl="0" marL="342900" marR="0" rtl="0" algn="l">
              <a:lnSpc>
                <a:spcPct val="162162"/>
              </a:lnSpc>
              <a:spcBef>
                <a:spcPts val="0"/>
              </a:spcBef>
              <a:spcAft>
                <a:spcPts val="0"/>
              </a:spcAft>
              <a:buClr>
                <a:srgbClr val="3A3630"/>
              </a:buClr>
              <a:buSzPts val="1850"/>
              <a:buFont typeface="Source Sans 3"/>
              <a:buChar char="•"/>
            </a:pPr>
            <a:r>
              <a:rPr lang="en-US" sz="1850">
                <a:solidFill>
                  <a:srgbClr val="3A3630"/>
                </a:solidFill>
                <a:latin typeface="Source Sans 3"/>
                <a:ea typeface="Source Sans 3"/>
                <a:cs typeface="Source Sans 3"/>
                <a:sym typeface="Source Sans 3"/>
              </a:rPr>
              <a:t>Tăng kích thước LM (nhiều dữ liệu hơn) → Tăng độ chính xác Precision@1</a:t>
            </a:r>
            <a:endParaRPr sz="1850">
              <a:solidFill>
                <a:schemeClr val="dk1"/>
              </a:solidFill>
              <a:latin typeface="Calibri"/>
              <a:ea typeface="Calibri"/>
              <a:cs typeface="Calibri"/>
              <a:sym typeface="Calibri"/>
            </a:endParaRPr>
          </a:p>
        </p:txBody>
      </p:sp>
      <p:sp>
        <p:nvSpPr>
          <p:cNvPr id="310" name="Google Shape;310;p25"/>
          <p:cNvSpPr/>
          <p:nvPr/>
        </p:nvSpPr>
        <p:spPr>
          <a:xfrm>
            <a:off x="6216990" y="3577768"/>
            <a:ext cx="6928961" cy="766048"/>
          </a:xfrm>
          <a:prstGeom prst="rect">
            <a:avLst/>
          </a:prstGeom>
          <a:noFill/>
          <a:ln>
            <a:noFill/>
          </a:ln>
        </p:spPr>
        <p:txBody>
          <a:bodyPr anchorCtr="0" anchor="t" bIns="0" lIns="0" spcFirstLastPara="1" rIns="0" wrap="square" tIns="0">
            <a:noAutofit/>
          </a:bodyPr>
          <a:lstStyle/>
          <a:p>
            <a:pPr indent="-342900" lvl="0" marL="342900" marR="0" rtl="0" algn="l">
              <a:lnSpc>
                <a:spcPct val="162162"/>
              </a:lnSpc>
              <a:spcBef>
                <a:spcPts val="0"/>
              </a:spcBef>
              <a:spcAft>
                <a:spcPts val="0"/>
              </a:spcAft>
              <a:buClr>
                <a:srgbClr val="3A3630"/>
              </a:buClr>
              <a:buSzPts val="1850"/>
              <a:buFont typeface="Source Sans 3"/>
              <a:buChar char="•"/>
            </a:pPr>
            <a:r>
              <a:rPr lang="en-US" sz="1850">
                <a:solidFill>
                  <a:srgbClr val="3A3630"/>
                </a:solidFill>
                <a:latin typeface="Source Sans 3"/>
                <a:ea typeface="Source Sans 3"/>
                <a:cs typeface="Source Sans 3"/>
                <a:sym typeface="Source Sans 3"/>
              </a:rPr>
              <a:t>Ví dụ: Tăng kích thước Trigram lên 10 lần (từ 100M lên 1B) → cải thiện 5% P@1</a:t>
            </a:r>
            <a:endParaRPr sz="1850">
              <a:solidFill>
                <a:schemeClr val="dk1"/>
              </a:solidFill>
              <a:latin typeface="Calibri"/>
              <a:ea typeface="Calibri"/>
              <a:cs typeface="Calibri"/>
              <a:sym typeface="Calibri"/>
            </a:endParaRPr>
          </a:p>
        </p:txBody>
      </p:sp>
      <p:sp>
        <p:nvSpPr>
          <p:cNvPr id="311" name="Google Shape;311;p25"/>
          <p:cNvSpPr/>
          <p:nvPr/>
        </p:nvSpPr>
        <p:spPr>
          <a:xfrm>
            <a:off x="5947195" y="4852927"/>
            <a:ext cx="7468553" cy="2650927"/>
          </a:xfrm>
          <a:prstGeom prst="roundRect">
            <a:avLst>
              <a:gd fmla="val 1355" name="adj"/>
            </a:avLst>
          </a:prstGeom>
          <a:solidFill>
            <a:srgbClr val="FEF5E7"/>
          </a:solidFill>
          <a:ln cap="flat" cmpd="sng" w="30475">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5"/>
          <p:cNvSpPr/>
          <p:nvPr/>
        </p:nvSpPr>
        <p:spPr>
          <a:xfrm>
            <a:off x="6216990" y="5122723"/>
            <a:ext cx="3298508"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2200"/>
              <a:buFont typeface="Lora"/>
              <a:buNone/>
            </a:pPr>
            <a:r>
              <a:rPr lang="en-US" sz="2200">
                <a:solidFill>
                  <a:srgbClr val="3A3630"/>
                </a:solidFill>
                <a:latin typeface="Lora"/>
                <a:ea typeface="Lora"/>
                <a:cs typeface="Lora"/>
                <a:sym typeface="Lora"/>
              </a:rPr>
              <a:t>Tác động của Bậc (Order)</a:t>
            </a:r>
            <a:endParaRPr sz="2200">
              <a:solidFill>
                <a:schemeClr val="dk1"/>
              </a:solidFill>
              <a:latin typeface="Calibri"/>
              <a:ea typeface="Calibri"/>
              <a:cs typeface="Calibri"/>
              <a:sym typeface="Calibri"/>
            </a:endParaRPr>
          </a:p>
        </p:txBody>
      </p:sp>
      <p:sp>
        <p:nvSpPr>
          <p:cNvPr id="313" name="Google Shape;313;p25"/>
          <p:cNvSpPr/>
          <p:nvPr/>
        </p:nvSpPr>
        <p:spPr>
          <a:xfrm>
            <a:off x="6216990" y="5618261"/>
            <a:ext cx="6928961" cy="766048"/>
          </a:xfrm>
          <a:prstGeom prst="rect">
            <a:avLst/>
          </a:prstGeom>
          <a:noFill/>
          <a:ln>
            <a:noFill/>
          </a:ln>
        </p:spPr>
        <p:txBody>
          <a:bodyPr anchorCtr="0" anchor="t" bIns="0" lIns="0" spcFirstLastPara="1" rIns="0" wrap="square" tIns="0">
            <a:noAutofit/>
          </a:bodyPr>
          <a:lstStyle/>
          <a:p>
            <a:pPr indent="-342900" lvl="0" marL="342900" marR="0" rtl="0" algn="l">
              <a:lnSpc>
                <a:spcPct val="162162"/>
              </a:lnSpc>
              <a:spcBef>
                <a:spcPts val="0"/>
              </a:spcBef>
              <a:spcAft>
                <a:spcPts val="0"/>
              </a:spcAft>
              <a:buClr>
                <a:srgbClr val="3A3630"/>
              </a:buClr>
              <a:buSzPts val="1850"/>
              <a:buFont typeface="Source Sans 3"/>
              <a:buChar char="•"/>
            </a:pPr>
            <a:r>
              <a:rPr lang="en-US" sz="1850">
                <a:solidFill>
                  <a:srgbClr val="3A3630"/>
                </a:solidFill>
                <a:latin typeface="Source Sans 3"/>
                <a:ea typeface="Source Sans 3"/>
                <a:cs typeface="Source Sans 3"/>
                <a:sym typeface="Source Sans 3"/>
              </a:rPr>
              <a:t>Trigram (Order 3) và 4-gram (Order 4) tốt hơn rõ rệt so với Bigram (Order 2)13</a:t>
            </a:r>
            <a:endParaRPr sz="1850">
              <a:solidFill>
                <a:schemeClr val="dk1"/>
              </a:solidFill>
              <a:latin typeface="Calibri"/>
              <a:ea typeface="Calibri"/>
              <a:cs typeface="Calibri"/>
              <a:sym typeface="Calibri"/>
            </a:endParaRPr>
          </a:p>
        </p:txBody>
      </p:sp>
      <p:sp>
        <p:nvSpPr>
          <p:cNvPr id="314" name="Google Shape;314;p25"/>
          <p:cNvSpPr/>
          <p:nvPr/>
        </p:nvSpPr>
        <p:spPr>
          <a:xfrm>
            <a:off x="6216990" y="6468010"/>
            <a:ext cx="6928961" cy="766048"/>
          </a:xfrm>
          <a:prstGeom prst="rect">
            <a:avLst/>
          </a:prstGeom>
          <a:noFill/>
          <a:ln>
            <a:noFill/>
          </a:ln>
        </p:spPr>
        <p:txBody>
          <a:bodyPr anchorCtr="0" anchor="t" bIns="0" lIns="0" spcFirstLastPara="1" rIns="0" wrap="square" tIns="0">
            <a:noAutofit/>
          </a:bodyPr>
          <a:lstStyle/>
          <a:p>
            <a:pPr indent="-342900" lvl="0" marL="342900" marR="0" rtl="0" algn="l">
              <a:lnSpc>
                <a:spcPct val="162162"/>
              </a:lnSpc>
              <a:spcBef>
                <a:spcPts val="0"/>
              </a:spcBef>
              <a:spcAft>
                <a:spcPts val="0"/>
              </a:spcAft>
              <a:buClr>
                <a:srgbClr val="3A3630"/>
              </a:buClr>
              <a:buSzPts val="1850"/>
              <a:buFont typeface="Source Sans 3"/>
              <a:buChar char="•"/>
            </a:pPr>
            <a:r>
              <a:rPr lang="en-US" sz="1850">
                <a:solidFill>
                  <a:srgbClr val="3A3630"/>
                </a:solidFill>
                <a:latin typeface="Source Sans 3"/>
                <a:ea typeface="Source Sans 3"/>
                <a:cs typeface="Source Sans 3"/>
                <a:sym typeface="Source Sans 3"/>
              </a:rPr>
              <a:t>4-gram chỉ tăng nhẹ so với Trigram, cho thấy Trigram (bậc 3) là lựa chọn cân bằng (hợp lý nhất) giữa hiệu quả và chi phí</a:t>
            </a:r>
            <a:endParaRPr sz="1850">
              <a:solidFill>
                <a:schemeClr val="dk1"/>
              </a:solidFill>
              <a:latin typeface="Calibri"/>
              <a:ea typeface="Calibri"/>
              <a:cs typeface="Calibri"/>
              <a:sym typeface="Calibri"/>
            </a:endParaRPr>
          </a:p>
        </p:txBody>
      </p:sp>
      <p:pic>
        <p:nvPicPr>
          <p:cNvPr id="315" name="Google Shape;315;p25"/>
          <p:cNvPicPr preferRelativeResize="0"/>
          <p:nvPr/>
        </p:nvPicPr>
        <p:blipFill rotWithShape="1">
          <a:blip r:embed="rId3">
            <a:alphaModFix/>
          </a:blip>
          <a:srcRect b="-6974" l="0" r="-6974" t="0"/>
          <a:stretch/>
        </p:blipFill>
        <p:spPr>
          <a:xfrm>
            <a:off x="664875" y="1723276"/>
            <a:ext cx="4845674" cy="5156575"/>
          </a:xfrm>
          <a:prstGeom prst="rect">
            <a:avLst/>
          </a:prstGeom>
          <a:noFill/>
          <a:ln>
            <a:noFill/>
          </a:ln>
        </p:spPr>
      </p:pic>
      <p:sp>
        <p:nvSpPr>
          <p:cNvPr id="316" name="Google Shape;316;p25"/>
          <p:cNvSpPr/>
          <p:nvPr/>
        </p:nvSpPr>
        <p:spPr>
          <a:xfrm>
            <a:off x="153775" y="300150"/>
            <a:ext cx="12913200" cy="766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4400"/>
              <a:buFont typeface="Lora"/>
              <a:buNone/>
            </a:pPr>
            <a:r>
              <a:rPr lang="en-US" sz="4400">
                <a:solidFill>
                  <a:srgbClr val="38512F"/>
                </a:solidFill>
                <a:latin typeface="Lora"/>
                <a:ea typeface="Lora"/>
                <a:cs typeface="Lora"/>
                <a:sym typeface="Lora"/>
              </a:rPr>
              <a:t>Sửa lỗi chính tả Truy vấn </a:t>
            </a:r>
            <a:r>
              <a:rPr lang="en-US" sz="4400">
                <a:solidFill>
                  <a:srgbClr val="000000"/>
                </a:solidFill>
                <a:latin typeface="Lora"/>
                <a:ea typeface="Lora"/>
                <a:cs typeface="Lora"/>
                <a:sym typeface="Lora"/>
              </a:rPr>
              <a:t>📈</a:t>
            </a:r>
            <a:endParaRPr sz="4400">
              <a:solidFill>
                <a:schemeClr val="dk1"/>
              </a:solidFill>
              <a:latin typeface="Calibri"/>
              <a:ea typeface="Calibri"/>
              <a:cs typeface="Calibri"/>
              <a:sym typeface="Calibri"/>
            </a:endParaRPr>
          </a:p>
        </p:txBody>
      </p:sp>
      <p:sp>
        <p:nvSpPr>
          <p:cNvPr id="317" name="Google Shape;317;p25"/>
          <p:cNvSpPr txBox="1"/>
          <p:nvPr/>
        </p:nvSpPr>
        <p:spPr>
          <a:xfrm>
            <a:off x="777500" y="6679150"/>
            <a:ext cx="4506000" cy="8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latin typeface="Source Sans 3"/>
                <a:ea typeface="Source Sans 3"/>
                <a:cs typeface="Source Sans 3"/>
                <a:sym typeface="Source Sans 3"/>
              </a:rPr>
              <a:t>Biểu đồ 3 : Độ chính xác (Precision) của bộ sửa lỗi truy vấn khi sử dụng các mô hình ngôn ngữ anchor có các bậc (order) và kích thước khác nhau</a:t>
            </a:r>
            <a:endParaRPr sz="1600">
              <a:latin typeface="Source Sans 3"/>
              <a:ea typeface="Source Sans 3"/>
              <a:cs typeface="Source Sans 3"/>
              <a:sym typeface="Source Sans 3"/>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6"/>
          <p:cNvSpPr/>
          <p:nvPr/>
        </p:nvSpPr>
        <p:spPr>
          <a:xfrm>
            <a:off x="772716" y="607100"/>
            <a:ext cx="10681216" cy="526971"/>
          </a:xfrm>
          <a:prstGeom prst="rect">
            <a:avLst/>
          </a:prstGeom>
          <a:noFill/>
          <a:ln>
            <a:noFill/>
          </a:ln>
        </p:spPr>
        <p:txBody>
          <a:bodyPr anchorCtr="0" anchor="t" bIns="0" lIns="0" spcFirstLastPara="1" rIns="0" wrap="square" tIns="0">
            <a:noAutofit/>
          </a:bodyPr>
          <a:lstStyle/>
          <a:p>
            <a:pPr indent="0" lvl="0" marL="0" marR="0" rtl="0" algn="l">
              <a:lnSpc>
                <a:spcPct val="124615"/>
              </a:lnSpc>
              <a:spcBef>
                <a:spcPts val="0"/>
              </a:spcBef>
              <a:spcAft>
                <a:spcPts val="0"/>
              </a:spcAft>
              <a:buClr>
                <a:srgbClr val="38512F"/>
              </a:buClr>
              <a:buSzPts val="3250"/>
              <a:buFont typeface="Lora"/>
              <a:buNone/>
            </a:pPr>
            <a:r>
              <a:rPr lang="en-US" sz="3250">
                <a:solidFill>
                  <a:srgbClr val="38512F"/>
                </a:solidFill>
                <a:latin typeface="Lora"/>
                <a:ea typeface="Lora"/>
                <a:cs typeface="Lora"/>
                <a:sym typeface="Lora"/>
              </a:rPr>
              <a:t>Sửa lỗi chính tả Truy vấn </a:t>
            </a:r>
            <a:r>
              <a:rPr lang="en-US" sz="3250">
                <a:solidFill>
                  <a:srgbClr val="000000"/>
                </a:solidFill>
                <a:latin typeface="Lora"/>
                <a:ea typeface="Lora"/>
                <a:cs typeface="Lora"/>
                <a:sym typeface="Lora"/>
              </a:rPr>
              <a:t>📈</a:t>
            </a:r>
            <a:endParaRPr sz="3250">
              <a:solidFill>
                <a:schemeClr val="dk1"/>
              </a:solidFill>
              <a:latin typeface="Calibri"/>
              <a:ea typeface="Calibri"/>
              <a:cs typeface="Calibri"/>
              <a:sym typeface="Calibri"/>
            </a:endParaRPr>
          </a:p>
        </p:txBody>
      </p:sp>
      <p:sp>
        <p:nvSpPr>
          <p:cNvPr id="324" name="Google Shape;324;p26"/>
          <p:cNvSpPr/>
          <p:nvPr/>
        </p:nvSpPr>
        <p:spPr>
          <a:xfrm>
            <a:off x="772726" y="1242025"/>
            <a:ext cx="8368200" cy="353100"/>
          </a:xfrm>
          <a:prstGeom prst="rect">
            <a:avLst/>
          </a:prstGeom>
          <a:noFill/>
          <a:ln>
            <a:noFill/>
          </a:ln>
        </p:spPr>
        <p:txBody>
          <a:bodyPr anchorCtr="0" anchor="t" bIns="0" lIns="0" spcFirstLastPara="1" rIns="0" wrap="square" tIns="0">
            <a:noAutofit/>
          </a:bodyPr>
          <a:lstStyle/>
          <a:p>
            <a:pPr indent="0" lvl="0" marL="0" marR="0" rtl="0" algn="l">
              <a:lnSpc>
                <a:spcPct val="124489"/>
              </a:lnSpc>
              <a:spcBef>
                <a:spcPts val="0"/>
              </a:spcBef>
              <a:spcAft>
                <a:spcPts val="0"/>
              </a:spcAft>
              <a:buClr>
                <a:srgbClr val="38512F"/>
              </a:buClr>
              <a:buSzPts val="2450"/>
              <a:buFont typeface="Lora"/>
              <a:buNone/>
            </a:pPr>
            <a:r>
              <a:rPr lang="en-US" sz="2450">
                <a:solidFill>
                  <a:srgbClr val="38512F"/>
                </a:solidFill>
                <a:latin typeface="Lora"/>
                <a:ea typeface="Lora"/>
                <a:cs typeface="Lora"/>
                <a:sym typeface="Lora"/>
              </a:rPr>
              <a:t>Phân tích (Biểu đồ 4) (So sánh các mô hình Trigram)</a:t>
            </a:r>
            <a:endParaRPr sz="2450">
              <a:solidFill>
                <a:schemeClr val="dk1"/>
              </a:solidFill>
              <a:latin typeface="Calibri"/>
              <a:ea typeface="Calibri"/>
              <a:cs typeface="Calibri"/>
              <a:sym typeface="Calibri"/>
            </a:endParaRPr>
          </a:p>
        </p:txBody>
      </p:sp>
      <p:sp>
        <p:nvSpPr>
          <p:cNvPr id="325" name="Google Shape;325;p26"/>
          <p:cNvSpPr/>
          <p:nvPr/>
        </p:nvSpPr>
        <p:spPr>
          <a:xfrm>
            <a:off x="1099256" y="4565427"/>
            <a:ext cx="2504290" cy="411152"/>
          </a:xfrm>
          <a:prstGeom prst="rect">
            <a:avLst/>
          </a:prstGeom>
          <a:noFill/>
          <a:ln>
            <a:noFill/>
          </a:ln>
        </p:spPr>
        <p:txBody>
          <a:bodyPr anchorCtr="0" anchor="t" bIns="0" lIns="0" spcFirstLastPara="1" rIns="0" wrap="square" tIns="0">
            <a:noAutofit/>
          </a:bodyPr>
          <a:lstStyle/>
          <a:p>
            <a:pPr indent="0" lvl="0" marL="0" marR="0" rtl="0" algn="ctr">
              <a:lnSpc>
                <a:spcPct val="237500"/>
              </a:lnSpc>
              <a:spcBef>
                <a:spcPts val="0"/>
              </a:spcBef>
              <a:spcAft>
                <a:spcPts val="0"/>
              </a:spcAft>
              <a:buClr>
                <a:srgbClr val="3A3630"/>
              </a:buClr>
              <a:buSzPts val="2400"/>
              <a:buFont typeface="Lora"/>
              <a:buNone/>
            </a:pPr>
            <a:r>
              <a:rPr lang="en-US" sz="2400">
                <a:solidFill>
                  <a:srgbClr val="3A3630"/>
                </a:solidFill>
                <a:latin typeface="Lora"/>
                <a:ea typeface="Lora"/>
                <a:cs typeface="Lora"/>
                <a:sym typeface="Lora"/>
              </a:rPr>
              <a:t>70.24%</a:t>
            </a:r>
            <a:endParaRPr sz="2400">
              <a:solidFill>
                <a:schemeClr val="dk1"/>
              </a:solidFill>
              <a:latin typeface="Calibri"/>
              <a:ea typeface="Calibri"/>
              <a:cs typeface="Calibri"/>
              <a:sym typeface="Calibri"/>
            </a:endParaRPr>
          </a:p>
        </p:txBody>
      </p:sp>
      <p:sp>
        <p:nvSpPr>
          <p:cNvPr id="326" name="Google Shape;326;p26"/>
          <p:cNvSpPr/>
          <p:nvPr/>
        </p:nvSpPr>
        <p:spPr>
          <a:xfrm>
            <a:off x="1006197" y="5279324"/>
            <a:ext cx="2597348" cy="324683"/>
          </a:xfrm>
          <a:prstGeom prst="rect">
            <a:avLst/>
          </a:prstGeom>
          <a:noFill/>
          <a:ln>
            <a:noFill/>
          </a:ln>
        </p:spPr>
        <p:txBody>
          <a:bodyPr anchorCtr="0" anchor="t" bIns="0" lIns="0" spcFirstLastPara="1" rIns="0" wrap="square" tIns="0">
            <a:noAutofit/>
          </a:bodyPr>
          <a:lstStyle/>
          <a:p>
            <a:pPr indent="0" lvl="0" marL="0" marR="0" rtl="0" algn="ctr">
              <a:lnSpc>
                <a:spcPct val="141666"/>
              </a:lnSpc>
              <a:spcBef>
                <a:spcPts val="0"/>
              </a:spcBef>
              <a:spcAft>
                <a:spcPts val="0"/>
              </a:spcAft>
              <a:buClr>
                <a:srgbClr val="3A3630"/>
              </a:buClr>
              <a:buSzPts val="1800"/>
              <a:buFont typeface="Lora"/>
              <a:buNone/>
            </a:pPr>
            <a:r>
              <a:rPr lang="en-US" sz="1800">
                <a:solidFill>
                  <a:srgbClr val="3A3630"/>
                </a:solidFill>
                <a:latin typeface="Lora"/>
                <a:ea typeface="Lora"/>
                <a:cs typeface="Lora"/>
                <a:sym typeface="Lora"/>
              </a:rPr>
              <a:t>Query LM</a:t>
            </a:r>
            <a:endParaRPr sz="1800">
              <a:solidFill>
                <a:schemeClr val="dk1"/>
              </a:solidFill>
              <a:latin typeface="Calibri"/>
              <a:ea typeface="Calibri"/>
              <a:cs typeface="Calibri"/>
              <a:sym typeface="Calibri"/>
            </a:endParaRPr>
          </a:p>
        </p:txBody>
      </p:sp>
      <p:sp>
        <p:nvSpPr>
          <p:cNvPr id="327" name="Google Shape;327;p26"/>
          <p:cNvSpPr/>
          <p:nvPr/>
        </p:nvSpPr>
        <p:spPr>
          <a:xfrm>
            <a:off x="772716" y="5736405"/>
            <a:ext cx="3064312" cy="706279"/>
          </a:xfrm>
          <a:prstGeom prst="rect">
            <a:avLst/>
          </a:prstGeom>
          <a:noFill/>
          <a:ln>
            <a:noFill/>
          </a:ln>
        </p:spPr>
        <p:txBody>
          <a:bodyPr anchorCtr="0" anchor="t" bIns="0" lIns="0" spcFirstLastPara="1" rIns="0" wrap="square" tIns="0">
            <a:noAutofit/>
          </a:bodyPr>
          <a:lstStyle/>
          <a:p>
            <a:pPr indent="0" lvl="0" marL="0" marR="0" rtl="0" algn="ctr">
              <a:lnSpc>
                <a:spcPct val="161764"/>
              </a:lnSpc>
              <a:spcBef>
                <a:spcPts val="0"/>
              </a:spcBef>
              <a:spcAft>
                <a:spcPts val="0"/>
              </a:spcAft>
              <a:buClr>
                <a:srgbClr val="3A3630"/>
              </a:buClr>
              <a:buSzPts val="1700"/>
              <a:buFont typeface="Source Sans 3"/>
              <a:buNone/>
            </a:pPr>
            <a:r>
              <a:rPr lang="en-US" sz="1700">
                <a:solidFill>
                  <a:srgbClr val="3A3630"/>
                </a:solidFill>
                <a:latin typeface="Source Sans 3"/>
                <a:ea typeface="Source Sans 3"/>
                <a:cs typeface="Source Sans 3"/>
                <a:sym typeface="Source Sans 3"/>
              </a:rPr>
              <a:t>Cao nhất. Vượt trội 5-9% so với các mô hình</a:t>
            </a:r>
            <a:r>
              <a:rPr lang="en-US" sz="1700">
                <a:solidFill>
                  <a:srgbClr val="3A3630"/>
                </a:solidFill>
                <a:latin typeface="Source Sans 3"/>
                <a:ea typeface="Source Sans 3"/>
                <a:cs typeface="Source Sans 3"/>
                <a:sym typeface="Source Sans 3"/>
              </a:rPr>
              <a:t> </a:t>
            </a:r>
            <a:endParaRPr sz="1700">
              <a:solidFill>
                <a:schemeClr val="dk1"/>
              </a:solidFill>
              <a:latin typeface="Calibri"/>
              <a:ea typeface="Calibri"/>
              <a:cs typeface="Calibri"/>
              <a:sym typeface="Calibri"/>
            </a:endParaRPr>
          </a:p>
        </p:txBody>
      </p:sp>
      <p:sp>
        <p:nvSpPr>
          <p:cNvPr id="328" name="Google Shape;328;p26"/>
          <p:cNvSpPr/>
          <p:nvPr/>
        </p:nvSpPr>
        <p:spPr>
          <a:xfrm>
            <a:off x="4439435" y="4565427"/>
            <a:ext cx="2504290" cy="411152"/>
          </a:xfrm>
          <a:prstGeom prst="rect">
            <a:avLst/>
          </a:prstGeom>
          <a:noFill/>
          <a:ln>
            <a:noFill/>
          </a:ln>
        </p:spPr>
        <p:txBody>
          <a:bodyPr anchorCtr="0" anchor="t" bIns="0" lIns="0" spcFirstLastPara="1" rIns="0" wrap="square" tIns="0">
            <a:noAutofit/>
          </a:bodyPr>
          <a:lstStyle/>
          <a:p>
            <a:pPr indent="0" lvl="0" marL="0" marR="0" rtl="0" algn="ctr">
              <a:lnSpc>
                <a:spcPct val="237500"/>
              </a:lnSpc>
              <a:spcBef>
                <a:spcPts val="0"/>
              </a:spcBef>
              <a:spcAft>
                <a:spcPts val="0"/>
              </a:spcAft>
              <a:buClr>
                <a:srgbClr val="3A3630"/>
              </a:buClr>
              <a:buSzPts val="2400"/>
              <a:buFont typeface="Lora"/>
              <a:buNone/>
            </a:pPr>
            <a:r>
              <a:rPr lang="en-US" sz="2400">
                <a:solidFill>
                  <a:srgbClr val="3A3630"/>
                </a:solidFill>
                <a:latin typeface="Lora"/>
                <a:ea typeface="Lora"/>
                <a:cs typeface="Lora"/>
                <a:sym typeface="Lora"/>
              </a:rPr>
              <a:t>63.43%</a:t>
            </a:r>
            <a:endParaRPr sz="2400">
              <a:solidFill>
                <a:schemeClr val="dk1"/>
              </a:solidFill>
              <a:latin typeface="Calibri"/>
              <a:ea typeface="Calibri"/>
              <a:cs typeface="Calibri"/>
              <a:sym typeface="Calibri"/>
            </a:endParaRPr>
          </a:p>
        </p:txBody>
      </p:sp>
      <p:sp>
        <p:nvSpPr>
          <p:cNvPr id="329" name="Google Shape;329;p26"/>
          <p:cNvSpPr/>
          <p:nvPr/>
        </p:nvSpPr>
        <p:spPr>
          <a:xfrm>
            <a:off x="4346377" y="5279324"/>
            <a:ext cx="2597348" cy="324683"/>
          </a:xfrm>
          <a:prstGeom prst="rect">
            <a:avLst/>
          </a:prstGeom>
          <a:noFill/>
          <a:ln>
            <a:noFill/>
          </a:ln>
        </p:spPr>
        <p:txBody>
          <a:bodyPr anchorCtr="0" anchor="t" bIns="0" lIns="0" spcFirstLastPara="1" rIns="0" wrap="square" tIns="0">
            <a:noAutofit/>
          </a:bodyPr>
          <a:lstStyle/>
          <a:p>
            <a:pPr indent="0" lvl="0" marL="0" marR="0" rtl="0" algn="ctr">
              <a:lnSpc>
                <a:spcPct val="141666"/>
              </a:lnSpc>
              <a:spcBef>
                <a:spcPts val="0"/>
              </a:spcBef>
              <a:spcAft>
                <a:spcPts val="0"/>
              </a:spcAft>
              <a:buClr>
                <a:srgbClr val="3A3630"/>
              </a:buClr>
              <a:buSzPts val="1800"/>
              <a:buFont typeface="Lora"/>
              <a:buNone/>
            </a:pPr>
            <a:r>
              <a:rPr lang="en-US" sz="1800">
                <a:solidFill>
                  <a:srgbClr val="3A3630"/>
                </a:solidFill>
                <a:latin typeface="Lora"/>
                <a:ea typeface="Lora"/>
                <a:cs typeface="Lora"/>
                <a:sym typeface="Lora"/>
              </a:rPr>
              <a:t>Anchor LM</a:t>
            </a:r>
            <a:endParaRPr sz="1800">
              <a:solidFill>
                <a:schemeClr val="dk1"/>
              </a:solidFill>
              <a:latin typeface="Calibri"/>
              <a:ea typeface="Calibri"/>
              <a:cs typeface="Calibri"/>
              <a:sym typeface="Calibri"/>
            </a:endParaRPr>
          </a:p>
        </p:txBody>
      </p:sp>
      <p:sp>
        <p:nvSpPr>
          <p:cNvPr id="330" name="Google Shape;330;p26"/>
          <p:cNvSpPr/>
          <p:nvPr/>
        </p:nvSpPr>
        <p:spPr>
          <a:xfrm>
            <a:off x="4112895" y="5736405"/>
            <a:ext cx="3064200" cy="353100"/>
          </a:xfrm>
          <a:prstGeom prst="rect">
            <a:avLst/>
          </a:prstGeom>
          <a:noFill/>
          <a:ln>
            <a:noFill/>
          </a:ln>
        </p:spPr>
        <p:txBody>
          <a:bodyPr anchorCtr="0" anchor="t" bIns="0" lIns="0" spcFirstLastPara="1" rIns="0" wrap="square" tIns="0">
            <a:noAutofit/>
          </a:bodyPr>
          <a:lstStyle/>
          <a:p>
            <a:pPr indent="0" lvl="0" marL="0" marR="0" rtl="0" algn="ctr">
              <a:lnSpc>
                <a:spcPct val="161764"/>
              </a:lnSpc>
              <a:spcBef>
                <a:spcPts val="0"/>
              </a:spcBef>
              <a:spcAft>
                <a:spcPts val="0"/>
              </a:spcAft>
              <a:buClr>
                <a:srgbClr val="3A3630"/>
              </a:buClr>
              <a:buSzPts val="1700"/>
              <a:buFont typeface="Source Sans 3"/>
              <a:buNone/>
            </a:pPr>
            <a:r>
              <a:rPr lang="en-US" sz="1700">
                <a:solidFill>
                  <a:srgbClr val="3A3630"/>
                </a:solidFill>
                <a:latin typeface="Source Sans 3"/>
                <a:ea typeface="Source Sans 3"/>
                <a:cs typeface="Source Sans 3"/>
                <a:sym typeface="Source Sans 3"/>
              </a:rPr>
              <a:t>Tốt thứ 2</a:t>
            </a:r>
            <a:endParaRPr sz="1700">
              <a:solidFill>
                <a:schemeClr val="dk1"/>
              </a:solidFill>
              <a:latin typeface="Calibri"/>
              <a:ea typeface="Calibri"/>
              <a:cs typeface="Calibri"/>
              <a:sym typeface="Calibri"/>
            </a:endParaRPr>
          </a:p>
        </p:txBody>
      </p:sp>
      <p:sp>
        <p:nvSpPr>
          <p:cNvPr id="331" name="Google Shape;331;p26"/>
          <p:cNvSpPr/>
          <p:nvPr/>
        </p:nvSpPr>
        <p:spPr>
          <a:xfrm>
            <a:off x="7779614" y="4565427"/>
            <a:ext cx="2504290" cy="411152"/>
          </a:xfrm>
          <a:prstGeom prst="rect">
            <a:avLst/>
          </a:prstGeom>
          <a:noFill/>
          <a:ln>
            <a:noFill/>
          </a:ln>
        </p:spPr>
        <p:txBody>
          <a:bodyPr anchorCtr="0" anchor="t" bIns="0" lIns="0" spcFirstLastPara="1" rIns="0" wrap="square" tIns="0">
            <a:noAutofit/>
          </a:bodyPr>
          <a:lstStyle/>
          <a:p>
            <a:pPr indent="0" lvl="0" marL="0" marR="0" rtl="0" algn="ctr">
              <a:lnSpc>
                <a:spcPct val="237500"/>
              </a:lnSpc>
              <a:spcBef>
                <a:spcPts val="0"/>
              </a:spcBef>
              <a:spcAft>
                <a:spcPts val="0"/>
              </a:spcAft>
              <a:buClr>
                <a:srgbClr val="3A3630"/>
              </a:buClr>
              <a:buSzPts val="2400"/>
              <a:buFont typeface="Lora"/>
              <a:buNone/>
            </a:pPr>
            <a:r>
              <a:rPr lang="en-US" sz="2400">
                <a:solidFill>
                  <a:srgbClr val="3A3630"/>
                </a:solidFill>
                <a:latin typeface="Lora"/>
                <a:ea typeface="Lora"/>
                <a:cs typeface="Lora"/>
                <a:sym typeface="Lora"/>
              </a:rPr>
              <a:t>62.78%</a:t>
            </a:r>
            <a:endParaRPr sz="2400">
              <a:solidFill>
                <a:schemeClr val="dk1"/>
              </a:solidFill>
              <a:latin typeface="Calibri"/>
              <a:ea typeface="Calibri"/>
              <a:cs typeface="Calibri"/>
              <a:sym typeface="Calibri"/>
            </a:endParaRPr>
          </a:p>
        </p:txBody>
      </p:sp>
      <p:sp>
        <p:nvSpPr>
          <p:cNvPr id="332" name="Google Shape;332;p26"/>
          <p:cNvSpPr/>
          <p:nvPr/>
        </p:nvSpPr>
        <p:spPr>
          <a:xfrm>
            <a:off x="7686556" y="5279324"/>
            <a:ext cx="2597348" cy="324683"/>
          </a:xfrm>
          <a:prstGeom prst="rect">
            <a:avLst/>
          </a:prstGeom>
          <a:noFill/>
          <a:ln>
            <a:noFill/>
          </a:ln>
        </p:spPr>
        <p:txBody>
          <a:bodyPr anchorCtr="0" anchor="t" bIns="0" lIns="0" spcFirstLastPara="1" rIns="0" wrap="square" tIns="0">
            <a:noAutofit/>
          </a:bodyPr>
          <a:lstStyle/>
          <a:p>
            <a:pPr indent="0" lvl="0" marL="0" marR="0" rtl="0" algn="ctr">
              <a:lnSpc>
                <a:spcPct val="141666"/>
              </a:lnSpc>
              <a:spcBef>
                <a:spcPts val="0"/>
              </a:spcBef>
              <a:spcAft>
                <a:spcPts val="0"/>
              </a:spcAft>
              <a:buClr>
                <a:srgbClr val="3A3630"/>
              </a:buClr>
              <a:buSzPts val="1800"/>
              <a:buFont typeface="Lora"/>
              <a:buNone/>
            </a:pPr>
            <a:r>
              <a:rPr lang="en-US" sz="1800">
                <a:solidFill>
                  <a:srgbClr val="3A3630"/>
                </a:solidFill>
                <a:latin typeface="Lora"/>
                <a:ea typeface="Lora"/>
                <a:cs typeface="Lora"/>
                <a:sym typeface="Lora"/>
              </a:rPr>
              <a:t>Title LM</a:t>
            </a:r>
            <a:endParaRPr sz="1800">
              <a:solidFill>
                <a:schemeClr val="dk1"/>
              </a:solidFill>
              <a:latin typeface="Calibri"/>
              <a:ea typeface="Calibri"/>
              <a:cs typeface="Calibri"/>
              <a:sym typeface="Calibri"/>
            </a:endParaRPr>
          </a:p>
        </p:txBody>
      </p:sp>
      <p:sp>
        <p:nvSpPr>
          <p:cNvPr id="333" name="Google Shape;333;p26"/>
          <p:cNvSpPr/>
          <p:nvPr/>
        </p:nvSpPr>
        <p:spPr>
          <a:xfrm>
            <a:off x="11119794" y="4565427"/>
            <a:ext cx="2504387" cy="411152"/>
          </a:xfrm>
          <a:prstGeom prst="rect">
            <a:avLst/>
          </a:prstGeom>
          <a:noFill/>
          <a:ln>
            <a:noFill/>
          </a:ln>
        </p:spPr>
        <p:txBody>
          <a:bodyPr anchorCtr="0" anchor="t" bIns="0" lIns="0" spcFirstLastPara="1" rIns="0" wrap="square" tIns="0">
            <a:noAutofit/>
          </a:bodyPr>
          <a:lstStyle/>
          <a:p>
            <a:pPr indent="0" lvl="0" marL="0" marR="0" rtl="0" algn="ctr">
              <a:lnSpc>
                <a:spcPct val="237500"/>
              </a:lnSpc>
              <a:spcBef>
                <a:spcPts val="0"/>
              </a:spcBef>
              <a:spcAft>
                <a:spcPts val="0"/>
              </a:spcAft>
              <a:buClr>
                <a:srgbClr val="3A3630"/>
              </a:buClr>
              <a:buSzPts val="2400"/>
              <a:buFont typeface="Lora"/>
              <a:buNone/>
            </a:pPr>
            <a:r>
              <a:rPr lang="en-US" sz="2400">
                <a:solidFill>
                  <a:srgbClr val="3A3630"/>
                </a:solidFill>
                <a:latin typeface="Lora"/>
                <a:ea typeface="Lora"/>
                <a:cs typeface="Lora"/>
                <a:sym typeface="Lora"/>
              </a:rPr>
              <a:t>61.25%</a:t>
            </a:r>
            <a:endParaRPr sz="2400">
              <a:solidFill>
                <a:schemeClr val="dk1"/>
              </a:solidFill>
              <a:latin typeface="Calibri"/>
              <a:ea typeface="Calibri"/>
              <a:cs typeface="Calibri"/>
              <a:sym typeface="Calibri"/>
            </a:endParaRPr>
          </a:p>
        </p:txBody>
      </p:sp>
      <p:sp>
        <p:nvSpPr>
          <p:cNvPr id="334" name="Google Shape;334;p26"/>
          <p:cNvSpPr/>
          <p:nvPr/>
        </p:nvSpPr>
        <p:spPr>
          <a:xfrm>
            <a:off x="11026735" y="5279324"/>
            <a:ext cx="2597348" cy="324683"/>
          </a:xfrm>
          <a:prstGeom prst="rect">
            <a:avLst/>
          </a:prstGeom>
          <a:noFill/>
          <a:ln>
            <a:noFill/>
          </a:ln>
        </p:spPr>
        <p:txBody>
          <a:bodyPr anchorCtr="0" anchor="t" bIns="0" lIns="0" spcFirstLastPara="1" rIns="0" wrap="square" tIns="0">
            <a:noAutofit/>
          </a:bodyPr>
          <a:lstStyle/>
          <a:p>
            <a:pPr indent="0" lvl="0" marL="0" marR="0" rtl="0" algn="ctr">
              <a:lnSpc>
                <a:spcPct val="141666"/>
              </a:lnSpc>
              <a:spcBef>
                <a:spcPts val="0"/>
              </a:spcBef>
              <a:spcAft>
                <a:spcPts val="0"/>
              </a:spcAft>
              <a:buClr>
                <a:srgbClr val="3A3630"/>
              </a:buClr>
              <a:buSzPts val="1800"/>
              <a:buFont typeface="Lora"/>
              <a:buNone/>
            </a:pPr>
            <a:r>
              <a:rPr lang="en-US" sz="1800">
                <a:solidFill>
                  <a:srgbClr val="3A3630"/>
                </a:solidFill>
                <a:latin typeface="Lora"/>
                <a:ea typeface="Lora"/>
                <a:cs typeface="Lora"/>
                <a:sym typeface="Lora"/>
              </a:rPr>
              <a:t>Body LM</a:t>
            </a:r>
            <a:endParaRPr sz="1800">
              <a:solidFill>
                <a:schemeClr val="dk1"/>
              </a:solidFill>
              <a:latin typeface="Calibri"/>
              <a:ea typeface="Calibri"/>
              <a:cs typeface="Calibri"/>
              <a:sym typeface="Calibri"/>
            </a:endParaRPr>
          </a:p>
        </p:txBody>
      </p:sp>
      <p:sp>
        <p:nvSpPr>
          <p:cNvPr id="335" name="Google Shape;335;p26"/>
          <p:cNvSpPr/>
          <p:nvPr/>
        </p:nvSpPr>
        <p:spPr>
          <a:xfrm>
            <a:off x="10793254" y="5736405"/>
            <a:ext cx="3064431" cy="353139"/>
          </a:xfrm>
          <a:prstGeom prst="rect">
            <a:avLst/>
          </a:prstGeom>
          <a:noFill/>
          <a:ln>
            <a:noFill/>
          </a:ln>
        </p:spPr>
        <p:txBody>
          <a:bodyPr anchorCtr="0" anchor="t" bIns="0" lIns="0" spcFirstLastPara="1" rIns="0" wrap="square" tIns="0">
            <a:noAutofit/>
          </a:bodyPr>
          <a:lstStyle/>
          <a:p>
            <a:pPr indent="0" lvl="0" marL="0" marR="0" rtl="0" algn="ctr">
              <a:lnSpc>
                <a:spcPct val="161764"/>
              </a:lnSpc>
              <a:spcBef>
                <a:spcPts val="0"/>
              </a:spcBef>
              <a:spcAft>
                <a:spcPts val="0"/>
              </a:spcAft>
              <a:buClr>
                <a:srgbClr val="3A3630"/>
              </a:buClr>
              <a:buSzPts val="1700"/>
              <a:buFont typeface="Source Sans 3"/>
              <a:buNone/>
            </a:pPr>
            <a:r>
              <a:rPr lang="en-US" sz="1700">
                <a:solidFill>
                  <a:srgbClr val="3A3630"/>
                </a:solidFill>
                <a:latin typeface="Source Sans 3"/>
                <a:ea typeface="Source Sans 3"/>
                <a:cs typeface="Source Sans 3"/>
                <a:sym typeface="Source Sans 3"/>
              </a:rPr>
              <a:t>Thấp nhất</a:t>
            </a:r>
            <a:endParaRPr sz="1700">
              <a:solidFill>
                <a:schemeClr val="dk1"/>
              </a:solidFill>
              <a:latin typeface="Calibri"/>
              <a:ea typeface="Calibri"/>
              <a:cs typeface="Calibri"/>
              <a:sym typeface="Calibri"/>
            </a:endParaRPr>
          </a:p>
        </p:txBody>
      </p:sp>
      <p:sp>
        <p:nvSpPr>
          <p:cNvPr id="336" name="Google Shape;336;p26"/>
          <p:cNvSpPr/>
          <p:nvPr/>
        </p:nvSpPr>
        <p:spPr>
          <a:xfrm>
            <a:off x="772716" y="6451639"/>
            <a:ext cx="3116818" cy="389573"/>
          </a:xfrm>
          <a:prstGeom prst="rect">
            <a:avLst/>
          </a:prstGeom>
          <a:noFill/>
          <a:ln>
            <a:noFill/>
          </a:ln>
        </p:spPr>
        <p:txBody>
          <a:bodyPr anchorCtr="0" anchor="t" bIns="0" lIns="0" spcFirstLastPara="1" rIns="0" wrap="square" tIns="0">
            <a:noAutofit/>
          </a:bodyPr>
          <a:lstStyle/>
          <a:p>
            <a:pPr indent="0" lvl="0" marL="0" marR="0" rtl="0" algn="l">
              <a:lnSpc>
                <a:spcPct val="124489"/>
              </a:lnSpc>
              <a:spcBef>
                <a:spcPts val="0"/>
              </a:spcBef>
              <a:spcAft>
                <a:spcPts val="0"/>
              </a:spcAft>
              <a:buClr>
                <a:srgbClr val="38512F"/>
              </a:buClr>
              <a:buSzPts val="2450"/>
              <a:buFont typeface="Lora"/>
              <a:buNone/>
            </a:pPr>
            <a:r>
              <a:rPr lang="en-US" sz="2450">
                <a:solidFill>
                  <a:srgbClr val="38512F"/>
                </a:solidFill>
                <a:latin typeface="Lora"/>
                <a:ea typeface="Lora"/>
                <a:cs typeface="Lora"/>
                <a:sym typeface="Lora"/>
              </a:rPr>
              <a:t>Kết luận</a:t>
            </a:r>
            <a:endParaRPr sz="2450">
              <a:solidFill>
                <a:schemeClr val="dk1"/>
              </a:solidFill>
              <a:latin typeface="Calibri"/>
              <a:ea typeface="Calibri"/>
              <a:cs typeface="Calibri"/>
              <a:sym typeface="Calibri"/>
            </a:endParaRPr>
          </a:p>
        </p:txBody>
      </p:sp>
      <p:sp>
        <p:nvSpPr>
          <p:cNvPr id="337" name="Google Shape;337;p26"/>
          <p:cNvSpPr/>
          <p:nvPr/>
        </p:nvSpPr>
        <p:spPr>
          <a:xfrm>
            <a:off x="772716" y="6841212"/>
            <a:ext cx="13084969" cy="353139"/>
          </a:xfrm>
          <a:prstGeom prst="rect">
            <a:avLst/>
          </a:prstGeom>
          <a:noFill/>
          <a:ln>
            <a:noFill/>
          </a:ln>
        </p:spPr>
        <p:txBody>
          <a:bodyPr anchorCtr="0" anchor="t" bIns="0" lIns="0" spcFirstLastPara="1" rIns="0" wrap="square" tIns="0">
            <a:noAutofit/>
          </a:bodyPr>
          <a:lstStyle/>
          <a:p>
            <a:pPr indent="-342900" lvl="0" marL="342900" marR="0" rtl="0" algn="l">
              <a:lnSpc>
                <a:spcPct val="161764"/>
              </a:lnSpc>
              <a:spcBef>
                <a:spcPts val="0"/>
              </a:spcBef>
              <a:spcAft>
                <a:spcPts val="0"/>
              </a:spcAft>
              <a:buClr>
                <a:srgbClr val="3A3630"/>
              </a:buClr>
              <a:buSzPts val="1700"/>
              <a:buFont typeface="Source Sans 3"/>
              <a:buChar char="•"/>
            </a:pPr>
            <a:r>
              <a:rPr lang="en-US" sz="1700">
                <a:solidFill>
                  <a:srgbClr val="3A3630"/>
                </a:solidFill>
                <a:latin typeface="Source Sans 3"/>
                <a:ea typeface="Source Sans 3"/>
                <a:cs typeface="Source Sans 3"/>
                <a:sym typeface="Source Sans 3"/>
              </a:rPr>
              <a:t>Query LM hiệu quả nhất vì nó được huấn luyện trên chính "ngôn ngữ truy vấn" mà nó đang cố gắng sửa</a:t>
            </a:r>
            <a:endParaRPr sz="1700">
              <a:solidFill>
                <a:schemeClr val="dk1"/>
              </a:solidFill>
              <a:latin typeface="Calibri"/>
              <a:ea typeface="Calibri"/>
              <a:cs typeface="Calibri"/>
              <a:sym typeface="Calibri"/>
            </a:endParaRPr>
          </a:p>
        </p:txBody>
      </p:sp>
      <p:sp>
        <p:nvSpPr>
          <p:cNvPr id="338" name="Google Shape;338;p26"/>
          <p:cNvSpPr/>
          <p:nvPr/>
        </p:nvSpPr>
        <p:spPr>
          <a:xfrm>
            <a:off x="772716" y="7271623"/>
            <a:ext cx="13084969" cy="353139"/>
          </a:xfrm>
          <a:prstGeom prst="rect">
            <a:avLst/>
          </a:prstGeom>
          <a:noFill/>
          <a:ln>
            <a:noFill/>
          </a:ln>
        </p:spPr>
        <p:txBody>
          <a:bodyPr anchorCtr="0" anchor="t" bIns="0" lIns="0" spcFirstLastPara="1" rIns="0" wrap="square" tIns="0">
            <a:noAutofit/>
          </a:bodyPr>
          <a:lstStyle/>
          <a:p>
            <a:pPr indent="-342900" lvl="0" marL="342900" marR="0" rtl="0" algn="l">
              <a:lnSpc>
                <a:spcPct val="161764"/>
              </a:lnSpc>
              <a:spcBef>
                <a:spcPts val="0"/>
              </a:spcBef>
              <a:spcAft>
                <a:spcPts val="0"/>
              </a:spcAft>
              <a:buClr>
                <a:srgbClr val="3A3630"/>
              </a:buClr>
              <a:buSzPts val="1700"/>
              <a:buFont typeface="Source Sans 3"/>
              <a:buChar char="•"/>
            </a:pPr>
            <a:r>
              <a:rPr lang="en-US" sz="1700">
                <a:solidFill>
                  <a:srgbClr val="3A3630"/>
                </a:solidFill>
                <a:latin typeface="Source Sans 3"/>
                <a:ea typeface="Source Sans 3"/>
                <a:cs typeface="Source Sans 3"/>
                <a:sym typeface="Source Sans 3"/>
              </a:rPr>
              <a:t>Anchor LM là nguồn thay thế tốt nhất, phù hợp với kết quả Perplexity ở Section 3</a:t>
            </a:r>
            <a:endParaRPr sz="1700">
              <a:solidFill>
                <a:schemeClr val="dk1"/>
              </a:solidFill>
              <a:latin typeface="Calibri"/>
              <a:ea typeface="Calibri"/>
              <a:cs typeface="Calibri"/>
              <a:sym typeface="Calibri"/>
            </a:endParaRPr>
          </a:p>
        </p:txBody>
      </p:sp>
      <p:pic>
        <p:nvPicPr>
          <p:cNvPr id="339" name="Google Shape;339;p26"/>
          <p:cNvPicPr preferRelativeResize="0"/>
          <p:nvPr/>
        </p:nvPicPr>
        <p:blipFill rotWithShape="1">
          <a:blip r:embed="rId3">
            <a:alphaModFix/>
          </a:blip>
          <a:srcRect b="0" l="0" r="0" t="0"/>
          <a:stretch/>
        </p:blipFill>
        <p:spPr>
          <a:xfrm>
            <a:off x="4346377" y="1729846"/>
            <a:ext cx="5238255" cy="2792427"/>
          </a:xfrm>
          <a:prstGeom prst="rect">
            <a:avLst/>
          </a:prstGeom>
          <a:noFill/>
          <a:ln>
            <a:noFill/>
          </a:ln>
        </p:spPr>
      </p:pic>
      <p:sp>
        <p:nvSpPr>
          <p:cNvPr id="340" name="Google Shape;340;p26"/>
          <p:cNvSpPr txBox="1"/>
          <p:nvPr/>
        </p:nvSpPr>
        <p:spPr>
          <a:xfrm>
            <a:off x="9895925" y="1843825"/>
            <a:ext cx="1846800" cy="254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latin typeface="Source Sans 3"/>
                <a:ea typeface="Source Sans 3"/>
                <a:cs typeface="Source Sans 3"/>
                <a:sym typeface="Source Sans 3"/>
              </a:rPr>
              <a:t>Biểu đồ 4 :Độ chính xác </a:t>
            </a:r>
            <a:r>
              <a:rPr lang="en-US" sz="1600">
                <a:latin typeface="Source Sans 3"/>
                <a:ea typeface="Source Sans 3"/>
                <a:cs typeface="Source Sans 3"/>
                <a:sym typeface="Source Sans 3"/>
              </a:rPr>
              <a:t>(Precision) </a:t>
            </a:r>
            <a:r>
              <a:rPr lang="en-US" sz="1600">
                <a:latin typeface="Source Sans 3"/>
                <a:ea typeface="Source Sans 3"/>
                <a:cs typeface="Source Sans 3"/>
                <a:sym typeface="Source Sans 3"/>
              </a:rPr>
              <a:t>của bộ sửa lỗi truy vấn khi sử dụng các mô hình ngôn ngữ có kích thước tương tự từ các nguồn khác nhau với các bậc (order) khác nhau</a:t>
            </a:r>
            <a:endParaRPr sz="1600">
              <a:latin typeface="Source Sans 3"/>
              <a:ea typeface="Source Sans 3"/>
              <a:cs typeface="Source Sans 3"/>
              <a:sym typeface="Source Sans 3"/>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7"/>
          <p:cNvSpPr/>
          <p:nvPr/>
        </p:nvSpPr>
        <p:spPr>
          <a:xfrm>
            <a:off x="608052" y="481846"/>
            <a:ext cx="11604188" cy="416362"/>
          </a:xfrm>
          <a:prstGeom prst="rect">
            <a:avLst/>
          </a:prstGeom>
          <a:noFill/>
          <a:ln>
            <a:noFill/>
          </a:ln>
        </p:spPr>
        <p:txBody>
          <a:bodyPr anchorCtr="0" anchor="t" bIns="0" lIns="0" spcFirstLastPara="1" rIns="0" wrap="square" tIns="0">
            <a:noAutofit/>
          </a:bodyPr>
          <a:lstStyle/>
          <a:p>
            <a:pPr indent="0" lvl="0" marL="0" marR="0" rtl="0" algn="l">
              <a:lnSpc>
                <a:spcPct val="125490"/>
              </a:lnSpc>
              <a:spcBef>
                <a:spcPts val="0"/>
              </a:spcBef>
              <a:spcAft>
                <a:spcPts val="0"/>
              </a:spcAft>
              <a:buClr>
                <a:srgbClr val="38512F"/>
              </a:buClr>
              <a:buSzPts val="2550"/>
              <a:buFont typeface="Lora"/>
              <a:buNone/>
            </a:pPr>
            <a:r>
              <a:rPr lang="en-US" sz="2550">
                <a:solidFill>
                  <a:srgbClr val="38512F"/>
                </a:solidFill>
                <a:latin typeface="Lora"/>
                <a:ea typeface="Lora"/>
                <a:cs typeface="Lora"/>
                <a:sym typeface="Lora"/>
              </a:rPr>
              <a:t>Phân nhóm Truy vấn ngắn (Query Bracketing) </a:t>
            </a:r>
            <a:r>
              <a:rPr lang="en-US" sz="2550">
                <a:solidFill>
                  <a:srgbClr val="000000"/>
                </a:solidFill>
                <a:latin typeface="Lora"/>
                <a:ea typeface="Lora"/>
                <a:cs typeface="Lora"/>
                <a:sym typeface="Lora"/>
              </a:rPr>
              <a:t>⚙️</a:t>
            </a:r>
            <a:endParaRPr sz="2550">
              <a:solidFill>
                <a:schemeClr val="dk1"/>
              </a:solidFill>
              <a:latin typeface="Calibri"/>
              <a:ea typeface="Calibri"/>
              <a:cs typeface="Calibri"/>
              <a:sym typeface="Calibri"/>
            </a:endParaRPr>
          </a:p>
        </p:txBody>
      </p:sp>
      <p:sp>
        <p:nvSpPr>
          <p:cNvPr id="347" name="Google Shape;347;p27"/>
          <p:cNvSpPr/>
          <p:nvPr/>
        </p:nvSpPr>
        <p:spPr>
          <a:xfrm>
            <a:off x="608052" y="967621"/>
            <a:ext cx="6121718" cy="306586"/>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38512F"/>
              </a:buClr>
              <a:buSzPts val="1900"/>
              <a:buFont typeface="Lora"/>
              <a:buNone/>
            </a:pPr>
            <a:r>
              <a:rPr lang="en-US" sz="1900">
                <a:solidFill>
                  <a:srgbClr val="38512F"/>
                </a:solidFill>
                <a:latin typeface="Lora"/>
                <a:ea typeface="Lora"/>
                <a:cs typeface="Lora"/>
                <a:sym typeface="Lora"/>
              </a:rPr>
              <a:t>Phương pháp: So sánh "Độ liên kết" (Adjacency Model)</a:t>
            </a:r>
            <a:endParaRPr sz="1900">
              <a:solidFill>
                <a:schemeClr val="dk1"/>
              </a:solidFill>
              <a:latin typeface="Calibri"/>
              <a:ea typeface="Calibri"/>
              <a:cs typeface="Calibri"/>
              <a:sym typeface="Calibri"/>
            </a:endParaRPr>
          </a:p>
        </p:txBody>
      </p:sp>
      <p:sp>
        <p:nvSpPr>
          <p:cNvPr id="348" name="Google Shape;348;p27"/>
          <p:cNvSpPr/>
          <p:nvPr/>
        </p:nvSpPr>
        <p:spPr>
          <a:xfrm>
            <a:off x="608052" y="1534716"/>
            <a:ext cx="13414296" cy="277892"/>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Source Sans 3"/>
              <a:buNone/>
            </a:pPr>
            <a:r>
              <a:rPr b="1" lang="en-US" sz="1350">
                <a:solidFill>
                  <a:srgbClr val="3A3630"/>
                </a:solidFill>
                <a:latin typeface="Source Sans 3"/>
                <a:ea typeface="Source Sans 3"/>
                <a:cs typeface="Source Sans 3"/>
                <a:sym typeface="Source Sans 3"/>
              </a:rPr>
              <a:t>Ý tưởng:</a:t>
            </a:r>
            <a:r>
              <a:rPr lang="en-US" sz="1350">
                <a:solidFill>
                  <a:srgbClr val="3A3630"/>
                </a:solidFill>
                <a:latin typeface="Source Sans 3"/>
                <a:ea typeface="Source Sans 3"/>
                <a:cs typeface="Source Sans 3"/>
                <a:sym typeface="Source Sans 3"/>
              </a:rPr>
              <a:t> Với truy vấn </a:t>
            </a:r>
            <a:r>
              <a:rPr i="1" lang="en-US" sz="1350">
                <a:solidFill>
                  <a:srgbClr val="3A3630"/>
                </a:solidFill>
                <a:latin typeface="Source Sans 3"/>
                <a:ea typeface="Source Sans 3"/>
                <a:cs typeface="Source Sans 3"/>
                <a:sym typeface="Source Sans 3"/>
              </a:rPr>
              <a:t>w_1 w_2 w_3</a:t>
            </a:r>
            <a:r>
              <a:rPr lang="en-US" sz="1350">
                <a:solidFill>
                  <a:srgbClr val="3A3630"/>
                </a:solidFill>
                <a:latin typeface="Source Sans 3"/>
                <a:ea typeface="Source Sans 3"/>
                <a:cs typeface="Source Sans 3"/>
                <a:sym typeface="Source Sans 3"/>
              </a:rPr>
              <a:t>, ta so sánh "độ liên kết" (association) của hai cặp liền kề:</a:t>
            </a:r>
            <a:endParaRPr sz="1350">
              <a:solidFill>
                <a:schemeClr val="dk1"/>
              </a:solidFill>
              <a:latin typeface="Calibri"/>
              <a:ea typeface="Calibri"/>
              <a:cs typeface="Calibri"/>
              <a:sym typeface="Calibri"/>
            </a:endParaRPr>
          </a:p>
        </p:txBody>
      </p:sp>
      <p:sp>
        <p:nvSpPr>
          <p:cNvPr id="349" name="Google Shape;349;p27"/>
          <p:cNvSpPr/>
          <p:nvPr/>
        </p:nvSpPr>
        <p:spPr>
          <a:xfrm>
            <a:off x="608052" y="2007989"/>
            <a:ext cx="13414296" cy="277892"/>
          </a:xfrm>
          <a:prstGeom prst="rect">
            <a:avLst/>
          </a:prstGeom>
          <a:noFill/>
          <a:ln>
            <a:noFill/>
          </a:ln>
        </p:spPr>
        <p:txBody>
          <a:bodyPr anchorCtr="0" anchor="t" bIns="0" lIns="0" spcFirstLastPara="1" rIns="0" wrap="square" tIns="0">
            <a:noAutofit/>
          </a:bodyPr>
          <a:lstStyle/>
          <a:p>
            <a:pPr indent="-342900" lvl="0" marL="342900" marR="0" rtl="0" algn="l">
              <a:lnSpc>
                <a:spcPct val="159259"/>
              </a:lnSpc>
              <a:spcBef>
                <a:spcPts val="0"/>
              </a:spcBef>
              <a:spcAft>
                <a:spcPts val="0"/>
              </a:spcAft>
              <a:buClr>
                <a:srgbClr val="3A3630"/>
              </a:buClr>
              <a:buSzPts val="1350"/>
              <a:buFont typeface="Source Sans 3"/>
              <a:buChar char="•"/>
            </a:pPr>
            <a:r>
              <a:rPr lang="en-US" sz="1350">
                <a:solidFill>
                  <a:srgbClr val="3A3630"/>
                </a:solidFill>
                <a:latin typeface="Source Sans 3"/>
                <a:ea typeface="Source Sans 3"/>
                <a:cs typeface="Source Sans 3"/>
                <a:sym typeface="Source Sans 3"/>
              </a:rPr>
              <a:t>Liên kết Trái: </a:t>
            </a:r>
            <a:r>
              <a:rPr i="1" lang="en-US" sz="1350">
                <a:solidFill>
                  <a:srgbClr val="3A3630"/>
                </a:solidFill>
                <a:latin typeface="Source Sans 3"/>
                <a:ea typeface="Source Sans 3"/>
                <a:cs typeface="Source Sans 3"/>
                <a:sym typeface="Source Sans 3"/>
              </a:rPr>
              <a:t>Assoc(w_1, w_2)</a:t>
            </a:r>
            <a:endParaRPr sz="1350">
              <a:solidFill>
                <a:schemeClr val="dk1"/>
              </a:solidFill>
              <a:latin typeface="Calibri"/>
              <a:ea typeface="Calibri"/>
              <a:cs typeface="Calibri"/>
              <a:sym typeface="Calibri"/>
            </a:endParaRPr>
          </a:p>
        </p:txBody>
      </p:sp>
      <p:sp>
        <p:nvSpPr>
          <p:cNvPr id="350" name="Google Shape;350;p27"/>
          <p:cNvSpPr/>
          <p:nvPr/>
        </p:nvSpPr>
        <p:spPr>
          <a:xfrm>
            <a:off x="608052" y="2346603"/>
            <a:ext cx="13414296" cy="277892"/>
          </a:xfrm>
          <a:prstGeom prst="rect">
            <a:avLst/>
          </a:prstGeom>
          <a:noFill/>
          <a:ln>
            <a:noFill/>
          </a:ln>
        </p:spPr>
        <p:txBody>
          <a:bodyPr anchorCtr="0" anchor="t" bIns="0" lIns="0" spcFirstLastPara="1" rIns="0" wrap="square" tIns="0">
            <a:noAutofit/>
          </a:bodyPr>
          <a:lstStyle/>
          <a:p>
            <a:pPr indent="-342900" lvl="0" marL="342900" marR="0" rtl="0" algn="l">
              <a:lnSpc>
                <a:spcPct val="159259"/>
              </a:lnSpc>
              <a:spcBef>
                <a:spcPts val="0"/>
              </a:spcBef>
              <a:spcAft>
                <a:spcPts val="0"/>
              </a:spcAft>
              <a:buClr>
                <a:srgbClr val="3A3630"/>
              </a:buClr>
              <a:buSzPts val="1350"/>
              <a:buFont typeface="Source Sans 3"/>
              <a:buChar char="•"/>
            </a:pPr>
            <a:r>
              <a:rPr lang="en-US" sz="1350">
                <a:solidFill>
                  <a:srgbClr val="3A3630"/>
                </a:solidFill>
                <a:latin typeface="Source Sans 3"/>
                <a:ea typeface="Source Sans 3"/>
                <a:cs typeface="Source Sans 3"/>
                <a:sym typeface="Source Sans 3"/>
              </a:rPr>
              <a:t>Liên kết Phải: </a:t>
            </a:r>
            <a:r>
              <a:rPr i="1" lang="en-US" sz="1350">
                <a:solidFill>
                  <a:srgbClr val="3A3630"/>
                </a:solidFill>
                <a:latin typeface="Source Sans 3"/>
                <a:ea typeface="Source Sans 3"/>
                <a:cs typeface="Source Sans 3"/>
                <a:sym typeface="Source Sans 3"/>
              </a:rPr>
              <a:t>Assoc(w_2, w_3)</a:t>
            </a:r>
            <a:endParaRPr sz="1350">
              <a:solidFill>
                <a:schemeClr val="dk1"/>
              </a:solidFill>
              <a:latin typeface="Calibri"/>
              <a:ea typeface="Calibri"/>
              <a:cs typeface="Calibri"/>
              <a:sym typeface="Calibri"/>
            </a:endParaRPr>
          </a:p>
        </p:txBody>
      </p:sp>
      <p:sp>
        <p:nvSpPr>
          <p:cNvPr id="351" name="Google Shape;351;p27"/>
          <p:cNvSpPr/>
          <p:nvPr/>
        </p:nvSpPr>
        <p:spPr>
          <a:xfrm>
            <a:off x="608052" y="2819876"/>
            <a:ext cx="13414296" cy="277892"/>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Source Sans 3"/>
              <a:buNone/>
            </a:pPr>
            <a:r>
              <a:rPr b="1" lang="en-US" sz="1350">
                <a:solidFill>
                  <a:srgbClr val="3A3630"/>
                </a:solidFill>
                <a:latin typeface="Source Sans 3"/>
                <a:ea typeface="Source Sans 3"/>
                <a:cs typeface="Source Sans 3"/>
                <a:sym typeface="Source Sans 3"/>
              </a:rPr>
              <a:t>Quyết định:</a:t>
            </a:r>
            <a:endParaRPr sz="1350">
              <a:solidFill>
                <a:schemeClr val="dk1"/>
              </a:solidFill>
              <a:latin typeface="Calibri"/>
              <a:ea typeface="Calibri"/>
              <a:cs typeface="Calibri"/>
              <a:sym typeface="Calibri"/>
            </a:endParaRPr>
          </a:p>
        </p:txBody>
      </p:sp>
      <p:sp>
        <p:nvSpPr>
          <p:cNvPr id="352" name="Google Shape;352;p27"/>
          <p:cNvSpPr/>
          <p:nvPr/>
        </p:nvSpPr>
        <p:spPr>
          <a:xfrm>
            <a:off x="608052" y="3293150"/>
            <a:ext cx="13414296" cy="277892"/>
          </a:xfrm>
          <a:prstGeom prst="rect">
            <a:avLst/>
          </a:prstGeom>
          <a:noFill/>
          <a:ln>
            <a:noFill/>
          </a:ln>
        </p:spPr>
        <p:txBody>
          <a:bodyPr anchorCtr="0" anchor="t" bIns="0" lIns="0" spcFirstLastPara="1" rIns="0" wrap="square" tIns="0">
            <a:noAutofit/>
          </a:bodyPr>
          <a:lstStyle/>
          <a:p>
            <a:pPr indent="-342900" lvl="0" marL="342900" marR="0" rtl="0" algn="l">
              <a:lnSpc>
                <a:spcPct val="159259"/>
              </a:lnSpc>
              <a:spcBef>
                <a:spcPts val="0"/>
              </a:spcBef>
              <a:spcAft>
                <a:spcPts val="0"/>
              </a:spcAft>
              <a:buClr>
                <a:srgbClr val="3A3630"/>
              </a:buClr>
              <a:buSzPts val="1350"/>
              <a:buFont typeface="Source Sans 3"/>
              <a:buChar char="•"/>
            </a:pPr>
            <a:r>
              <a:rPr lang="en-US" sz="1350">
                <a:solidFill>
                  <a:srgbClr val="3A3630"/>
                </a:solidFill>
                <a:latin typeface="Source Sans 3"/>
                <a:ea typeface="Source Sans 3"/>
                <a:cs typeface="Source Sans 3"/>
                <a:sym typeface="Source Sans 3"/>
              </a:rPr>
              <a:t>Nếu </a:t>
            </a:r>
            <a:r>
              <a:rPr i="1" lang="en-US" sz="1350">
                <a:solidFill>
                  <a:srgbClr val="3A3630"/>
                </a:solidFill>
                <a:latin typeface="Source Sans 3"/>
                <a:ea typeface="Source Sans 3"/>
                <a:cs typeface="Source Sans 3"/>
                <a:sym typeface="Source Sans 3"/>
              </a:rPr>
              <a:t>Assoc(w_1, w_2) &gt; Assoc(w_2, w_3)</a:t>
            </a:r>
            <a:r>
              <a:rPr lang="en-US" sz="1350">
                <a:solidFill>
                  <a:srgbClr val="3A3630"/>
                </a:solidFill>
                <a:latin typeface="Source Sans 3"/>
                <a:ea typeface="Source Sans 3"/>
                <a:cs typeface="Source Sans 3"/>
                <a:sym typeface="Source Sans 3"/>
              </a:rPr>
              <a:t> → Chọn cấu trúc Trái</a:t>
            </a:r>
            <a:endParaRPr sz="1350">
              <a:solidFill>
                <a:schemeClr val="dk1"/>
              </a:solidFill>
              <a:latin typeface="Calibri"/>
              <a:ea typeface="Calibri"/>
              <a:cs typeface="Calibri"/>
              <a:sym typeface="Calibri"/>
            </a:endParaRPr>
          </a:p>
        </p:txBody>
      </p:sp>
      <p:sp>
        <p:nvSpPr>
          <p:cNvPr id="353" name="Google Shape;353;p27"/>
          <p:cNvSpPr/>
          <p:nvPr/>
        </p:nvSpPr>
        <p:spPr>
          <a:xfrm>
            <a:off x="608052" y="3631763"/>
            <a:ext cx="13414296" cy="277892"/>
          </a:xfrm>
          <a:prstGeom prst="rect">
            <a:avLst/>
          </a:prstGeom>
          <a:noFill/>
          <a:ln>
            <a:noFill/>
          </a:ln>
        </p:spPr>
        <p:txBody>
          <a:bodyPr anchorCtr="0" anchor="t" bIns="0" lIns="0" spcFirstLastPara="1" rIns="0" wrap="square" tIns="0">
            <a:noAutofit/>
          </a:bodyPr>
          <a:lstStyle/>
          <a:p>
            <a:pPr indent="-342900" lvl="0" marL="342900" marR="0" rtl="0" algn="l">
              <a:lnSpc>
                <a:spcPct val="159259"/>
              </a:lnSpc>
              <a:spcBef>
                <a:spcPts val="0"/>
              </a:spcBef>
              <a:spcAft>
                <a:spcPts val="0"/>
              </a:spcAft>
              <a:buClr>
                <a:srgbClr val="3A3630"/>
              </a:buClr>
              <a:buSzPts val="1350"/>
              <a:buFont typeface="Source Sans 3"/>
              <a:buChar char="•"/>
            </a:pPr>
            <a:r>
              <a:rPr lang="en-US" sz="1350">
                <a:solidFill>
                  <a:srgbClr val="3A3630"/>
                </a:solidFill>
                <a:latin typeface="Source Sans 3"/>
                <a:ea typeface="Source Sans 3"/>
                <a:cs typeface="Source Sans 3"/>
                <a:sym typeface="Source Sans 3"/>
              </a:rPr>
              <a:t>Ngược lại → Chọn cấu trúc Phải</a:t>
            </a:r>
            <a:endParaRPr sz="1350">
              <a:solidFill>
                <a:schemeClr val="dk1"/>
              </a:solidFill>
              <a:latin typeface="Calibri"/>
              <a:ea typeface="Calibri"/>
              <a:cs typeface="Calibri"/>
              <a:sym typeface="Calibri"/>
            </a:endParaRPr>
          </a:p>
        </p:txBody>
      </p:sp>
      <p:sp>
        <p:nvSpPr>
          <p:cNvPr id="354" name="Google Shape;354;p27"/>
          <p:cNvSpPr/>
          <p:nvPr/>
        </p:nvSpPr>
        <p:spPr>
          <a:xfrm>
            <a:off x="608052" y="4170164"/>
            <a:ext cx="5451038" cy="306586"/>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000000"/>
              </a:buClr>
              <a:buSzPts val="1900"/>
              <a:buFont typeface="Lora"/>
              <a:buNone/>
            </a:pPr>
            <a:r>
              <a:rPr lang="en-US" sz="1900">
                <a:solidFill>
                  <a:srgbClr val="000000"/>
                </a:solidFill>
                <a:latin typeface="Lora"/>
                <a:ea typeface="Lora"/>
                <a:cs typeface="Lora"/>
                <a:sym typeface="Lora"/>
              </a:rPr>
              <a:t>🧮</a:t>
            </a:r>
            <a:r>
              <a:rPr lang="en-US" sz="1900">
                <a:solidFill>
                  <a:srgbClr val="38512F"/>
                </a:solidFill>
                <a:latin typeface="Lora"/>
                <a:ea typeface="Lora"/>
                <a:cs typeface="Lora"/>
                <a:sym typeface="Lora"/>
              </a:rPr>
              <a:t> Các thước đo liên kết (Association Measures)</a:t>
            </a:r>
            <a:endParaRPr sz="1900">
              <a:solidFill>
                <a:schemeClr val="dk1"/>
              </a:solidFill>
              <a:latin typeface="Calibri"/>
              <a:ea typeface="Calibri"/>
              <a:cs typeface="Calibri"/>
              <a:sym typeface="Calibri"/>
            </a:endParaRPr>
          </a:p>
        </p:txBody>
      </p:sp>
      <p:sp>
        <p:nvSpPr>
          <p:cNvPr id="355" name="Google Shape;355;p27"/>
          <p:cNvSpPr/>
          <p:nvPr/>
        </p:nvSpPr>
        <p:spPr>
          <a:xfrm>
            <a:off x="608052" y="4737259"/>
            <a:ext cx="4355544" cy="3010376"/>
          </a:xfrm>
          <a:prstGeom prst="roundRect">
            <a:avLst>
              <a:gd fmla="val 866" name="adj"/>
            </a:avLst>
          </a:prstGeom>
          <a:solidFill>
            <a:srgbClr val="FEF5E7"/>
          </a:solidFill>
          <a:ln cap="flat" cmpd="sng" w="22850">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7"/>
          <p:cNvSpPr/>
          <p:nvPr/>
        </p:nvSpPr>
        <p:spPr>
          <a:xfrm>
            <a:off x="630912" y="4760119"/>
            <a:ext cx="4309824" cy="521137"/>
          </a:xfrm>
          <a:prstGeom prst="rect">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7"/>
          <p:cNvSpPr/>
          <p:nvPr/>
        </p:nvSpPr>
        <p:spPr>
          <a:xfrm>
            <a:off x="2655570" y="4857750"/>
            <a:ext cx="260509" cy="3257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A3630"/>
              </a:buClr>
              <a:buSzPts val="2050"/>
              <a:buFont typeface="Lora"/>
              <a:buNone/>
            </a:pPr>
            <a:r>
              <a:rPr lang="en-US" sz="2050">
                <a:solidFill>
                  <a:srgbClr val="3A3630"/>
                </a:solidFill>
                <a:latin typeface="Lora"/>
                <a:ea typeface="Lora"/>
                <a:cs typeface="Lora"/>
                <a:sym typeface="Lora"/>
              </a:rPr>
              <a:t>1</a:t>
            </a:r>
            <a:endParaRPr sz="2050">
              <a:solidFill>
                <a:schemeClr val="dk1"/>
              </a:solidFill>
              <a:latin typeface="Calibri"/>
              <a:ea typeface="Calibri"/>
              <a:cs typeface="Calibri"/>
              <a:sym typeface="Calibri"/>
            </a:endParaRPr>
          </a:p>
        </p:txBody>
      </p:sp>
      <p:sp>
        <p:nvSpPr>
          <p:cNvPr id="358" name="Google Shape;358;p27"/>
          <p:cNvSpPr/>
          <p:nvPr/>
        </p:nvSpPr>
        <p:spPr>
          <a:xfrm>
            <a:off x="804624" y="5454968"/>
            <a:ext cx="2634615" cy="25550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1600"/>
              <a:buFont typeface="Lora"/>
              <a:buNone/>
            </a:pPr>
            <a:r>
              <a:rPr lang="en-US" sz="1600">
                <a:solidFill>
                  <a:srgbClr val="3A3630"/>
                </a:solidFill>
                <a:latin typeface="Lora"/>
                <a:ea typeface="Lora"/>
                <a:cs typeface="Lora"/>
                <a:sym typeface="Lora"/>
              </a:rPr>
              <a:t>Conditional Probability (CP)</a:t>
            </a:r>
            <a:endParaRPr sz="1600">
              <a:solidFill>
                <a:schemeClr val="dk1"/>
              </a:solidFill>
              <a:latin typeface="Calibri"/>
              <a:ea typeface="Calibri"/>
              <a:cs typeface="Calibri"/>
              <a:sym typeface="Calibri"/>
            </a:endParaRPr>
          </a:p>
        </p:txBody>
      </p:sp>
      <p:sp>
        <p:nvSpPr>
          <p:cNvPr id="359" name="Google Shape;359;p27"/>
          <p:cNvSpPr/>
          <p:nvPr/>
        </p:nvSpPr>
        <p:spPr>
          <a:xfrm>
            <a:off x="804624" y="5814655"/>
            <a:ext cx="3962400" cy="277892"/>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Source Sans 3"/>
              <a:buNone/>
            </a:pPr>
            <a:r>
              <a:rPr b="1" lang="en-US" sz="1350">
                <a:solidFill>
                  <a:srgbClr val="3A3630"/>
                </a:solidFill>
                <a:latin typeface="Source Sans 3"/>
                <a:ea typeface="Source Sans 3"/>
                <a:cs typeface="Source Sans 3"/>
                <a:sym typeface="Source Sans 3"/>
              </a:rPr>
              <a:t>Công thức:</a:t>
            </a:r>
            <a:r>
              <a:rPr lang="en-US" sz="1350">
                <a:solidFill>
                  <a:srgbClr val="3A3630"/>
                </a:solidFill>
                <a:latin typeface="Source Sans 3"/>
                <a:ea typeface="Source Sans 3"/>
                <a:cs typeface="Source Sans 3"/>
                <a:sym typeface="Source Sans 3"/>
              </a:rPr>
              <a:t> </a:t>
            </a:r>
            <a:r>
              <a:rPr i="1" lang="en-US" sz="1350">
                <a:solidFill>
                  <a:srgbClr val="3A3630"/>
                </a:solidFill>
                <a:latin typeface="Source Sans 3"/>
                <a:ea typeface="Source Sans 3"/>
                <a:cs typeface="Source Sans 3"/>
                <a:sym typeface="Source Sans 3"/>
              </a:rPr>
              <a:t>CP(w_i, w_j) = P(w_i | w_j)</a:t>
            </a:r>
            <a:endParaRPr sz="1350">
              <a:solidFill>
                <a:schemeClr val="dk1"/>
              </a:solidFill>
              <a:latin typeface="Calibri"/>
              <a:ea typeface="Calibri"/>
              <a:cs typeface="Calibri"/>
              <a:sym typeface="Calibri"/>
            </a:endParaRPr>
          </a:p>
        </p:txBody>
      </p:sp>
      <p:sp>
        <p:nvSpPr>
          <p:cNvPr id="360" name="Google Shape;360;p27"/>
          <p:cNvSpPr/>
          <p:nvPr/>
        </p:nvSpPr>
        <p:spPr>
          <a:xfrm>
            <a:off x="804624" y="6196727"/>
            <a:ext cx="3962400" cy="555784"/>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Source Sans 3"/>
              <a:buNone/>
            </a:pPr>
            <a:r>
              <a:rPr b="1" lang="en-US" sz="1350">
                <a:solidFill>
                  <a:srgbClr val="3A3630"/>
                </a:solidFill>
                <a:latin typeface="Source Sans 3"/>
                <a:ea typeface="Source Sans 3"/>
                <a:cs typeface="Source Sans 3"/>
                <a:sym typeface="Source Sans 3"/>
              </a:rPr>
              <a:t>Giải thích:</a:t>
            </a:r>
            <a:r>
              <a:rPr lang="en-US" sz="1350">
                <a:solidFill>
                  <a:srgbClr val="3A3630"/>
                </a:solidFill>
                <a:latin typeface="Source Sans 3"/>
                <a:ea typeface="Source Sans 3"/>
                <a:cs typeface="Source Sans 3"/>
                <a:sym typeface="Source Sans 3"/>
              </a:rPr>
              <a:t> Xác suất của </a:t>
            </a:r>
            <a:r>
              <a:rPr i="1" lang="en-US" sz="1350">
                <a:solidFill>
                  <a:srgbClr val="3A3630"/>
                </a:solidFill>
                <a:latin typeface="Source Sans 3"/>
                <a:ea typeface="Source Sans 3"/>
                <a:cs typeface="Source Sans 3"/>
                <a:sym typeface="Source Sans 3"/>
              </a:rPr>
              <a:t>w_i</a:t>
            </a:r>
            <a:r>
              <a:rPr lang="en-US" sz="1350">
                <a:solidFill>
                  <a:srgbClr val="3A3630"/>
                </a:solidFill>
                <a:latin typeface="Source Sans 3"/>
                <a:ea typeface="Source Sans 3"/>
                <a:cs typeface="Source Sans 3"/>
                <a:sym typeface="Source Sans 3"/>
              </a:rPr>
              <a:t> xuất hiện khi biết </a:t>
            </a:r>
            <a:r>
              <a:rPr i="1" lang="en-US" sz="1350">
                <a:solidFill>
                  <a:srgbClr val="3A3630"/>
                </a:solidFill>
                <a:latin typeface="Source Sans 3"/>
                <a:ea typeface="Source Sans 3"/>
                <a:cs typeface="Source Sans 3"/>
                <a:sym typeface="Source Sans 3"/>
              </a:rPr>
              <a:t>w_j</a:t>
            </a:r>
            <a:r>
              <a:rPr lang="en-US" sz="1350">
                <a:solidFill>
                  <a:srgbClr val="3A3630"/>
                </a:solidFill>
                <a:latin typeface="Source Sans 3"/>
                <a:ea typeface="Source Sans 3"/>
                <a:cs typeface="Source Sans 3"/>
                <a:sym typeface="Source Sans 3"/>
              </a:rPr>
              <a:t> đã xuất hiện</a:t>
            </a:r>
            <a:endParaRPr sz="1350">
              <a:solidFill>
                <a:schemeClr val="dk1"/>
              </a:solidFill>
              <a:latin typeface="Calibri"/>
              <a:ea typeface="Calibri"/>
              <a:cs typeface="Calibri"/>
              <a:sym typeface="Calibri"/>
            </a:endParaRPr>
          </a:p>
        </p:txBody>
      </p:sp>
      <p:sp>
        <p:nvSpPr>
          <p:cNvPr id="361" name="Google Shape;361;p27"/>
          <p:cNvSpPr/>
          <p:nvPr/>
        </p:nvSpPr>
        <p:spPr>
          <a:xfrm>
            <a:off x="5137309" y="4737259"/>
            <a:ext cx="4355663" cy="3010376"/>
          </a:xfrm>
          <a:prstGeom prst="roundRect">
            <a:avLst>
              <a:gd fmla="val 866" name="adj"/>
            </a:avLst>
          </a:prstGeom>
          <a:solidFill>
            <a:srgbClr val="FEF5E7"/>
          </a:solidFill>
          <a:ln cap="flat" cmpd="sng" w="22850">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7"/>
          <p:cNvSpPr/>
          <p:nvPr/>
        </p:nvSpPr>
        <p:spPr>
          <a:xfrm>
            <a:off x="5160169" y="4760119"/>
            <a:ext cx="4309943" cy="521137"/>
          </a:xfrm>
          <a:prstGeom prst="rect">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7"/>
          <p:cNvSpPr/>
          <p:nvPr/>
        </p:nvSpPr>
        <p:spPr>
          <a:xfrm>
            <a:off x="7184827" y="4857750"/>
            <a:ext cx="260509" cy="3257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A3630"/>
              </a:buClr>
              <a:buSzPts val="2050"/>
              <a:buFont typeface="Lora"/>
              <a:buNone/>
            </a:pPr>
            <a:r>
              <a:rPr lang="en-US" sz="2050">
                <a:solidFill>
                  <a:srgbClr val="3A3630"/>
                </a:solidFill>
                <a:latin typeface="Lora"/>
                <a:ea typeface="Lora"/>
                <a:cs typeface="Lora"/>
                <a:sym typeface="Lora"/>
              </a:rPr>
              <a:t>2</a:t>
            </a:r>
            <a:endParaRPr sz="2050">
              <a:solidFill>
                <a:schemeClr val="dk1"/>
              </a:solidFill>
              <a:latin typeface="Calibri"/>
              <a:ea typeface="Calibri"/>
              <a:cs typeface="Calibri"/>
              <a:sym typeface="Calibri"/>
            </a:endParaRPr>
          </a:p>
        </p:txBody>
      </p:sp>
      <p:sp>
        <p:nvSpPr>
          <p:cNvPr id="364" name="Google Shape;364;p27"/>
          <p:cNvSpPr/>
          <p:nvPr/>
        </p:nvSpPr>
        <p:spPr>
          <a:xfrm>
            <a:off x="5333881" y="5454968"/>
            <a:ext cx="3398996" cy="25550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1600"/>
              <a:buFont typeface="Lora"/>
              <a:buNone/>
            </a:pPr>
            <a:r>
              <a:rPr lang="en-US" sz="1600">
                <a:solidFill>
                  <a:srgbClr val="3A3630"/>
                </a:solidFill>
                <a:latin typeface="Lora"/>
                <a:ea typeface="Lora"/>
                <a:cs typeface="Lora"/>
                <a:sym typeface="Lora"/>
              </a:rPr>
              <a:t>Pointwise Mutual Information (PMI)</a:t>
            </a:r>
            <a:endParaRPr sz="1600">
              <a:solidFill>
                <a:schemeClr val="dk1"/>
              </a:solidFill>
              <a:latin typeface="Calibri"/>
              <a:ea typeface="Calibri"/>
              <a:cs typeface="Calibri"/>
              <a:sym typeface="Calibri"/>
            </a:endParaRPr>
          </a:p>
        </p:txBody>
      </p:sp>
      <p:sp>
        <p:nvSpPr>
          <p:cNvPr id="365" name="Google Shape;365;p27"/>
          <p:cNvSpPr/>
          <p:nvPr/>
        </p:nvSpPr>
        <p:spPr>
          <a:xfrm>
            <a:off x="5333881" y="5930265"/>
            <a:ext cx="3962519" cy="567333"/>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chemeClr val="dk1"/>
              </a:buClr>
              <a:buSzPts val="1500"/>
              <a:buFont typeface="Calibri"/>
              <a:buNone/>
            </a:pPr>
            <a:r>
              <a:t/>
            </a:r>
            <a:endParaRPr sz="1500">
              <a:solidFill>
                <a:schemeClr val="dk1"/>
              </a:solidFill>
              <a:latin typeface="Calibri"/>
              <a:ea typeface="Calibri"/>
              <a:cs typeface="Calibri"/>
              <a:sym typeface="Calibri"/>
            </a:endParaRPr>
          </a:p>
        </p:txBody>
      </p:sp>
      <p:pic>
        <p:nvPicPr>
          <p:cNvPr descr="preencoded.png" id="366" name="Google Shape;366;p27"/>
          <p:cNvPicPr preferRelativeResize="0"/>
          <p:nvPr/>
        </p:nvPicPr>
        <p:blipFill rotWithShape="1">
          <a:blip r:embed="rId3">
            <a:alphaModFix/>
          </a:blip>
          <a:srcRect b="0" l="0" r="0" t="0"/>
          <a:stretch/>
        </p:blipFill>
        <p:spPr>
          <a:xfrm>
            <a:off x="5333881" y="5930265"/>
            <a:ext cx="3962519" cy="567333"/>
          </a:xfrm>
          <a:prstGeom prst="rect">
            <a:avLst/>
          </a:prstGeom>
          <a:noFill/>
          <a:ln>
            <a:noFill/>
          </a:ln>
        </p:spPr>
      </p:pic>
      <p:sp>
        <p:nvSpPr>
          <p:cNvPr id="367" name="Google Shape;367;p27"/>
          <p:cNvSpPr/>
          <p:nvPr/>
        </p:nvSpPr>
        <p:spPr>
          <a:xfrm>
            <a:off x="5333881" y="6717387"/>
            <a:ext cx="3962519" cy="833676"/>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Source Sans 3"/>
              <a:buNone/>
            </a:pPr>
            <a:r>
              <a:rPr b="1" lang="en-US" sz="1350">
                <a:solidFill>
                  <a:srgbClr val="3A3630"/>
                </a:solidFill>
                <a:latin typeface="Source Sans 3"/>
                <a:ea typeface="Source Sans 3"/>
                <a:cs typeface="Source Sans 3"/>
                <a:sym typeface="Source Sans 3"/>
              </a:rPr>
              <a:t>Giải thích:</a:t>
            </a:r>
            <a:r>
              <a:rPr lang="en-US" sz="1350">
                <a:solidFill>
                  <a:srgbClr val="3A3630"/>
                </a:solidFill>
                <a:latin typeface="Source Sans 3"/>
                <a:ea typeface="Source Sans 3"/>
                <a:cs typeface="Source Sans 3"/>
                <a:sym typeface="Source Sans 3"/>
              </a:rPr>
              <a:t> Đo lường xem hai từ </a:t>
            </a:r>
            <a:r>
              <a:rPr i="1" lang="en-US" sz="1350">
                <a:solidFill>
                  <a:srgbClr val="3A3630"/>
                </a:solidFill>
                <a:latin typeface="Source Sans 3"/>
                <a:ea typeface="Source Sans 3"/>
                <a:cs typeface="Source Sans 3"/>
                <a:sym typeface="Source Sans 3"/>
              </a:rPr>
              <a:t>w_i, w_j</a:t>
            </a:r>
            <a:r>
              <a:rPr lang="en-US" sz="1350">
                <a:solidFill>
                  <a:srgbClr val="3A3630"/>
                </a:solidFill>
                <a:latin typeface="Source Sans 3"/>
                <a:ea typeface="Source Sans 3"/>
                <a:cs typeface="Source Sans 3"/>
                <a:sym typeface="Source Sans 3"/>
              </a:rPr>
              <a:t> xuất hiện cùng nhau thường xuyên hơn mức ngẫu nhiên hay không. PMI càng cao, liên kết càng chặt</a:t>
            </a:r>
            <a:endParaRPr sz="1350">
              <a:solidFill>
                <a:schemeClr val="dk1"/>
              </a:solidFill>
              <a:latin typeface="Calibri"/>
              <a:ea typeface="Calibri"/>
              <a:cs typeface="Calibri"/>
              <a:sym typeface="Calibri"/>
            </a:endParaRPr>
          </a:p>
        </p:txBody>
      </p:sp>
      <p:sp>
        <p:nvSpPr>
          <p:cNvPr id="368" name="Google Shape;368;p27"/>
          <p:cNvSpPr/>
          <p:nvPr/>
        </p:nvSpPr>
        <p:spPr>
          <a:xfrm>
            <a:off x="9666684" y="4737259"/>
            <a:ext cx="4355663" cy="3010376"/>
          </a:xfrm>
          <a:prstGeom prst="roundRect">
            <a:avLst>
              <a:gd fmla="val 866" name="adj"/>
            </a:avLst>
          </a:prstGeom>
          <a:solidFill>
            <a:srgbClr val="FEF5E7"/>
          </a:solidFill>
          <a:ln cap="flat" cmpd="sng" w="22850">
            <a:solidFill>
              <a:srgbClr val="D9CDB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7"/>
          <p:cNvSpPr/>
          <p:nvPr/>
        </p:nvSpPr>
        <p:spPr>
          <a:xfrm>
            <a:off x="9689544" y="4760119"/>
            <a:ext cx="4309943" cy="521137"/>
          </a:xfrm>
          <a:prstGeom prst="rect">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7"/>
          <p:cNvSpPr/>
          <p:nvPr/>
        </p:nvSpPr>
        <p:spPr>
          <a:xfrm>
            <a:off x="11714202" y="4857750"/>
            <a:ext cx="260509" cy="3257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A3630"/>
              </a:buClr>
              <a:buSzPts val="2050"/>
              <a:buFont typeface="Lora"/>
              <a:buNone/>
            </a:pPr>
            <a:r>
              <a:rPr lang="en-US" sz="2050">
                <a:solidFill>
                  <a:srgbClr val="3A3630"/>
                </a:solidFill>
                <a:latin typeface="Lora"/>
                <a:ea typeface="Lora"/>
                <a:cs typeface="Lora"/>
                <a:sym typeface="Lora"/>
              </a:rPr>
              <a:t>3</a:t>
            </a:r>
            <a:endParaRPr sz="2050">
              <a:solidFill>
                <a:schemeClr val="dk1"/>
              </a:solidFill>
              <a:latin typeface="Calibri"/>
              <a:ea typeface="Calibri"/>
              <a:cs typeface="Calibri"/>
              <a:sym typeface="Calibri"/>
            </a:endParaRPr>
          </a:p>
        </p:txBody>
      </p:sp>
      <p:sp>
        <p:nvSpPr>
          <p:cNvPr id="371" name="Google Shape;371;p27"/>
          <p:cNvSpPr/>
          <p:nvPr/>
        </p:nvSpPr>
        <p:spPr>
          <a:xfrm>
            <a:off x="9863257" y="5454968"/>
            <a:ext cx="2043946" cy="27003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1600"/>
              <a:buFont typeface="Lora"/>
              <a:buNone/>
            </a:pPr>
            <a:r>
              <a:rPr lang="en-US" sz="1600">
                <a:solidFill>
                  <a:srgbClr val="3A3630"/>
                </a:solidFill>
                <a:latin typeface="Lora"/>
                <a:ea typeface="Lora"/>
                <a:cs typeface="Lora"/>
                <a:sym typeface="Lora"/>
              </a:rPr>
              <a:t>Chi-square (</a:t>
            </a:r>
            <a:r>
              <a:rPr i="1" lang="en-US" sz="1600">
                <a:solidFill>
                  <a:srgbClr val="3A3630"/>
                </a:solidFill>
                <a:latin typeface="Lora"/>
                <a:ea typeface="Lora"/>
                <a:cs typeface="Lora"/>
                <a:sym typeface="Lora"/>
              </a:rPr>
              <a:t>\chi^2</a:t>
            </a:r>
            <a:r>
              <a:rPr lang="en-US" sz="1600">
                <a:solidFill>
                  <a:srgbClr val="3A3630"/>
                </a:solidFill>
                <a:latin typeface="Lora"/>
                <a:ea typeface="Lora"/>
                <a:cs typeface="Lora"/>
                <a:sym typeface="Lora"/>
              </a:rPr>
              <a:t>)</a:t>
            </a:r>
            <a:endParaRPr sz="1600">
              <a:solidFill>
                <a:schemeClr val="dk1"/>
              </a:solidFill>
              <a:latin typeface="Calibri"/>
              <a:ea typeface="Calibri"/>
              <a:cs typeface="Calibri"/>
              <a:sym typeface="Calibri"/>
            </a:endParaRPr>
          </a:p>
        </p:txBody>
      </p:sp>
      <p:sp>
        <p:nvSpPr>
          <p:cNvPr id="372" name="Google Shape;372;p27"/>
          <p:cNvSpPr/>
          <p:nvPr/>
        </p:nvSpPr>
        <p:spPr>
          <a:xfrm>
            <a:off x="9863257" y="5944791"/>
            <a:ext cx="3962519" cy="514826"/>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chemeClr val="dk1"/>
              </a:buClr>
              <a:buSzPts val="1500"/>
              <a:buFont typeface="Calibri"/>
              <a:buNone/>
            </a:pPr>
            <a:r>
              <a:t/>
            </a:r>
            <a:endParaRPr sz="1500">
              <a:solidFill>
                <a:schemeClr val="dk1"/>
              </a:solidFill>
              <a:latin typeface="Calibri"/>
              <a:ea typeface="Calibri"/>
              <a:cs typeface="Calibri"/>
              <a:sym typeface="Calibri"/>
            </a:endParaRPr>
          </a:p>
        </p:txBody>
      </p:sp>
      <p:pic>
        <p:nvPicPr>
          <p:cNvPr descr="preencoded.png" id="373" name="Google Shape;373;p27"/>
          <p:cNvPicPr preferRelativeResize="0"/>
          <p:nvPr/>
        </p:nvPicPr>
        <p:blipFill rotWithShape="1">
          <a:blip r:embed="rId4">
            <a:alphaModFix/>
          </a:blip>
          <a:srcRect b="0" l="0" r="0" t="0"/>
          <a:stretch/>
        </p:blipFill>
        <p:spPr>
          <a:xfrm>
            <a:off x="9863257" y="5944791"/>
            <a:ext cx="3962519" cy="514826"/>
          </a:xfrm>
          <a:prstGeom prst="rect">
            <a:avLst/>
          </a:prstGeom>
          <a:noFill/>
          <a:ln>
            <a:noFill/>
          </a:ln>
        </p:spPr>
      </p:pic>
      <p:sp>
        <p:nvSpPr>
          <p:cNvPr id="374" name="Google Shape;374;p27"/>
          <p:cNvSpPr/>
          <p:nvPr/>
        </p:nvSpPr>
        <p:spPr>
          <a:xfrm>
            <a:off x="9863257" y="6679406"/>
            <a:ext cx="3962519" cy="277892"/>
          </a:xfrm>
          <a:prstGeom prst="rect">
            <a:avLst/>
          </a:prstGeom>
          <a:noFill/>
          <a:ln>
            <a:noFill/>
          </a:ln>
        </p:spPr>
        <p:txBody>
          <a:bodyPr anchorCtr="0" anchor="t" bIns="0" lIns="0" spcFirstLastPara="1" rIns="0" wrap="square" tIns="0">
            <a:noAutofit/>
          </a:bodyPr>
          <a:lstStyle/>
          <a:p>
            <a:pPr indent="0" lvl="0" marL="0" marR="0" rtl="0" algn="l">
              <a:lnSpc>
                <a:spcPct val="159259"/>
              </a:lnSpc>
              <a:spcBef>
                <a:spcPts val="0"/>
              </a:spcBef>
              <a:spcAft>
                <a:spcPts val="0"/>
              </a:spcAft>
              <a:buClr>
                <a:srgbClr val="3A3630"/>
              </a:buClr>
              <a:buSzPts val="1350"/>
              <a:buFont typeface="Source Sans 3"/>
              <a:buNone/>
            </a:pPr>
            <a:r>
              <a:rPr b="1" lang="en-US" sz="1350">
                <a:solidFill>
                  <a:srgbClr val="3A3630"/>
                </a:solidFill>
                <a:latin typeface="Source Sans 3"/>
                <a:ea typeface="Source Sans 3"/>
                <a:cs typeface="Source Sans 3"/>
                <a:sym typeface="Source Sans 3"/>
              </a:rPr>
              <a:t>Giải thích:</a:t>
            </a:r>
            <a:r>
              <a:rPr lang="en-US" sz="1350">
                <a:solidFill>
                  <a:srgbClr val="3A3630"/>
                </a:solidFill>
                <a:latin typeface="Source Sans 3"/>
                <a:ea typeface="Source Sans 3"/>
                <a:cs typeface="Source Sans 3"/>
                <a:sym typeface="Source Sans 3"/>
              </a:rPr>
              <a:t> Đo mức độ độc lập thống kê giữa hai từ</a:t>
            </a:r>
            <a:endParaRPr sz="135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8"/>
          <p:cNvSpPr/>
          <p:nvPr/>
        </p:nvSpPr>
        <p:spPr>
          <a:xfrm>
            <a:off x="603885" y="621268"/>
            <a:ext cx="11516678" cy="413623"/>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38512F"/>
              </a:buClr>
              <a:buSzPts val="2550"/>
              <a:buFont typeface="Lora"/>
              <a:buNone/>
            </a:pPr>
            <a:r>
              <a:rPr lang="en-US" sz="2550">
                <a:solidFill>
                  <a:srgbClr val="38512F"/>
                </a:solidFill>
                <a:latin typeface="Lora"/>
                <a:ea typeface="Lora"/>
                <a:cs typeface="Lora"/>
                <a:sym typeface="Lora"/>
              </a:rPr>
              <a:t>Phân nhóm Truy vấn ngắn (Query Bracketing) </a:t>
            </a:r>
            <a:r>
              <a:rPr lang="en-US" sz="2550">
                <a:solidFill>
                  <a:srgbClr val="000000"/>
                </a:solidFill>
                <a:latin typeface="Lora"/>
                <a:ea typeface="Lora"/>
                <a:cs typeface="Lora"/>
                <a:sym typeface="Lora"/>
              </a:rPr>
              <a:t>🔬</a:t>
            </a:r>
            <a:endParaRPr sz="2550">
              <a:solidFill>
                <a:schemeClr val="dk1"/>
              </a:solidFill>
              <a:latin typeface="Calibri"/>
              <a:ea typeface="Calibri"/>
              <a:cs typeface="Calibri"/>
              <a:sym typeface="Calibri"/>
            </a:endParaRPr>
          </a:p>
        </p:txBody>
      </p:sp>
      <p:sp>
        <p:nvSpPr>
          <p:cNvPr id="381" name="Google Shape;381;p28"/>
          <p:cNvSpPr/>
          <p:nvPr/>
        </p:nvSpPr>
        <p:spPr>
          <a:xfrm>
            <a:off x="603885" y="1103828"/>
            <a:ext cx="2659975" cy="304443"/>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38512F"/>
              </a:buClr>
              <a:buSzPts val="1900"/>
              <a:buFont typeface="Lora"/>
              <a:buNone/>
            </a:pPr>
            <a:r>
              <a:rPr lang="en-US" sz="1900">
                <a:solidFill>
                  <a:srgbClr val="38512F"/>
                </a:solidFill>
                <a:latin typeface="Lora"/>
                <a:ea typeface="Lora"/>
                <a:cs typeface="Lora"/>
                <a:sym typeface="Lora"/>
              </a:rPr>
              <a:t>Thí nghiệm và Đánh giá</a:t>
            </a:r>
            <a:endParaRPr sz="1900">
              <a:solidFill>
                <a:schemeClr val="dk1"/>
              </a:solidFill>
              <a:latin typeface="Calibri"/>
              <a:ea typeface="Calibri"/>
              <a:cs typeface="Calibri"/>
              <a:sym typeface="Calibri"/>
            </a:endParaRPr>
          </a:p>
        </p:txBody>
      </p:sp>
      <p:sp>
        <p:nvSpPr>
          <p:cNvPr id="382" name="Google Shape;382;p28"/>
          <p:cNvSpPr/>
          <p:nvPr/>
        </p:nvSpPr>
        <p:spPr>
          <a:xfrm>
            <a:off x="360410" y="1829738"/>
            <a:ext cx="13422600" cy="276000"/>
          </a:xfrm>
          <a:prstGeom prst="rect">
            <a:avLst/>
          </a:prstGeom>
          <a:noFill/>
          <a:ln>
            <a:noFill/>
          </a:ln>
        </p:spPr>
        <p:txBody>
          <a:bodyPr anchorCtr="0" anchor="t" bIns="0" lIns="0" spcFirstLastPara="1" rIns="0" wrap="square" tIns="0">
            <a:noAutofit/>
          </a:bodyPr>
          <a:lstStyle/>
          <a:p>
            <a:pPr indent="-374650" lvl="0" marL="342900" marR="0" rtl="0" algn="l">
              <a:lnSpc>
                <a:spcPct val="159259"/>
              </a:lnSpc>
              <a:spcBef>
                <a:spcPts val="0"/>
              </a:spcBef>
              <a:spcAft>
                <a:spcPts val="0"/>
              </a:spcAft>
              <a:buClr>
                <a:srgbClr val="3A3630"/>
              </a:buClr>
              <a:buSzPts val="1850"/>
              <a:buFont typeface="Source Sans 3"/>
              <a:buChar char="•"/>
            </a:pPr>
            <a:r>
              <a:rPr lang="en-US" sz="1850">
                <a:solidFill>
                  <a:srgbClr val="3A3630"/>
                </a:solidFill>
                <a:latin typeface="Source Sans 3"/>
                <a:ea typeface="Source Sans 3"/>
                <a:cs typeface="Source Sans 3"/>
                <a:sym typeface="Source Sans 3"/>
              </a:rPr>
              <a:t>Dataset: 1.028 truy vấn 3 từ</a:t>
            </a:r>
            <a:endParaRPr sz="1850">
              <a:solidFill>
                <a:schemeClr val="dk1"/>
              </a:solidFill>
              <a:latin typeface="Calibri"/>
              <a:ea typeface="Calibri"/>
              <a:cs typeface="Calibri"/>
              <a:sym typeface="Calibri"/>
            </a:endParaRPr>
          </a:p>
        </p:txBody>
      </p:sp>
      <p:sp>
        <p:nvSpPr>
          <p:cNvPr id="383" name="Google Shape;383;p28"/>
          <p:cNvSpPr/>
          <p:nvPr/>
        </p:nvSpPr>
        <p:spPr>
          <a:xfrm>
            <a:off x="360410" y="2166090"/>
            <a:ext cx="13422600" cy="276000"/>
          </a:xfrm>
          <a:prstGeom prst="rect">
            <a:avLst/>
          </a:prstGeom>
          <a:noFill/>
          <a:ln>
            <a:noFill/>
          </a:ln>
        </p:spPr>
        <p:txBody>
          <a:bodyPr anchorCtr="0" anchor="t" bIns="0" lIns="0" spcFirstLastPara="1" rIns="0" wrap="square" tIns="0">
            <a:noAutofit/>
          </a:bodyPr>
          <a:lstStyle/>
          <a:p>
            <a:pPr indent="-374650" lvl="0" marL="342900" marR="0" rtl="0" algn="l">
              <a:lnSpc>
                <a:spcPct val="159259"/>
              </a:lnSpc>
              <a:spcBef>
                <a:spcPts val="0"/>
              </a:spcBef>
              <a:spcAft>
                <a:spcPts val="0"/>
              </a:spcAft>
              <a:buClr>
                <a:srgbClr val="3A3630"/>
              </a:buClr>
              <a:buSzPts val="1850"/>
              <a:buFont typeface="Source Sans 3"/>
              <a:buChar char="•"/>
            </a:pPr>
            <a:r>
              <a:rPr lang="en-US" sz="1850">
                <a:solidFill>
                  <a:srgbClr val="3A3630"/>
                </a:solidFill>
                <a:latin typeface="Source Sans 3"/>
                <a:ea typeface="Source Sans 3"/>
                <a:cs typeface="Source Sans 3"/>
                <a:sym typeface="Source Sans 3"/>
              </a:rPr>
              <a:t>Gán nhãn: Con người gán nhãn Trái/Phải và Mạnh/Yếu (Strong/Weak)</a:t>
            </a:r>
            <a:endParaRPr sz="1850">
              <a:solidFill>
                <a:schemeClr val="dk1"/>
              </a:solidFill>
              <a:latin typeface="Calibri"/>
              <a:ea typeface="Calibri"/>
              <a:cs typeface="Calibri"/>
              <a:sym typeface="Calibri"/>
            </a:endParaRPr>
          </a:p>
        </p:txBody>
      </p:sp>
      <p:sp>
        <p:nvSpPr>
          <p:cNvPr id="384" name="Google Shape;384;p28"/>
          <p:cNvSpPr/>
          <p:nvPr/>
        </p:nvSpPr>
        <p:spPr>
          <a:xfrm>
            <a:off x="360410" y="2502441"/>
            <a:ext cx="13422600" cy="276000"/>
          </a:xfrm>
          <a:prstGeom prst="rect">
            <a:avLst/>
          </a:prstGeom>
          <a:noFill/>
          <a:ln>
            <a:noFill/>
          </a:ln>
        </p:spPr>
        <p:txBody>
          <a:bodyPr anchorCtr="0" anchor="t" bIns="0" lIns="0" spcFirstLastPara="1" rIns="0" wrap="square" tIns="0">
            <a:noAutofit/>
          </a:bodyPr>
          <a:lstStyle/>
          <a:p>
            <a:pPr indent="-374650" lvl="0" marL="342900" marR="0" rtl="0" algn="l">
              <a:lnSpc>
                <a:spcPct val="159259"/>
              </a:lnSpc>
              <a:spcBef>
                <a:spcPts val="0"/>
              </a:spcBef>
              <a:spcAft>
                <a:spcPts val="0"/>
              </a:spcAft>
              <a:buClr>
                <a:srgbClr val="3A3630"/>
              </a:buClr>
              <a:buSzPts val="1850"/>
              <a:buFont typeface="Source Sans 3"/>
              <a:buChar char="•"/>
            </a:pPr>
            <a:r>
              <a:rPr lang="en-US" sz="1850">
                <a:solidFill>
                  <a:srgbClr val="3A3630"/>
                </a:solidFill>
                <a:latin typeface="Source Sans 3"/>
                <a:ea typeface="Source Sans 3"/>
                <a:cs typeface="Source Sans 3"/>
                <a:sym typeface="Source Sans 3"/>
              </a:rPr>
              <a:t>Baseline: Luôn đoán "Left" (vì chiếm đa số, ~60%) → Accuracy ≈ 60-66%</a:t>
            </a:r>
            <a:endParaRPr sz="1850">
              <a:solidFill>
                <a:schemeClr val="dk1"/>
              </a:solidFill>
              <a:latin typeface="Calibri"/>
              <a:ea typeface="Calibri"/>
              <a:cs typeface="Calibri"/>
              <a:sym typeface="Calibri"/>
            </a:endParaRPr>
          </a:p>
        </p:txBody>
      </p:sp>
      <p:sp>
        <p:nvSpPr>
          <p:cNvPr id="385" name="Google Shape;385;p28"/>
          <p:cNvSpPr/>
          <p:nvPr/>
        </p:nvSpPr>
        <p:spPr>
          <a:xfrm>
            <a:off x="360410" y="2838793"/>
            <a:ext cx="13422600" cy="276000"/>
          </a:xfrm>
          <a:prstGeom prst="rect">
            <a:avLst/>
          </a:prstGeom>
          <a:noFill/>
          <a:ln>
            <a:noFill/>
          </a:ln>
        </p:spPr>
        <p:txBody>
          <a:bodyPr anchorCtr="0" anchor="t" bIns="0" lIns="0" spcFirstLastPara="1" rIns="0" wrap="square" tIns="0">
            <a:noAutofit/>
          </a:bodyPr>
          <a:lstStyle/>
          <a:p>
            <a:pPr indent="-374650" lvl="0" marL="342900" marR="0" rtl="0" algn="l">
              <a:lnSpc>
                <a:spcPct val="159259"/>
              </a:lnSpc>
              <a:spcBef>
                <a:spcPts val="0"/>
              </a:spcBef>
              <a:spcAft>
                <a:spcPts val="0"/>
              </a:spcAft>
              <a:buClr>
                <a:srgbClr val="3A3630"/>
              </a:buClr>
              <a:buSzPts val="1850"/>
              <a:buFont typeface="Source Sans 3"/>
              <a:buChar char="•"/>
            </a:pPr>
            <a:r>
              <a:rPr lang="en-US" sz="1850">
                <a:solidFill>
                  <a:srgbClr val="3A3630"/>
                </a:solidFill>
                <a:latin typeface="Source Sans 3"/>
                <a:ea typeface="Source Sans 3"/>
                <a:cs typeface="Source Sans 3"/>
                <a:sym typeface="Source Sans 3"/>
              </a:rPr>
              <a:t>Thước đo: Accuracy (Tỷ lệ đoán đúng Trái/Phải)</a:t>
            </a:r>
            <a:endParaRPr sz="1850">
              <a:solidFill>
                <a:schemeClr val="dk1"/>
              </a:solidFill>
              <a:latin typeface="Calibri"/>
              <a:ea typeface="Calibri"/>
              <a:cs typeface="Calibri"/>
              <a:sym typeface="Calibri"/>
            </a:endParaRPr>
          </a:p>
        </p:txBody>
      </p:sp>
      <p:sp>
        <p:nvSpPr>
          <p:cNvPr id="386" name="Google Shape;386;p28"/>
          <p:cNvSpPr/>
          <p:nvPr/>
        </p:nvSpPr>
        <p:spPr>
          <a:xfrm>
            <a:off x="10186325" y="4990600"/>
            <a:ext cx="4042200" cy="12306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000000"/>
              </a:buClr>
              <a:buSzPts val="1900"/>
              <a:buFont typeface="Lora"/>
              <a:buNone/>
            </a:pPr>
            <a:r>
              <a:rPr lang="en-US" sz="1800">
                <a:latin typeface="Source Sans 3"/>
                <a:ea typeface="Source Sans 3"/>
                <a:cs typeface="Source Sans 3"/>
                <a:sym typeface="Source Sans 3"/>
              </a:rPr>
              <a:t>Bảng 3 : Độ chính xác của việc phân cụm truy vấn khi sử dụng mô hình kề  với các thước đo liên kết từ  khác nhau</a:t>
            </a:r>
            <a:endParaRPr sz="1800">
              <a:solidFill>
                <a:schemeClr val="dk1"/>
              </a:solidFill>
              <a:latin typeface="Source Sans 3"/>
              <a:ea typeface="Source Sans 3"/>
              <a:cs typeface="Source Sans 3"/>
              <a:sym typeface="Source Sans 3"/>
            </a:endParaRPr>
          </a:p>
        </p:txBody>
      </p:sp>
      <p:sp>
        <p:nvSpPr>
          <p:cNvPr id="387" name="Google Shape;387;p28"/>
          <p:cNvSpPr/>
          <p:nvPr/>
        </p:nvSpPr>
        <p:spPr>
          <a:xfrm>
            <a:off x="522585" y="3313148"/>
            <a:ext cx="2436000" cy="3045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38512F"/>
              </a:buClr>
              <a:buSzPts val="1900"/>
              <a:buFont typeface="Lora"/>
              <a:buNone/>
            </a:pPr>
            <a:r>
              <a:rPr lang="en-US" sz="2100">
                <a:solidFill>
                  <a:srgbClr val="38512F"/>
                </a:solidFill>
                <a:latin typeface="Lora"/>
                <a:ea typeface="Lora"/>
                <a:cs typeface="Lora"/>
                <a:sym typeface="Lora"/>
              </a:rPr>
              <a:t>Phân tích Kết quả</a:t>
            </a:r>
            <a:endParaRPr sz="2100">
              <a:solidFill>
                <a:schemeClr val="dk1"/>
              </a:solidFill>
              <a:latin typeface="Calibri"/>
              <a:ea typeface="Calibri"/>
              <a:cs typeface="Calibri"/>
              <a:sym typeface="Calibri"/>
            </a:endParaRPr>
          </a:p>
        </p:txBody>
      </p:sp>
      <p:sp>
        <p:nvSpPr>
          <p:cNvPr id="388" name="Google Shape;388;p28"/>
          <p:cNvSpPr/>
          <p:nvPr/>
        </p:nvSpPr>
        <p:spPr>
          <a:xfrm>
            <a:off x="429635" y="3816008"/>
            <a:ext cx="388200" cy="388200"/>
          </a:xfrm>
          <a:prstGeom prst="roundRect">
            <a:avLst>
              <a:gd fmla="val 6667"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89" name="Google Shape;389;p28"/>
          <p:cNvSpPr/>
          <p:nvPr/>
        </p:nvSpPr>
        <p:spPr>
          <a:xfrm>
            <a:off x="501906" y="3857858"/>
            <a:ext cx="243600" cy="304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A3630"/>
              </a:buClr>
              <a:buSzPts val="1900"/>
              <a:buFont typeface="Lora"/>
              <a:buNone/>
            </a:pPr>
            <a:r>
              <a:rPr lang="en-US" sz="2100">
                <a:solidFill>
                  <a:srgbClr val="3A3630"/>
                </a:solidFill>
                <a:latin typeface="Lora"/>
                <a:ea typeface="Lora"/>
                <a:cs typeface="Lora"/>
                <a:sym typeface="Lora"/>
              </a:rPr>
              <a:t>1</a:t>
            </a:r>
            <a:endParaRPr sz="2100">
              <a:solidFill>
                <a:schemeClr val="dk1"/>
              </a:solidFill>
              <a:latin typeface="Calibri"/>
              <a:ea typeface="Calibri"/>
              <a:cs typeface="Calibri"/>
              <a:sym typeface="Calibri"/>
            </a:endParaRPr>
          </a:p>
        </p:txBody>
      </p:sp>
      <p:sp>
        <p:nvSpPr>
          <p:cNvPr id="390" name="Google Shape;390;p28"/>
          <p:cNvSpPr/>
          <p:nvPr/>
        </p:nvSpPr>
        <p:spPr>
          <a:xfrm>
            <a:off x="990426" y="3875300"/>
            <a:ext cx="4398600" cy="5073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3A3630"/>
              </a:buClr>
              <a:buSzPts val="1550"/>
              <a:buFont typeface="Lora"/>
              <a:buNone/>
            </a:pPr>
            <a:r>
              <a:rPr lang="en-US" sz="1750">
                <a:solidFill>
                  <a:srgbClr val="3A3630"/>
                </a:solidFill>
                <a:latin typeface="Lora"/>
                <a:ea typeface="Lora"/>
                <a:cs typeface="Lora"/>
                <a:sym typeface="Lora"/>
              </a:rPr>
              <a:t>Làm mượt (Smoothed) &gt; Đếm thô (Raw Counts)</a:t>
            </a:r>
            <a:endParaRPr sz="1750">
              <a:solidFill>
                <a:schemeClr val="dk1"/>
              </a:solidFill>
              <a:latin typeface="Calibri"/>
              <a:ea typeface="Calibri"/>
              <a:cs typeface="Calibri"/>
              <a:sym typeface="Calibri"/>
            </a:endParaRPr>
          </a:p>
        </p:txBody>
      </p:sp>
      <p:sp>
        <p:nvSpPr>
          <p:cNvPr id="391" name="Google Shape;391;p28"/>
          <p:cNvSpPr/>
          <p:nvPr/>
        </p:nvSpPr>
        <p:spPr>
          <a:xfrm>
            <a:off x="990419" y="4486211"/>
            <a:ext cx="3769500" cy="552000"/>
          </a:xfrm>
          <a:prstGeom prst="rect">
            <a:avLst/>
          </a:prstGeom>
          <a:noFill/>
          <a:ln>
            <a:noFill/>
          </a:ln>
        </p:spPr>
        <p:txBody>
          <a:bodyPr anchorCtr="0" anchor="t" bIns="0" lIns="0" spcFirstLastPara="1" rIns="0" wrap="square" tIns="0">
            <a:noAutofit/>
          </a:bodyPr>
          <a:lstStyle/>
          <a:p>
            <a:pPr indent="-355600" lvl="0" marL="342900" marR="0" rtl="0" algn="l">
              <a:lnSpc>
                <a:spcPct val="159259"/>
              </a:lnSpc>
              <a:spcBef>
                <a:spcPts val="0"/>
              </a:spcBef>
              <a:spcAft>
                <a:spcPts val="0"/>
              </a:spcAft>
              <a:buClr>
                <a:srgbClr val="3A3630"/>
              </a:buClr>
              <a:buSzPts val="1550"/>
              <a:buFont typeface="Source Sans 3"/>
              <a:buChar char="•"/>
            </a:pPr>
            <a:r>
              <a:rPr lang="en-US" sz="1550">
                <a:solidFill>
                  <a:srgbClr val="3A3630"/>
                </a:solidFill>
                <a:latin typeface="Source Sans 3"/>
                <a:ea typeface="Source Sans 3"/>
                <a:cs typeface="Source Sans 3"/>
                <a:sym typeface="Source Sans 3"/>
              </a:rPr>
              <a:t>Dùng PMI với Smoothed LM (hàng PMI) → Accuracy ≈ 92-93%</a:t>
            </a:r>
            <a:endParaRPr sz="1550">
              <a:solidFill>
                <a:schemeClr val="dk1"/>
              </a:solidFill>
              <a:latin typeface="Calibri"/>
              <a:ea typeface="Calibri"/>
              <a:cs typeface="Calibri"/>
              <a:sym typeface="Calibri"/>
            </a:endParaRPr>
          </a:p>
        </p:txBody>
      </p:sp>
      <p:sp>
        <p:nvSpPr>
          <p:cNvPr id="392" name="Google Shape;392;p28"/>
          <p:cNvSpPr/>
          <p:nvPr/>
        </p:nvSpPr>
        <p:spPr>
          <a:xfrm>
            <a:off x="990419" y="5098549"/>
            <a:ext cx="3769500" cy="552000"/>
          </a:xfrm>
          <a:prstGeom prst="rect">
            <a:avLst/>
          </a:prstGeom>
          <a:noFill/>
          <a:ln>
            <a:noFill/>
          </a:ln>
        </p:spPr>
        <p:txBody>
          <a:bodyPr anchorCtr="0" anchor="t" bIns="0" lIns="0" spcFirstLastPara="1" rIns="0" wrap="square" tIns="0">
            <a:noAutofit/>
          </a:bodyPr>
          <a:lstStyle/>
          <a:p>
            <a:pPr indent="-355600" lvl="0" marL="342900" marR="0" rtl="0" algn="l">
              <a:lnSpc>
                <a:spcPct val="159259"/>
              </a:lnSpc>
              <a:spcBef>
                <a:spcPts val="0"/>
              </a:spcBef>
              <a:spcAft>
                <a:spcPts val="0"/>
              </a:spcAft>
              <a:buClr>
                <a:srgbClr val="3A3630"/>
              </a:buClr>
              <a:buSzPts val="1550"/>
              <a:buFont typeface="Source Sans 3"/>
              <a:buChar char="•"/>
            </a:pPr>
            <a:r>
              <a:rPr lang="en-US" sz="1550">
                <a:solidFill>
                  <a:srgbClr val="3A3630"/>
                </a:solidFill>
                <a:latin typeface="Source Sans 3"/>
                <a:ea typeface="Source Sans 3"/>
                <a:cs typeface="Source Sans 3"/>
                <a:sym typeface="Source Sans 3"/>
              </a:rPr>
              <a:t>Dùng PMI với Đếm thô (hàng PMI[MLE]) → Accuracy ≈ 84-86%</a:t>
            </a:r>
            <a:endParaRPr sz="1550">
              <a:solidFill>
                <a:schemeClr val="dk1"/>
              </a:solidFill>
              <a:latin typeface="Calibri"/>
              <a:ea typeface="Calibri"/>
              <a:cs typeface="Calibri"/>
              <a:sym typeface="Calibri"/>
            </a:endParaRPr>
          </a:p>
        </p:txBody>
      </p:sp>
      <p:sp>
        <p:nvSpPr>
          <p:cNvPr id="393" name="Google Shape;393;p28"/>
          <p:cNvSpPr/>
          <p:nvPr/>
        </p:nvSpPr>
        <p:spPr>
          <a:xfrm>
            <a:off x="990419" y="5710888"/>
            <a:ext cx="3769500" cy="552000"/>
          </a:xfrm>
          <a:prstGeom prst="rect">
            <a:avLst/>
          </a:prstGeom>
          <a:noFill/>
          <a:ln>
            <a:noFill/>
          </a:ln>
        </p:spPr>
        <p:txBody>
          <a:bodyPr anchorCtr="0" anchor="t" bIns="0" lIns="0" spcFirstLastPara="1" rIns="0" wrap="square" tIns="0">
            <a:noAutofit/>
          </a:bodyPr>
          <a:lstStyle/>
          <a:p>
            <a:pPr indent="-355600" lvl="0" marL="342900" marR="0" rtl="0" algn="l">
              <a:lnSpc>
                <a:spcPct val="159259"/>
              </a:lnSpc>
              <a:spcBef>
                <a:spcPts val="0"/>
              </a:spcBef>
              <a:spcAft>
                <a:spcPts val="0"/>
              </a:spcAft>
              <a:buClr>
                <a:srgbClr val="3A3630"/>
              </a:buClr>
              <a:buSzPts val="1550"/>
              <a:buFont typeface="Source Sans 3"/>
              <a:buChar char="•"/>
            </a:pPr>
            <a:r>
              <a:rPr lang="en-US" sz="1550">
                <a:solidFill>
                  <a:srgbClr val="3A3630"/>
                </a:solidFill>
                <a:latin typeface="Source Sans 3"/>
                <a:ea typeface="Source Sans 3"/>
                <a:cs typeface="Source Sans 3"/>
                <a:sym typeface="Source Sans 3"/>
              </a:rPr>
              <a:t>Kết luận: Smoothing (làm mượt) cải thiện đáng kể, giảm 42% lỗi so với đếm thô</a:t>
            </a:r>
            <a:endParaRPr sz="1550">
              <a:solidFill>
                <a:schemeClr val="dk1"/>
              </a:solidFill>
              <a:latin typeface="Calibri"/>
              <a:ea typeface="Calibri"/>
              <a:cs typeface="Calibri"/>
              <a:sym typeface="Calibri"/>
            </a:endParaRPr>
          </a:p>
        </p:txBody>
      </p:sp>
      <p:sp>
        <p:nvSpPr>
          <p:cNvPr id="394" name="Google Shape;394;p28"/>
          <p:cNvSpPr/>
          <p:nvPr/>
        </p:nvSpPr>
        <p:spPr>
          <a:xfrm>
            <a:off x="429625" y="6504275"/>
            <a:ext cx="387300" cy="388200"/>
          </a:xfrm>
          <a:prstGeom prst="roundRect">
            <a:avLst>
              <a:gd fmla="val 6667" name="adj"/>
            </a:avLst>
          </a:prstGeom>
          <a:solidFill>
            <a:srgbClr val="F3E7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95" name="Google Shape;395;p28"/>
          <p:cNvSpPr/>
          <p:nvPr/>
        </p:nvSpPr>
        <p:spPr>
          <a:xfrm>
            <a:off x="501732" y="6546125"/>
            <a:ext cx="243000" cy="304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A3630"/>
              </a:buClr>
              <a:buSzPts val="1900"/>
              <a:buFont typeface="Lora"/>
              <a:buNone/>
            </a:pPr>
            <a:r>
              <a:rPr lang="en-US" sz="2100">
                <a:solidFill>
                  <a:srgbClr val="3A3630"/>
                </a:solidFill>
                <a:latin typeface="Lora"/>
                <a:ea typeface="Lora"/>
                <a:cs typeface="Lora"/>
                <a:sym typeface="Lora"/>
              </a:rPr>
              <a:t>2</a:t>
            </a:r>
            <a:endParaRPr sz="2100">
              <a:solidFill>
                <a:schemeClr val="dk1"/>
              </a:solidFill>
              <a:latin typeface="Calibri"/>
              <a:ea typeface="Calibri"/>
              <a:cs typeface="Calibri"/>
              <a:sym typeface="Calibri"/>
            </a:endParaRPr>
          </a:p>
        </p:txBody>
      </p:sp>
      <p:sp>
        <p:nvSpPr>
          <p:cNvPr id="396" name="Google Shape;396;p28"/>
          <p:cNvSpPr/>
          <p:nvPr/>
        </p:nvSpPr>
        <p:spPr>
          <a:xfrm>
            <a:off x="989140" y="6563568"/>
            <a:ext cx="2025600" cy="2538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3A3630"/>
              </a:buClr>
              <a:buSzPts val="1550"/>
              <a:buFont typeface="Lora"/>
              <a:buNone/>
            </a:pPr>
            <a:r>
              <a:rPr lang="en-US" sz="1750">
                <a:solidFill>
                  <a:srgbClr val="3A3630"/>
                </a:solidFill>
                <a:latin typeface="Lora"/>
                <a:ea typeface="Lora"/>
                <a:cs typeface="Lora"/>
                <a:sym typeface="Lora"/>
              </a:rPr>
              <a:t>Thước đo tốt nhất</a:t>
            </a:r>
            <a:endParaRPr sz="1750">
              <a:solidFill>
                <a:schemeClr val="dk1"/>
              </a:solidFill>
              <a:latin typeface="Calibri"/>
              <a:ea typeface="Calibri"/>
              <a:cs typeface="Calibri"/>
              <a:sym typeface="Calibri"/>
            </a:endParaRPr>
          </a:p>
        </p:txBody>
      </p:sp>
      <p:sp>
        <p:nvSpPr>
          <p:cNvPr id="397" name="Google Shape;397;p28"/>
          <p:cNvSpPr/>
          <p:nvPr/>
        </p:nvSpPr>
        <p:spPr>
          <a:xfrm>
            <a:off x="989140" y="6920755"/>
            <a:ext cx="3761100" cy="276000"/>
          </a:xfrm>
          <a:prstGeom prst="rect">
            <a:avLst/>
          </a:prstGeom>
          <a:noFill/>
          <a:ln>
            <a:noFill/>
          </a:ln>
        </p:spPr>
        <p:txBody>
          <a:bodyPr anchorCtr="0" anchor="t" bIns="0" lIns="0" spcFirstLastPara="1" rIns="0" wrap="square" tIns="0">
            <a:noAutofit/>
          </a:bodyPr>
          <a:lstStyle/>
          <a:p>
            <a:pPr indent="-355600" lvl="0" marL="342900" marR="0" rtl="0" algn="l">
              <a:lnSpc>
                <a:spcPct val="159259"/>
              </a:lnSpc>
              <a:spcBef>
                <a:spcPts val="0"/>
              </a:spcBef>
              <a:spcAft>
                <a:spcPts val="0"/>
              </a:spcAft>
              <a:buClr>
                <a:srgbClr val="3A3630"/>
              </a:buClr>
              <a:buSzPts val="1550"/>
              <a:buFont typeface="Source Sans 3"/>
              <a:buChar char="•"/>
            </a:pPr>
            <a:r>
              <a:rPr lang="en-US" sz="1550">
                <a:solidFill>
                  <a:srgbClr val="3A3630"/>
                </a:solidFill>
                <a:latin typeface="Source Sans 3"/>
                <a:ea typeface="Source Sans 3"/>
                <a:cs typeface="Source Sans 3"/>
                <a:sym typeface="Source Sans 3"/>
              </a:rPr>
              <a:t>PMI là thước đo liên kết tốt nhất cho tác vụ này</a:t>
            </a:r>
            <a:endParaRPr sz="1550">
              <a:solidFill>
                <a:schemeClr val="dk1"/>
              </a:solidFill>
              <a:latin typeface="Calibri"/>
              <a:ea typeface="Calibri"/>
              <a:cs typeface="Calibri"/>
              <a:sym typeface="Calibri"/>
            </a:endParaRPr>
          </a:p>
        </p:txBody>
      </p:sp>
      <p:sp>
        <p:nvSpPr>
          <p:cNvPr id="398" name="Google Shape;398;p28"/>
          <p:cNvSpPr/>
          <p:nvPr/>
        </p:nvSpPr>
        <p:spPr>
          <a:xfrm>
            <a:off x="969495" y="7615900"/>
            <a:ext cx="3771000" cy="507300"/>
          </a:xfrm>
          <a:prstGeom prst="rect">
            <a:avLst/>
          </a:prstGeom>
          <a:noFill/>
          <a:ln>
            <a:noFill/>
          </a:ln>
        </p:spPr>
        <p:txBody>
          <a:bodyPr anchorCtr="0" anchor="t" bIns="0" lIns="0" spcFirstLastPara="1" rIns="0" wrap="square" tIns="0">
            <a:noAutofit/>
          </a:bodyPr>
          <a:lstStyle/>
          <a:p>
            <a:pPr indent="-355600" lvl="0" marL="342900" marR="0" rtl="0" algn="l">
              <a:lnSpc>
                <a:spcPct val="159259"/>
              </a:lnSpc>
              <a:spcBef>
                <a:spcPts val="0"/>
              </a:spcBef>
              <a:spcAft>
                <a:spcPts val="0"/>
              </a:spcAft>
              <a:buClr>
                <a:srgbClr val="3A3630"/>
              </a:buClr>
              <a:buSzPts val="1550"/>
              <a:buFont typeface="Source Sans 3"/>
              <a:buChar char="•"/>
            </a:pPr>
            <a:r>
              <a:rPr lang="en-US" sz="1550">
                <a:solidFill>
                  <a:srgbClr val="3A3630"/>
                </a:solidFill>
                <a:latin typeface="Source Sans 3"/>
                <a:ea typeface="Source Sans 3"/>
                <a:cs typeface="Source Sans 3"/>
                <a:sym typeface="Source Sans 3"/>
              </a:rPr>
              <a:t>Conditional Probability (CP) là yếu nhất</a:t>
            </a:r>
            <a:endParaRPr sz="1550">
              <a:solidFill>
                <a:schemeClr val="dk1"/>
              </a:solidFill>
              <a:latin typeface="Calibri"/>
              <a:ea typeface="Calibri"/>
              <a:cs typeface="Calibri"/>
              <a:sym typeface="Calibri"/>
            </a:endParaRPr>
          </a:p>
        </p:txBody>
      </p:sp>
      <p:sp>
        <p:nvSpPr>
          <p:cNvPr id="399" name="Google Shape;399;p28"/>
          <p:cNvSpPr/>
          <p:nvPr/>
        </p:nvSpPr>
        <p:spPr>
          <a:xfrm>
            <a:off x="5243013" y="3794250"/>
            <a:ext cx="341700" cy="431700"/>
          </a:xfrm>
          <a:prstGeom prst="roundRect">
            <a:avLst>
              <a:gd fmla="val 6667" name="adj"/>
            </a:avLst>
          </a:prstGeom>
          <a:solidFill>
            <a:srgbClr val="F3E7D4"/>
          </a:solidFill>
          <a:ln>
            <a:noFill/>
          </a:ln>
        </p:spPr>
        <p:txBody>
          <a:bodyPr anchorCtr="0" anchor="ctr" bIns="101625" lIns="101625" spcFirstLastPara="1" rIns="101625" wrap="square" tIns="101625">
            <a:noAutofit/>
          </a:bodyPr>
          <a:lstStyle/>
          <a:p>
            <a:pPr indent="0" lvl="0" marL="0" rtl="0" algn="l">
              <a:spcBef>
                <a:spcPts val="0"/>
              </a:spcBef>
              <a:spcAft>
                <a:spcPts val="0"/>
              </a:spcAft>
              <a:buNone/>
            </a:pPr>
            <a:r>
              <a:t/>
            </a:r>
            <a:endParaRPr sz="1778"/>
          </a:p>
        </p:txBody>
      </p:sp>
      <p:sp>
        <p:nvSpPr>
          <p:cNvPr id="400" name="Google Shape;400;p28"/>
          <p:cNvSpPr/>
          <p:nvPr/>
        </p:nvSpPr>
        <p:spPr>
          <a:xfrm>
            <a:off x="5306629" y="3816000"/>
            <a:ext cx="214500" cy="338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A3630"/>
              </a:buClr>
              <a:buSzPts val="2112"/>
              <a:buFont typeface="Lora"/>
              <a:buNone/>
            </a:pPr>
            <a:r>
              <a:rPr lang="en-US" sz="2334">
                <a:solidFill>
                  <a:srgbClr val="3A3630"/>
                </a:solidFill>
                <a:latin typeface="Lora"/>
                <a:ea typeface="Lora"/>
                <a:cs typeface="Lora"/>
                <a:sym typeface="Lora"/>
              </a:rPr>
              <a:t>3</a:t>
            </a:r>
            <a:endParaRPr sz="2334">
              <a:solidFill>
                <a:schemeClr val="dk1"/>
              </a:solidFill>
              <a:latin typeface="Calibri"/>
              <a:ea typeface="Calibri"/>
              <a:cs typeface="Calibri"/>
              <a:sym typeface="Calibri"/>
            </a:endParaRPr>
          </a:p>
        </p:txBody>
      </p:sp>
      <p:sp>
        <p:nvSpPr>
          <p:cNvPr id="401" name="Google Shape;401;p28"/>
          <p:cNvSpPr/>
          <p:nvPr/>
        </p:nvSpPr>
        <p:spPr>
          <a:xfrm>
            <a:off x="5736809" y="3835391"/>
            <a:ext cx="3319200" cy="5640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3A3630"/>
              </a:buClr>
              <a:buSzPts val="1723"/>
              <a:buFont typeface="Lora"/>
              <a:buNone/>
            </a:pPr>
            <a:r>
              <a:rPr lang="en-US" sz="1945">
                <a:solidFill>
                  <a:srgbClr val="3A3630"/>
                </a:solidFill>
                <a:latin typeface="Lora"/>
                <a:ea typeface="Lora"/>
                <a:cs typeface="Lora"/>
                <a:sym typeface="Lora"/>
              </a:rPr>
              <a:t>Nguồn LM tốt nhất (Cho tập Strong, dùng PMI)</a:t>
            </a:r>
            <a:endParaRPr sz="1945">
              <a:solidFill>
                <a:schemeClr val="dk1"/>
              </a:solidFill>
              <a:latin typeface="Calibri"/>
              <a:ea typeface="Calibri"/>
              <a:cs typeface="Calibri"/>
              <a:sym typeface="Calibri"/>
            </a:endParaRPr>
          </a:p>
        </p:txBody>
      </p:sp>
      <p:sp>
        <p:nvSpPr>
          <p:cNvPr id="402" name="Google Shape;402;p28"/>
          <p:cNvSpPr/>
          <p:nvPr/>
        </p:nvSpPr>
        <p:spPr>
          <a:xfrm>
            <a:off x="5736809" y="4514537"/>
            <a:ext cx="3319200" cy="306600"/>
          </a:xfrm>
          <a:prstGeom prst="rect">
            <a:avLst/>
          </a:prstGeom>
          <a:noFill/>
          <a:ln>
            <a:noFill/>
          </a:ln>
        </p:spPr>
        <p:txBody>
          <a:bodyPr anchorCtr="0" anchor="t" bIns="0" lIns="0" spcFirstLastPara="1" rIns="0" wrap="square" tIns="0">
            <a:noAutofit/>
          </a:bodyPr>
          <a:lstStyle/>
          <a:p>
            <a:pPr indent="-395318" lvl="0" marL="381199" marR="0" rtl="0" algn="l">
              <a:lnSpc>
                <a:spcPct val="159259"/>
              </a:lnSpc>
              <a:spcBef>
                <a:spcPts val="0"/>
              </a:spcBef>
              <a:spcAft>
                <a:spcPts val="0"/>
              </a:spcAft>
              <a:buClr>
                <a:srgbClr val="000000"/>
              </a:buClr>
              <a:buSzPts val="1723"/>
              <a:buFont typeface="Source Sans 3"/>
              <a:buChar char="•"/>
            </a:pPr>
            <a:r>
              <a:rPr lang="en-US" sz="1723">
                <a:solidFill>
                  <a:srgbClr val="000000"/>
                </a:solidFill>
                <a:latin typeface="Source Sans 3"/>
                <a:ea typeface="Source Sans 3"/>
                <a:cs typeface="Source Sans 3"/>
                <a:sym typeface="Source Sans 3"/>
              </a:rPr>
              <a:t>🥇</a:t>
            </a:r>
            <a:r>
              <a:rPr lang="en-US" sz="1723">
                <a:solidFill>
                  <a:srgbClr val="3A3630"/>
                </a:solidFill>
                <a:latin typeface="Source Sans 3"/>
                <a:ea typeface="Source Sans 3"/>
                <a:cs typeface="Source Sans 3"/>
                <a:sym typeface="Source Sans 3"/>
              </a:rPr>
              <a:t> Anchor LM (93.3%)</a:t>
            </a:r>
            <a:endParaRPr sz="1723">
              <a:solidFill>
                <a:schemeClr val="dk1"/>
              </a:solidFill>
              <a:latin typeface="Calibri"/>
              <a:ea typeface="Calibri"/>
              <a:cs typeface="Calibri"/>
              <a:sym typeface="Calibri"/>
            </a:endParaRPr>
          </a:p>
        </p:txBody>
      </p:sp>
      <p:sp>
        <p:nvSpPr>
          <p:cNvPr id="403" name="Google Shape;403;p28"/>
          <p:cNvSpPr/>
          <p:nvPr/>
        </p:nvSpPr>
        <p:spPr>
          <a:xfrm>
            <a:off x="5736809" y="4888458"/>
            <a:ext cx="3319200" cy="306600"/>
          </a:xfrm>
          <a:prstGeom prst="rect">
            <a:avLst/>
          </a:prstGeom>
          <a:noFill/>
          <a:ln>
            <a:noFill/>
          </a:ln>
        </p:spPr>
        <p:txBody>
          <a:bodyPr anchorCtr="0" anchor="t" bIns="0" lIns="0" spcFirstLastPara="1" rIns="0" wrap="square" tIns="0">
            <a:noAutofit/>
          </a:bodyPr>
          <a:lstStyle/>
          <a:p>
            <a:pPr indent="-395318" lvl="0" marL="381199" marR="0" rtl="0" algn="l">
              <a:lnSpc>
                <a:spcPct val="159259"/>
              </a:lnSpc>
              <a:spcBef>
                <a:spcPts val="0"/>
              </a:spcBef>
              <a:spcAft>
                <a:spcPts val="0"/>
              </a:spcAft>
              <a:buClr>
                <a:srgbClr val="000000"/>
              </a:buClr>
              <a:buSzPts val="1723"/>
              <a:buFont typeface="Source Sans 3"/>
              <a:buChar char="•"/>
            </a:pPr>
            <a:r>
              <a:rPr lang="en-US" sz="1723">
                <a:solidFill>
                  <a:srgbClr val="000000"/>
                </a:solidFill>
                <a:latin typeface="Source Sans 3"/>
                <a:ea typeface="Source Sans 3"/>
                <a:cs typeface="Source Sans 3"/>
                <a:sym typeface="Source Sans 3"/>
              </a:rPr>
              <a:t>🥈</a:t>
            </a:r>
            <a:r>
              <a:rPr lang="en-US" sz="1723">
                <a:solidFill>
                  <a:srgbClr val="3A3630"/>
                </a:solidFill>
                <a:latin typeface="Source Sans 3"/>
                <a:ea typeface="Source Sans 3"/>
                <a:cs typeface="Source Sans 3"/>
                <a:sym typeface="Source Sans 3"/>
              </a:rPr>
              <a:t> Body LM (91.1%)</a:t>
            </a:r>
            <a:endParaRPr sz="1723">
              <a:solidFill>
                <a:schemeClr val="dk1"/>
              </a:solidFill>
              <a:latin typeface="Calibri"/>
              <a:ea typeface="Calibri"/>
              <a:cs typeface="Calibri"/>
              <a:sym typeface="Calibri"/>
            </a:endParaRPr>
          </a:p>
        </p:txBody>
      </p:sp>
      <p:sp>
        <p:nvSpPr>
          <p:cNvPr id="404" name="Google Shape;404;p28"/>
          <p:cNvSpPr/>
          <p:nvPr/>
        </p:nvSpPr>
        <p:spPr>
          <a:xfrm>
            <a:off x="5736809" y="5262379"/>
            <a:ext cx="3319200" cy="306600"/>
          </a:xfrm>
          <a:prstGeom prst="rect">
            <a:avLst/>
          </a:prstGeom>
          <a:noFill/>
          <a:ln>
            <a:noFill/>
          </a:ln>
        </p:spPr>
        <p:txBody>
          <a:bodyPr anchorCtr="0" anchor="t" bIns="0" lIns="0" spcFirstLastPara="1" rIns="0" wrap="square" tIns="0">
            <a:noAutofit/>
          </a:bodyPr>
          <a:lstStyle/>
          <a:p>
            <a:pPr indent="-395318" lvl="0" marL="381199" marR="0" rtl="0" algn="l">
              <a:lnSpc>
                <a:spcPct val="159259"/>
              </a:lnSpc>
              <a:spcBef>
                <a:spcPts val="0"/>
              </a:spcBef>
              <a:spcAft>
                <a:spcPts val="0"/>
              </a:spcAft>
              <a:buClr>
                <a:srgbClr val="000000"/>
              </a:buClr>
              <a:buSzPts val="1723"/>
              <a:buFont typeface="Source Sans 3"/>
              <a:buChar char="•"/>
            </a:pPr>
            <a:r>
              <a:rPr lang="en-US" sz="1723">
                <a:solidFill>
                  <a:srgbClr val="000000"/>
                </a:solidFill>
                <a:latin typeface="Source Sans 3"/>
                <a:ea typeface="Source Sans 3"/>
                <a:cs typeface="Source Sans 3"/>
                <a:sym typeface="Source Sans 3"/>
              </a:rPr>
              <a:t>🥉</a:t>
            </a:r>
            <a:r>
              <a:rPr lang="en-US" sz="1723">
                <a:solidFill>
                  <a:srgbClr val="3A3630"/>
                </a:solidFill>
                <a:latin typeface="Source Sans 3"/>
                <a:ea typeface="Source Sans 3"/>
                <a:cs typeface="Source Sans 3"/>
                <a:sym typeface="Source Sans 3"/>
              </a:rPr>
              <a:t> Query LM (84.7%)</a:t>
            </a:r>
            <a:endParaRPr sz="1723">
              <a:solidFill>
                <a:schemeClr val="dk1"/>
              </a:solidFill>
              <a:latin typeface="Calibri"/>
              <a:ea typeface="Calibri"/>
              <a:cs typeface="Calibri"/>
              <a:sym typeface="Calibri"/>
            </a:endParaRPr>
          </a:p>
        </p:txBody>
      </p:sp>
      <p:sp>
        <p:nvSpPr>
          <p:cNvPr id="405" name="Google Shape;405;p28"/>
          <p:cNvSpPr/>
          <p:nvPr/>
        </p:nvSpPr>
        <p:spPr>
          <a:xfrm>
            <a:off x="5736802" y="5636310"/>
            <a:ext cx="3737700" cy="1227300"/>
          </a:xfrm>
          <a:prstGeom prst="rect">
            <a:avLst/>
          </a:prstGeom>
          <a:noFill/>
          <a:ln>
            <a:noFill/>
          </a:ln>
        </p:spPr>
        <p:txBody>
          <a:bodyPr anchorCtr="0" anchor="t" bIns="0" lIns="0" spcFirstLastPara="1" rIns="0" wrap="square" tIns="0">
            <a:noAutofit/>
          </a:bodyPr>
          <a:lstStyle/>
          <a:p>
            <a:pPr indent="-395318" lvl="0" marL="381199" marR="0" rtl="0" algn="l">
              <a:lnSpc>
                <a:spcPct val="159259"/>
              </a:lnSpc>
              <a:spcBef>
                <a:spcPts val="0"/>
              </a:spcBef>
              <a:spcAft>
                <a:spcPts val="0"/>
              </a:spcAft>
              <a:buClr>
                <a:srgbClr val="3A3630"/>
              </a:buClr>
              <a:buSzPts val="1723"/>
              <a:buFont typeface="Source Sans 3"/>
              <a:buChar char="•"/>
            </a:pPr>
            <a:r>
              <a:rPr lang="en-US" sz="1723">
                <a:solidFill>
                  <a:srgbClr val="3A3630"/>
                </a:solidFill>
                <a:latin typeface="Source Sans 3"/>
                <a:ea typeface="Source Sans 3"/>
                <a:cs typeface="Source Sans 3"/>
                <a:sym typeface="Source Sans 3"/>
              </a:rPr>
              <a:t>Lý do: Đây là một tác vụ về cú pháp (syntactic). Anchor (cụm danh từ ngắn) và Body (ngữ pháp đầy đủ) làm tốt. Query quá lộn xộn, thiếu ngữ pháp nên PMI không ổn định</a:t>
            </a:r>
            <a:endParaRPr sz="1723">
              <a:solidFill>
                <a:schemeClr val="dk1"/>
              </a:solidFill>
              <a:latin typeface="Calibri"/>
              <a:ea typeface="Calibri"/>
              <a:cs typeface="Calibri"/>
              <a:sym typeface="Calibri"/>
            </a:endParaRPr>
          </a:p>
        </p:txBody>
      </p:sp>
      <p:pic>
        <p:nvPicPr>
          <p:cNvPr id="406" name="Google Shape;406;p28"/>
          <p:cNvPicPr preferRelativeResize="0"/>
          <p:nvPr/>
        </p:nvPicPr>
        <p:blipFill rotWithShape="1">
          <a:blip r:embed="rId3">
            <a:alphaModFix/>
          </a:blip>
          <a:srcRect b="0" l="0" r="0" t="0"/>
          <a:stretch/>
        </p:blipFill>
        <p:spPr>
          <a:xfrm>
            <a:off x="9164554" y="1408266"/>
            <a:ext cx="5344051" cy="3470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9"/>
          <p:cNvSpPr/>
          <p:nvPr/>
        </p:nvSpPr>
        <p:spPr>
          <a:xfrm>
            <a:off x="837724" y="1240988"/>
            <a:ext cx="11355824" cy="570905"/>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8512F"/>
              </a:buClr>
              <a:buSzPts val="3500"/>
              <a:buFont typeface="Lora"/>
              <a:buNone/>
            </a:pPr>
            <a:r>
              <a:rPr lang="en-US" sz="3500">
                <a:solidFill>
                  <a:srgbClr val="38512F"/>
                </a:solidFill>
                <a:latin typeface="Lora"/>
                <a:ea typeface="Lora"/>
                <a:cs typeface="Lora"/>
                <a:sym typeface="Lora"/>
              </a:rPr>
              <a:t>Phân đoạn Truy vấn Dài </a:t>
            </a:r>
            <a:r>
              <a:rPr lang="en-US" sz="3500">
                <a:solidFill>
                  <a:srgbClr val="000000"/>
                </a:solidFill>
                <a:latin typeface="Lora"/>
                <a:ea typeface="Lora"/>
                <a:cs typeface="Lora"/>
                <a:sym typeface="Lora"/>
              </a:rPr>
              <a:t>🎯</a:t>
            </a:r>
            <a:endParaRPr sz="3500">
              <a:solidFill>
                <a:schemeClr val="dk1"/>
              </a:solidFill>
              <a:latin typeface="Calibri"/>
              <a:ea typeface="Calibri"/>
              <a:cs typeface="Calibri"/>
              <a:sym typeface="Calibri"/>
            </a:endParaRPr>
          </a:p>
        </p:txBody>
      </p:sp>
      <p:sp>
        <p:nvSpPr>
          <p:cNvPr id="413" name="Google Shape;413;p29"/>
          <p:cNvSpPr/>
          <p:nvPr/>
        </p:nvSpPr>
        <p:spPr>
          <a:xfrm>
            <a:off x="837724" y="1907619"/>
            <a:ext cx="6362938" cy="43422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38512F"/>
              </a:buClr>
              <a:buSzPts val="2650"/>
              <a:buFont typeface="Lora"/>
              <a:buNone/>
            </a:pPr>
            <a:r>
              <a:rPr lang="en-US" sz="2650">
                <a:solidFill>
                  <a:srgbClr val="38512F"/>
                </a:solidFill>
                <a:latin typeface="Lora"/>
                <a:ea typeface="Lora"/>
                <a:cs typeface="Lora"/>
                <a:sym typeface="Lora"/>
              </a:rPr>
              <a:t>Mục tiêu: Phân tích Truy vấn Dài</a:t>
            </a:r>
            <a:endParaRPr sz="2650">
              <a:solidFill>
                <a:schemeClr val="dk1"/>
              </a:solidFill>
              <a:latin typeface="Calibri"/>
              <a:ea typeface="Calibri"/>
              <a:cs typeface="Calibri"/>
              <a:sym typeface="Calibri"/>
            </a:endParaRPr>
          </a:p>
        </p:txBody>
      </p:sp>
      <p:sp>
        <p:nvSpPr>
          <p:cNvPr id="414" name="Google Shape;414;p29"/>
          <p:cNvSpPr/>
          <p:nvPr/>
        </p:nvSpPr>
        <p:spPr>
          <a:xfrm>
            <a:off x="837724" y="2700814"/>
            <a:ext cx="12954952" cy="383024"/>
          </a:xfrm>
          <a:prstGeom prst="rect">
            <a:avLst/>
          </a:prstGeom>
          <a:noFill/>
          <a:ln>
            <a:noFill/>
          </a:ln>
        </p:spPr>
        <p:txBody>
          <a:bodyPr anchorCtr="0" anchor="t" bIns="0" lIns="0" spcFirstLastPara="1" rIns="0" wrap="square" tIns="0">
            <a:noAutofit/>
          </a:bodyPr>
          <a:lstStyle/>
          <a:p>
            <a:pPr indent="-342900" lvl="0" marL="342900" marR="0" rtl="0" algn="l">
              <a:lnSpc>
                <a:spcPct val="162162"/>
              </a:lnSpc>
              <a:spcBef>
                <a:spcPts val="0"/>
              </a:spcBef>
              <a:spcAft>
                <a:spcPts val="0"/>
              </a:spcAft>
              <a:buClr>
                <a:srgbClr val="3A3630"/>
              </a:buClr>
              <a:buSzPts val="1850"/>
              <a:buFont typeface="Source Sans 3"/>
              <a:buChar char="•"/>
            </a:pPr>
            <a:r>
              <a:rPr b="1" lang="en-US" sz="1850">
                <a:solidFill>
                  <a:srgbClr val="3A3630"/>
                </a:solidFill>
                <a:latin typeface="Source Sans 3"/>
                <a:ea typeface="Source Sans 3"/>
                <a:cs typeface="Source Sans 3"/>
                <a:sym typeface="Source Sans 3"/>
              </a:rPr>
              <a:t>Tác vụ:</a:t>
            </a:r>
            <a:r>
              <a:rPr lang="en-US" sz="1850">
                <a:solidFill>
                  <a:srgbClr val="3A3630"/>
                </a:solidFill>
                <a:latin typeface="Source Sans 3"/>
                <a:ea typeface="Source Sans 3"/>
                <a:cs typeface="Source Sans 3"/>
                <a:sym typeface="Source Sans 3"/>
              </a:rPr>
              <a:t> Long Query Segmentation</a:t>
            </a:r>
            <a:endParaRPr sz="1850">
              <a:solidFill>
                <a:schemeClr val="dk1"/>
              </a:solidFill>
              <a:latin typeface="Calibri"/>
              <a:ea typeface="Calibri"/>
              <a:cs typeface="Calibri"/>
              <a:sym typeface="Calibri"/>
            </a:endParaRPr>
          </a:p>
        </p:txBody>
      </p:sp>
      <p:sp>
        <p:nvSpPr>
          <p:cNvPr id="415" name="Google Shape;415;p29"/>
          <p:cNvSpPr/>
          <p:nvPr/>
        </p:nvSpPr>
        <p:spPr>
          <a:xfrm>
            <a:off x="837724" y="3167539"/>
            <a:ext cx="12954952" cy="773668"/>
          </a:xfrm>
          <a:prstGeom prst="rect">
            <a:avLst/>
          </a:prstGeom>
          <a:noFill/>
          <a:ln>
            <a:noFill/>
          </a:ln>
        </p:spPr>
        <p:txBody>
          <a:bodyPr anchorCtr="0" anchor="t" bIns="0" lIns="0" spcFirstLastPara="1" rIns="0" wrap="square" tIns="0">
            <a:noAutofit/>
          </a:bodyPr>
          <a:lstStyle/>
          <a:p>
            <a:pPr indent="-342900" lvl="0" marL="342900" marR="0" rtl="0" algn="l">
              <a:lnSpc>
                <a:spcPct val="162162"/>
              </a:lnSpc>
              <a:spcBef>
                <a:spcPts val="0"/>
              </a:spcBef>
              <a:spcAft>
                <a:spcPts val="0"/>
              </a:spcAft>
              <a:buClr>
                <a:srgbClr val="3A3630"/>
              </a:buClr>
              <a:buSzPts val="1850"/>
              <a:buFont typeface="Source Sans 3"/>
              <a:buChar char="•"/>
            </a:pPr>
            <a:r>
              <a:rPr b="1" lang="en-US" sz="1850">
                <a:solidFill>
                  <a:srgbClr val="3A3630"/>
                </a:solidFill>
                <a:latin typeface="Source Sans 3"/>
                <a:ea typeface="Source Sans 3"/>
                <a:cs typeface="Source Sans 3"/>
                <a:sym typeface="Source Sans 3"/>
              </a:rPr>
              <a:t>Bối cảnh:</a:t>
            </a:r>
            <a:r>
              <a:rPr lang="en-US" sz="1850">
                <a:solidFill>
                  <a:srgbClr val="3A3630"/>
                </a:solidFill>
                <a:latin typeface="Source Sans 3"/>
                <a:ea typeface="Source Sans 3"/>
                <a:cs typeface="Source Sans 3"/>
                <a:sym typeface="Source Sans 3"/>
              </a:rPr>
              <a:t> Truy vấn dài chiếm hơn 20% tổng số truy vấn. Hiệu suất của máy tìm kiếm thường giảm khi xử lý các truy vấn này.</a:t>
            </a:r>
            <a:endParaRPr sz="1850">
              <a:solidFill>
                <a:schemeClr val="dk1"/>
              </a:solidFill>
              <a:latin typeface="Calibri"/>
              <a:ea typeface="Calibri"/>
              <a:cs typeface="Calibri"/>
              <a:sym typeface="Calibri"/>
            </a:endParaRPr>
          </a:p>
        </p:txBody>
      </p:sp>
      <p:sp>
        <p:nvSpPr>
          <p:cNvPr id="416" name="Google Shape;416;p29"/>
          <p:cNvSpPr/>
          <p:nvPr/>
        </p:nvSpPr>
        <p:spPr>
          <a:xfrm>
            <a:off x="837724" y="4024908"/>
            <a:ext cx="12954952" cy="383024"/>
          </a:xfrm>
          <a:prstGeom prst="rect">
            <a:avLst/>
          </a:prstGeom>
          <a:noFill/>
          <a:ln>
            <a:noFill/>
          </a:ln>
        </p:spPr>
        <p:txBody>
          <a:bodyPr anchorCtr="0" anchor="t" bIns="0" lIns="0" spcFirstLastPara="1" rIns="0" wrap="square" tIns="0">
            <a:noAutofit/>
          </a:bodyPr>
          <a:lstStyle/>
          <a:p>
            <a:pPr indent="-342900" lvl="0" marL="342900" marR="0" rtl="0" algn="l">
              <a:lnSpc>
                <a:spcPct val="162162"/>
              </a:lnSpc>
              <a:spcBef>
                <a:spcPts val="0"/>
              </a:spcBef>
              <a:spcAft>
                <a:spcPts val="0"/>
              </a:spcAft>
              <a:buClr>
                <a:srgbClr val="3A3630"/>
              </a:buClr>
              <a:buSzPts val="1850"/>
              <a:buFont typeface="Source Sans 3"/>
              <a:buChar char="•"/>
            </a:pPr>
            <a:r>
              <a:rPr b="1" lang="en-US" sz="1850">
                <a:solidFill>
                  <a:srgbClr val="3A3630"/>
                </a:solidFill>
                <a:latin typeface="Source Sans 3"/>
                <a:ea typeface="Source Sans 3"/>
                <a:cs typeface="Source Sans 3"/>
                <a:sym typeface="Source Sans 3"/>
              </a:rPr>
              <a:t>Mục tiêu:</a:t>
            </a:r>
            <a:r>
              <a:rPr lang="en-US" sz="1850">
                <a:solidFill>
                  <a:srgbClr val="3A3630"/>
                </a:solidFill>
                <a:latin typeface="Source Sans 3"/>
                <a:ea typeface="Source Sans 3"/>
                <a:cs typeface="Source Sans 3"/>
                <a:sym typeface="Source Sans 3"/>
              </a:rPr>
              <a:t> Tách truy vấn dài thành các "cụm ngữ nghĩa" (semantic concepts)</a:t>
            </a:r>
            <a:endParaRPr sz="1850">
              <a:solidFill>
                <a:schemeClr val="dk1"/>
              </a:solidFill>
              <a:latin typeface="Calibri"/>
              <a:ea typeface="Calibri"/>
              <a:cs typeface="Calibri"/>
              <a:sym typeface="Calibri"/>
            </a:endParaRPr>
          </a:p>
        </p:txBody>
      </p:sp>
      <p:sp>
        <p:nvSpPr>
          <p:cNvPr id="417" name="Google Shape;417;p29"/>
          <p:cNvSpPr/>
          <p:nvPr/>
        </p:nvSpPr>
        <p:spPr>
          <a:xfrm>
            <a:off x="837725" y="4766900"/>
            <a:ext cx="8396100" cy="437400"/>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000000"/>
              </a:buClr>
              <a:buSzPts val="2650"/>
              <a:buFont typeface="Lora"/>
              <a:buNone/>
            </a:pPr>
            <a:r>
              <a:rPr lang="en-US" sz="2650">
                <a:solidFill>
                  <a:srgbClr val="000000"/>
                </a:solidFill>
                <a:latin typeface="Lora"/>
                <a:ea typeface="Lora"/>
                <a:cs typeface="Lora"/>
                <a:sym typeface="Lora"/>
              </a:rPr>
              <a:t>🌳</a:t>
            </a:r>
            <a:r>
              <a:rPr lang="en-US" sz="2650">
                <a:solidFill>
                  <a:srgbClr val="38512F"/>
                </a:solidFill>
                <a:latin typeface="Lora"/>
                <a:ea typeface="Lora"/>
                <a:cs typeface="Lora"/>
                <a:sym typeface="Lora"/>
              </a:rPr>
              <a:t> Phương pháp: Cấu trúc Cây Phân đoạn </a:t>
            </a:r>
            <a:endParaRPr sz="2650">
              <a:solidFill>
                <a:schemeClr val="dk1"/>
              </a:solidFill>
              <a:latin typeface="Calibri"/>
              <a:ea typeface="Calibri"/>
              <a:cs typeface="Calibri"/>
              <a:sym typeface="Calibri"/>
            </a:endParaRPr>
          </a:p>
        </p:txBody>
      </p:sp>
      <p:sp>
        <p:nvSpPr>
          <p:cNvPr id="418" name="Google Shape;418;p29"/>
          <p:cNvSpPr/>
          <p:nvPr/>
        </p:nvSpPr>
        <p:spPr>
          <a:xfrm>
            <a:off x="837724" y="5563433"/>
            <a:ext cx="12954952" cy="383024"/>
          </a:xfrm>
          <a:prstGeom prst="rect">
            <a:avLst/>
          </a:prstGeom>
          <a:noFill/>
          <a:ln>
            <a:noFill/>
          </a:ln>
        </p:spPr>
        <p:txBody>
          <a:bodyPr anchorCtr="0" anchor="t" bIns="0" lIns="0" spcFirstLastPara="1" rIns="0" wrap="square" tIns="0">
            <a:noAutofit/>
          </a:bodyPr>
          <a:lstStyle/>
          <a:p>
            <a:pPr indent="-342900" lvl="0" marL="342900" marR="0" rtl="0" algn="l">
              <a:lnSpc>
                <a:spcPct val="162162"/>
              </a:lnSpc>
              <a:spcBef>
                <a:spcPts val="0"/>
              </a:spcBef>
              <a:spcAft>
                <a:spcPts val="0"/>
              </a:spcAft>
              <a:buClr>
                <a:srgbClr val="3A3630"/>
              </a:buClr>
              <a:buSzPts val="1850"/>
              <a:buFont typeface="Source Sans 3"/>
              <a:buChar char="•"/>
            </a:pPr>
            <a:r>
              <a:rPr lang="en-US" sz="1850">
                <a:solidFill>
                  <a:srgbClr val="3A3630"/>
                </a:solidFill>
                <a:latin typeface="Source Sans 3"/>
                <a:ea typeface="Source Sans 3"/>
                <a:cs typeface="Source Sans 3"/>
                <a:sym typeface="Source Sans 3"/>
              </a:rPr>
              <a:t>Bài báo đề xuất xây dựng một cấu trúc cây phân đoạn (segmentation tree)</a:t>
            </a:r>
            <a:endParaRPr sz="1850">
              <a:solidFill>
                <a:schemeClr val="dk1"/>
              </a:solidFill>
              <a:latin typeface="Calibri"/>
              <a:ea typeface="Calibri"/>
              <a:cs typeface="Calibri"/>
              <a:sym typeface="Calibri"/>
            </a:endParaRPr>
          </a:p>
        </p:txBody>
      </p:sp>
      <p:sp>
        <p:nvSpPr>
          <p:cNvPr id="419" name="Google Shape;419;p29"/>
          <p:cNvSpPr/>
          <p:nvPr/>
        </p:nvSpPr>
        <p:spPr>
          <a:xfrm>
            <a:off x="837724" y="6030158"/>
            <a:ext cx="12954952" cy="383024"/>
          </a:xfrm>
          <a:prstGeom prst="rect">
            <a:avLst/>
          </a:prstGeom>
          <a:noFill/>
          <a:ln>
            <a:noFill/>
          </a:ln>
        </p:spPr>
        <p:txBody>
          <a:bodyPr anchorCtr="0" anchor="t" bIns="0" lIns="0" spcFirstLastPara="1" rIns="0" wrap="square" tIns="0">
            <a:noAutofit/>
          </a:bodyPr>
          <a:lstStyle/>
          <a:p>
            <a:pPr indent="-342900" lvl="0" marL="342900" marR="0" rtl="0" algn="l">
              <a:lnSpc>
                <a:spcPct val="162162"/>
              </a:lnSpc>
              <a:spcBef>
                <a:spcPts val="0"/>
              </a:spcBef>
              <a:spcAft>
                <a:spcPts val="0"/>
              </a:spcAft>
              <a:buClr>
                <a:srgbClr val="3A3630"/>
              </a:buClr>
              <a:buSzPts val="1850"/>
              <a:buFont typeface="Source Sans 3"/>
              <a:buChar char="•"/>
            </a:pPr>
            <a:r>
              <a:rPr lang="en-US" sz="1850">
                <a:solidFill>
                  <a:srgbClr val="3A3630"/>
                </a:solidFill>
                <a:latin typeface="Source Sans 3"/>
                <a:ea typeface="Source Sans 3"/>
                <a:cs typeface="Source Sans 3"/>
                <a:sym typeface="Source Sans 3"/>
              </a:rPr>
              <a:t>Cho phép biểu diễn phân cấp, giúp máy và con người dễ hiểu hơn</a:t>
            </a:r>
            <a:endParaRPr sz="1850">
              <a:solidFill>
                <a:schemeClr val="dk1"/>
              </a:solidFill>
              <a:latin typeface="Calibri"/>
              <a:ea typeface="Calibri"/>
              <a:cs typeface="Calibri"/>
              <a:sym typeface="Calibri"/>
            </a:endParaRPr>
          </a:p>
        </p:txBody>
      </p:sp>
      <p:pic>
        <p:nvPicPr>
          <p:cNvPr id="420" name="Google Shape;420;p29"/>
          <p:cNvPicPr preferRelativeResize="0"/>
          <p:nvPr/>
        </p:nvPicPr>
        <p:blipFill rotWithShape="1">
          <a:blip r:embed="rId3">
            <a:alphaModFix/>
          </a:blip>
          <a:srcRect b="0" l="0" r="0" t="0"/>
          <a:stretch/>
        </p:blipFill>
        <p:spPr>
          <a:xfrm>
            <a:off x="9293084" y="3972771"/>
            <a:ext cx="4555591" cy="2196366"/>
          </a:xfrm>
          <a:prstGeom prst="rect">
            <a:avLst/>
          </a:prstGeom>
          <a:noFill/>
          <a:ln>
            <a:noFill/>
          </a:ln>
        </p:spPr>
      </p:pic>
      <p:sp>
        <p:nvSpPr>
          <p:cNvPr id="421" name="Google Shape;421;p29"/>
          <p:cNvSpPr txBox="1"/>
          <p:nvPr/>
        </p:nvSpPr>
        <p:spPr>
          <a:xfrm>
            <a:off x="9303525" y="6426675"/>
            <a:ext cx="4555500" cy="90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latin typeface="Source Sans 3"/>
                <a:ea typeface="Source Sans 3"/>
                <a:cs typeface="Source Sans 3"/>
                <a:sym typeface="Source Sans 3"/>
              </a:rPr>
              <a:t>Biểu đồ 5 :  Ví dụ về việc phân đoạn một truy vấn dài và biểu diễn nó trong một cấu trúc cây phân đoạn</a:t>
            </a:r>
            <a:endParaRPr sz="1600">
              <a:latin typeface="Source Sans 3"/>
              <a:ea typeface="Source Sans 3"/>
              <a:cs typeface="Source Sans 3"/>
              <a:sym typeface="Source Sans 3"/>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0"/>
          <p:cNvSpPr/>
          <p:nvPr/>
        </p:nvSpPr>
        <p:spPr>
          <a:xfrm>
            <a:off x="739021" y="580668"/>
            <a:ext cx="10028158" cy="504349"/>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38512F"/>
              </a:buClr>
              <a:buSzPts val="3100"/>
              <a:buFont typeface="Lora"/>
              <a:buNone/>
            </a:pPr>
            <a:r>
              <a:rPr lang="en-US" sz="3100">
                <a:solidFill>
                  <a:srgbClr val="38512F"/>
                </a:solidFill>
                <a:latin typeface="Lora"/>
                <a:ea typeface="Lora"/>
                <a:cs typeface="Lora"/>
                <a:sym typeface="Lora"/>
              </a:rPr>
              <a:t>Phân đoạn Truy vấn Dài </a:t>
            </a:r>
            <a:r>
              <a:rPr lang="en-US" sz="3100">
                <a:solidFill>
                  <a:srgbClr val="000000"/>
                </a:solidFill>
                <a:latin typeface="Lora"/>
                <a:ea typeface="Lora"/>
                <a:cs typeface="Lora"/>
                <a:sym typeface="Lora"/>
              </a:rPr>
              <a:t>⚙️</a:t>
            </a:r>
            <a:endParaRPr sz="3100">
              <a:solidFill>
                <a:schemeClr val="dk1"/>
              </a:solidFill>
              <a:latin typeface="Calibri"/>
              <a:ea typeface="Calibri"/>
              <a:cs typeface="Calibri"/>
              <a:sym typeface="Calibri"/>
            </a:endParaRPr>
          </a:p>
        </p:txBody>
      </p:sp>
      <p:sp>
        <p:nvSpPr>
          <p:cNvPr id="428" name="Google Shape;428;p30"/>
          <p:cNvSpPr/>
          <p:nvPr/>
        </p:nvSpPr>
        <p:spPr>
          <a:xfrm>
            <a:off x="739021" y="1169432"/>
            <a:ext cx="6127194" cy="372666"/>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38512F"/>
              </a:buClr>
              <a:buSzPts val="2300"/>
              <a:buFont typeface="Lora"/>
              <a:buNone/>
            </a:pPr>
            <a:r>
              <a:rPr lang="en-US" sz="2300">
                <a:solidFill>
                  <a:srgbClr val="38512F"/>
                </a:solidFill>
                <a:latin typeface="Lora"/>
                <a:ea typeface="Lora"/>
                <a:cs typeface="Lora"/>
                <a:sym typeface="Lora"/>
              </a:rPr>
              <a:t>Phương pháp: Phi giám sát &amp; Thước đo SPMI</a:t>
            </a:r>
            <a:endParaRPr sz="2300">
              <a:solidFill>
                <a:schemeClr val="dk1"/>
              </a:solidFill>
              <a:latin typeface="Calibri"/>
              <a:ea typeface="Calibri"/>
              <a:cs typeface="Calibri"/>
              <a:sym typeface="Calibri"/>
            </a:endParaRPr>
          </a:p>
        </p:txBody>
      </p:sp>
      <p:sp>
        <p:nvSpPr>
          <p:cNvPr id="429" name="Google Shape;429;p30"/>
          <p:cNvSpPr/>
          <p:nvPr/>
        </p:nvSpPr>
        <p:spPr>
          <a:xfrm>
            <a:off x="739021" y="1858804"/>
            <a:ext cx="13152358" cy="337661"/>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3A3630"/>
              </a:buClr>
              <a:buSzPts val="1650"/>
              <a:buFont typeface="Source Sans 3"/>
              <a:buNone/>
            </a:pPr>
            <a:r>
              <a:rPr b="1" lang="en-US" sz="1650">
                <a:solidFill>
                  <a:srgbClr val="3A3630"/>
                </a:solidFill>
                <a:latin typeface="Source Sans 3"/>
                <a:ea typeface="Source Sans 3"/>
                <a:cs typeface="Source Sans 3"/>
                <a:sym typeface="Source Sans 3"/>
              </a:rPr>
              <a:t>Đặc điểm:</a:t>
            </a:r>
            <a:r>
              <a:rPr lang="en-US" sz="1650">
                <a:solidFill>
                  <a:srgbClr val="3A3630"/>
                </a:solidFill>
                <a:latin typeface="Source Sans 3"/>
                <a:ea typeface="Source Sans 3"/>
                <a:cs typeface="Source Sans 3"/>
                <a:sym typeface="Source Sans 3"/>
              </a:rPr>
              <a:t> Phương pháp của bài báo là phi giám sát , dựa trên mô hình ngôn ngữ N-gram quy mô web (Web-scale LM).</a:t>
            </a:r>
            <a:endParaRPr sz="1650">
              <a:solidFill>
                <a:schemeClr val="dk1"/>
              </a:solidFill>
              <a:latin typeface="Calibri"/>
              <a:ea typeface="Calibri"/>
              <a:cs typeface="Calibri"/>
              <a:sym typeface="Calibri"/>
            </a:endParaRPr>
          </a:p>
        </p:txBody>
      </p:sp>
      <p:sp>
        <p:nvSpPr>
          <p:cNvPr id="430" name="Google Shape;430;p30"/>
          <p:cNvSpPr/>
          <p:nvPr/>
        </p:nvSpPr>
        <p:spPr>
          <a:xfrm>
            <a:off x="739021" y="2433995"/>
            <a:ext cx="13152358" cy="337661"/>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3A3630"/>
              </a:buClr>
              <a:buSzPts val="1650"/>
              <a:buFont typeface="Source Sans 3"/>
              <a:buNone/>
            </a:pPr>
            <a:r>
              <a:rPr b="1" lang="en-US" sz="1650">
                <a:solidFill>
                  <a:srgbClr val="3A3630"/>
                </a:solidFill>
                <a:latin typeface="Source Sans 3"/>
                <a:ea typeface="Source Sans 3"/>
                <a:cs typeface="Source Sans 3"/>
                <a:sym typeface="Source Sans 3"/>
              </a:rPr>
              <a:t>Ý tưởng:</a:t>
            </a:r>
            <a:r>
              <a:rPr lang="en-US" sz="1650">
                <a:solidFill>
                  <a:srgbClr val="3A3630"/>
                </a:solidFill>
                <a:latin typeface="Source Sans 3"/>
                <a:ea typeface="Source Sans 3"/>
                <a:cs typeface="Source Sans 3"/>
                <a:sym typeface="Source Sans 3"/>
              </a:rPr>
              <a:t> Tìm "điểm yếu" (ranh giới) trong truy vấn, nơi mà hai đoạn (segments) độc lập nhất về mặt ngữ nghĩa.</a:t>
            </a:r>
            <a:endParaRPr sz="1650">
              <a:solidFill>
                <a:schemeClr val="dk1"/>
              </a:solidFill>
              <a:latin typeface="Calibri"/>
              <a:ea typeface="Calibri"/>
              <a:cs typeface="Calibri"/>
              <a:sym typeface="Calibri"/>
            </a:endParaRPr>
          </a:p>
        </p:txBody>
      </p:sp>
      <p:sp>
        <p:nvSpPr>
          <p:cNvPr id="431" name="Google Shape;431;p30"/>
          <p:cNvSpPr/>
          <p:nvPr/>
        </p:nvSpPr>
        <p:spPr>
          <a:xfrm>
            <a:off x="739021" y="3088362"/>
            <a:ext cx="5686901" cy="380286"/>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000000"/>
              </a:buClr>
              <a:buSzPts val="2300"/>
              <a:buFont typeface="Lora"/>
              <a:buNone/>
            </a:pPr>
            <a:r>
              <a:rPr lang="en-US" sz="2300">
                <a:solidFill>
                  <a:srgbClr val="000000"/>
                </a:solidFill>
                <a:latin typeface="Lora"/>
                <a:ea typeface="Lora"/>
                <a:cs typeface="Lora"/>
                <a:sym typeface="Lora"/>
              </a:rPr>
              <a:t>🧮</a:t>
            </a:r>
            <a:r>
              <a:rPr lang="en-US" sz="2300">
                <a:solidFill>
                  <a:srgbClr val="38512F"/>
                </a:solidFill>
                <a:latin typeface="Lora"/>
                <a:ea typeface="Lora"/>
                <a:cs typeface="Lora"/>
                <a:sym typeface="Lora"/>
              </a:rPr>
              <a:t> Thước đo: Segment-based PMI (SPMI)</a:t>
            </a:r>
            <a:endParaRPr sz="2300">
              <a:solidFill>
                <a:schemeClr val="dk1"/>
              </a:solidFill>
              <a:latin typeface="Calibri"/>
              <a:ea typeface="Calibri"/>
              <a:cs typeface="Calibri"/>
              <a:sym typeface="Calibri"/>
            </a:endParaRPr>
          </a:p>
        </p:txBody>
      </p:sp>
      <p:sp>
        <p:nvSpPr>
          <p:cNvPr id="432" name="Google Shape;432;p30"/>
          <p:cNvSpPr/>
          <p:nvPr/>
        </p:nvSpPr>
        <p:spPr>
          <a:xfrm>
            <a:off x="739021" y="3785354"/>
            <a:ext cx="13152358" cy="345281"/>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3A3630"/>
              </a:buClr>
              <a:buSzPts val="1650"/>
              <a:buFont typeface="Source Sans 3"/>
              <a:buNone/>
            </a:pPr>
            <a:r>
              <a:rPr b="1" lang="en-US" sz="1650">
                <a:solidFill>
                  <a:srgbClr val="3A3630"/>
                </a:solidFill>
                <a:latin typeface="Source Sans 3"/>
                <a:ea typeface="Source Sans 3"/>
                <a:cs typeface="Source Sans 3"/>
                <a:sym typeface="Source Sans 3"/>
              </a:rPr>
              <a:t>Định nghĩa:</a:t>
            </a:r>
            <a:r>
              <a:rPr lang="en-US" sz="1650">
                <a:solidFill>
                  <a:srgbClr val="3A3630"/>
                </a:solidFill>
                <a:latin typeface="Source Sans 3"/>
                <a:ea typeface="Source Sans 3"/>
                <a:cs typeface="Source Sans 3"/>
                <a:sym typeface="Source Sans 3"/>
              </a:rPr>
              <a:t> Đo lường độ độc lập giữa hai đoạn </a:t>
            </a:r>
            <a:r>
              <a:rPr i="1" lang="en-US" sz="1650">
                <a:solidFill>
                  <a:srgbClr val="3A3630"/>
                </a:solidFill>
                <a:latin typeface="Source Sans 3"/>
                <a:ea typeface="Source Sans 3"/>
                <a:cs typeface="Source Sans 3"/>
                <a:sym typeface="Source Sans 3"/>
              </a:rPr>
              <a:t>q_l</a:t>
            </a:r>
            <a:r>
              <a:rPr lang="en-US" sz="1650">
                <a:solidFill>
                  <a:srgbClr val="3A3630"/>
                </a:solidFill>
                <a:latin typeface="Source Sans 3"/>
                <a:ea typeface="Source Sans 3"/>
                <a:cs typeface="Source Sans 3"/>
                <a:sym typeface="Source Sans 3"/>
              </a:rPr>
              <a:t> (trái) và </a:t>
            </a:r>
            <a:r>
              <a:rPr i="1" lang="en-US" sz="1650">
                <a:solidFill>
                  <a:srgbClr val="3A3630"/>
                </a:solidFill>
                <a:latin typeface="Source Sans 3"/>
                <a:ea typeface="Source Sans 3"/>
                <a:cs typeface="Source Sans 3"/>
                <a:sym typeface="Source Sans 3"/>
              </a:rPr>
              <a:t>q_r</a:t>
            </a:r>
            <a:r>
              <a:rPr lang="en-US" sz="1650">
                <a:solidFill>
                  <a:srgbClr val="3A3630"/>
                </a:solidFill>
                <a:latin typeface="Source Sans 3"/>
                <a:ea typeface="Source Sans 3"/>
                <a:cs typeface="Source Sans 3"/>
                <a:sym typeface="Source Sans 3"/>
              </a:rPr>
              <a:t> (phải) tại điểm tách </a:t>
            </a:r>
            <a:r>
              <a:rPr i="1" lang="en-US" sz="1650">
                <a:solidFill>
                  <a:srgbClr val="3A3630"/>
                </a:solidFill>
                <a:latin typeface="Source Sans 3"/>
                <a:ea typeface="Source Sans 3"/>
                <a:cs typeface="Source Sans 3"/>
                <a:sym typeface="Source Sans 3"/>
              </a:rPr>
              <a:t>t</a:t>
            </a:r>
            <a:r>
              <a:rPr lang="en-US" sz="1650">
                <a:solidFill>
                  <a:srgbClr val="3A3630"/>
                </a:solidFill>
                <a:latin typeface="Source Sans 3"/>
                <a:ea typeface="Source Sans 3"/>
                <a:cs typeface="Source Sans 3"/>
                <a:sym typeface="Source Sans 3"/>
              </a:rPr>
              <a:t>.</a:t>
            </a:r>
            <a:endParaRPr sz="1650">
              <a:solidFill>
                <a:schemeClr val="dk1"/>
              </a:solidFill>
              <a:latin typeface="Calibri"/>
              <a:ea typeface="Calibri"/>
              <a:cs typeface="Calibri"/>
              <a:sym typeface="Calibri"/>
            </a:endParaRPr>
          </a:p>
        </p:txBody>
      </p:sp>
      <p:sp>
        <p:nvSpPr>
          <p:cNvPr id="433" name="Google Shape;433;p30"/>
          <p:cNvSpPr/>
          <p:nvPr/>
        </p:nvSpPr>
        <p:spPr>
          <a:xfrm>
            <a:off x="739021" y="4368165"/>
            <a:ext cx="13152358" cy="337661"/>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3A3630"/>
              </a:buClr>
              <a:buSzPts val="1650"/>
              <a:buFont typeface="Source Sans 3"/>
              <a:buNone/>
            </a:pPr>
            <a:r>
              <a:rPr b="1" lang="en-US" sz="1650">
                <a:solidFill>
                  <a:srgbClr val="3A3630"/>
                </a:solidFill>
                <a:latin typeface="Source Sans 3"/>
                <a:ea typeface="Source Sans 3"/>
                <a:cs typeface="Source Sans 3"/>
                <a:sym typeface="Source Sans 3"/>
              </a:rPr>
              <a:t>Công thức (đơn giản):</a:t>
            </a:r>
            <a:r>
              <a:rPr lang="en-US" sz="1650">
                <a:solidFill>
                  <a:srgbClr val="3A3630"/>
                </a:solidFill>
                <a:latin typeface="Source Sans 3"/>
                <a:ea typeface="Source Sans 3"/>
                <a:cs typeface="Source Sans 3"/>
                <a:sym typeface="Source Sans 3"/>
              </a:rPr>
              <a:t> </a:t>
            </a:r>
            <a:endParaRPr sz="1650">
              <a:solidFill>
                <a:schemeClr val="dk1"/>
              </a:solidFill>
              <a:latin typeface="Calibri"/>
              <a:ea typeface="Calibri"/>
              <a:cs typeface="Calibri"/>
              <a:sym typeface="Calibri"/>
            </a:endParaRPr>
          </a:p>
        </p:txBody>
      </p:sp>
      <p:sp>
        <p:nvSpPr>
          <p:cNvPr id="434" name="Google Shape;434;p30"/>
          <p:cNvSpPr/>
          <p:nvPr/>
        </p:nvSpPr>
        <p:spPr>
          <a:xfrm>
            <a:off x="739021" y="4973003"/>
            <a:ext cx="13152358" cy="679133"/>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chemeClr val="dk1"/>
              </a:buClr>
              <a:buSzPts val="1850"/>
              <a:buFont typeface="Calibri"/>
              <a:buNone/>
            </a:pPr>
            <a:r>
              <a:t/>
            </a:r>
            <a:endParaRPr sz="1850">
              <a:solidFill>
                <a:schemeClr val="dk1"/>
              </a:solidFill>
              <a:latin typeface="Calibri"/>
              <a:ea typeface="Calibri"/>
              <a:cs typeface="Calibri"/>
              <a:sym typeface="Calibri"/>
            </a:endParaRPr>
          </a:p>
        </p:txBody>
      </p:sp>
      <p:pic>
        <p:nvPicPr>
          <p:cNvPr descr="preencoded.png" id="435" name="Google Shape;435;p30"/>
          <p:cNvPicPr preferRelativeResize="0"/>
          <p:nvPr/>
        </p:nvPicPr>
        <p:blipFill rotWithShape="1">
          <a:blip r:embed="rId3">
            <a:alphaModFix/>
          </a:blip>
          <a:srcRect b="0" l="0" r="0" t="0"/>
          <a:stretch/>
        </p:blipFill>
        <p:spPr>
          <a:xfrm>
            <a:off x="739021" y="4973003"/>
            <a:ext cx="13152358" cy="679133"/>
          </a:xfrm>
          <a:prstGeom prst="rect">
            <a:avLst/>
          </a:prstGeom>
          <a:noFill/>
          <a:ln>
            <a:noFill/>
          </a:ln>
        </p:spPr>
      </p:pic>
      <p:sp>
        <p:nvSpPr>
          <p:cNvPr id="436" name="Google Shape;436;p30"/>
          <p:cNvSpPr/>
          <p:nvPr/>
        </p:nvSpPr>
        <p:spPr>
          <a:xfrm>
            <a:off x="739021" y="5919311"/>
            <a:ext cx="13152358" cy="337661"/>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3A3630"/>
              </a:buClr>
              <a:buSzPts val="1650"/>
              <a:buFont typeface="Source Sans 3"/>
              <a:buNone/>
            </a:pPr>
            <a:r>
              <a:rPr b="1" lang="en-US" sz="1650">
                <a:solidFill>
                  <a:srgbClr val="3A3630"/>
                </a:solidFill>
                <a:latin typeface="Source Sans 3"/>
                <a:ea typeface="Source Sans 3"/>
                <a:cs typeface="Source Sans 3"/>
                <a:sym typeface="Source Sans 3"/>
              </a:rPr>
              <a:t>Giải thích:</a:t>
            </a:r>
            <a:endParaRPr sz="1650">
              <a:solidFill>
                <a:schemeClr val="dk1"/>
              </a:solidFill>
              <a:latin typeface="Calibri"/>
              <a:ea typeface="Calibri"/>
              <a:cs typeface="Calibri"/>
              <a:sym typeface="Calibri"/>
            </a:endParaRPr>
          </a:p>
        </p:txBody>
      </p:sp>
      <p:sp>
        <p:nvSpPr>
          <p:cNvPr id="437" name="Google Shape;437;p30"/>
          <p:cNvSpPr/>
          <p:nvPr/>
        </p:nvSpPr>
        <p:spPr>
          <a:xfrm>
            <a:off x="739021" y="6494502"/>
            <a:ext cx="13152358" cy="345281"/>
          </a:xfrm>
          <a:prstGeom prst="rect">
            <a:avLst/>
          </a:prstGeom>
          <a:noFill/>
          <a:ln>
            <a:noFill/>
          </a:ln>
        </p:spPr>
        <p:txBody>
          <a:bodyPr anchorCtr="0" anchor="t" bIns="0" lIns="0" spcFirstLastPara="1" rIns="0" wrap="square" tIns="0">
            <a:noAutofit/>
          </a:bodyPr>
          <a:lstStyle/>
          <a:p>
            <a:pPr indent="-342900" lvl="0" marL="342900" marR="0" rtl="0" algn="l">
              <a:lnSpc>
                <a:spcPct val="160606"/>
              </a:lnSpc>
              <a:spcBef>
                <a:spcPts val="0"/>
              </a:spcBef>
              <a:spcAft>
                <a:spcPts val="0"/>
              </a:spcAft>
              <a:buClr>
                <a:srgbClr val="3A3630"/>
              </a:buClr>
              <a:buSzPts val="1650"/>
              <a:buFont typeface="Source Sans 3"/>
              <a:buChar char="•"/>
            </a:pPr>
            <a:r>
              <a:rPr lang="en-US" sz="1650">
                <a:solidFill>
                  <a:srgbClr val="3A3630"/>
                </a:solidFill>
                <a:latin typeface="Source Sans 3"/>
                <a:ea typeface="Source Sans 3"/>
                <a:cs typeface="Source Sans 3"/>
                <a:sym typeface="Source Sans 3"/>
              </a:rPr>
              <a:t>Nếu </a:t>
            </a:r>
            <a:r>
              <a:rPr i="1" lang="en-US" sz="1650">
                <a:solidFill>
                  <a:srgbClr val="3A3630"/>
                </a:solidFill>
                <a:latin typeface="Source Sans 3"/>
                <a:ea typeface="Source Sans 3"/>
                <a:cs typeface="Source Sans 3"/>
                <a:sym typeface="Source Sans 3"/>
              </a:rPr>
              <a:t>q_l</a:t>
            </a:r>
            <a:r>
              <a:rPr lang="en-US" sz="1650">
                <a:solidFill>
                  <a:srgbClr val="3A3630"/>
                </a:solidFill>
                <a:latin typeface="Source Sans 3"/>
                <a:ea typeface="Source Sans 3"/>
                <a:cs typeface="Source Sans 3"/>
                <a:sym typeface="Source Sans 3"/>
              </a:rPr>
              <a:t> và </a:t>
            </a:r>
            <a:r>
              <a:rPr i="1" lang="en-US" sz="1650">
                <a:solidFill>
                  <a:srgbClr val="3A3630"/>
                </a:solidFill>
                <a:latin typeface="Source Sans 3"/>
                <a:ea typeface="Source Sans 3"/>
                <a:cs typeface="Source Sans 3"/>
                <a:sym typeface="Source Sans 3"/>
              </a:rPr>
              <a:t>q_r</a:t>
            </a:r>
            <a:r>
              <a:rPr lang="en-US" sz="1650">
                <a:solidFill>
                  <a:srgbClr val="3A3630"/>
                </a:solidFill>
                <a:latin typeface="Source Sans 3"/>
                <a:ea typeface="Source Sans 3"/>
                <a:cs typeface="Source Sans 3"/>
                <a:sym typeface="Source Sans 3"/>
              </a:rPr>
              <a:t> rất độc lập → </a:t>
            </a:r>
            <a:r>
              <a:rPr i="1" lang="en-US" sz="1650">
                <a:solidFill>
                  <a:srgbClr val="3A3630"/>
                </a:solidFill>
                <a:latin typeface="Source Sans 3"/>
                <a:ea typeface="Source Sans 3"/>
                <a:cs typeface="Source Sans 3"/>
                <a:sym typeface="Source Sans 3"/>
              </a:rPr>
              <a:t>P(q_l q_r) \approx P(q_l) P(q_r)</a:t>
            </a:r>
            <a:r>
              <a:rPr lang="en-US" sz="1650">
                <a:solidFill>
                  <a:srgbClr val="3A3630"/>
                </a:solidFill>
                <a:latin typeface="Source Sans 3"/>
                <a:ea typeface="Source Sans 3"/>
                <a:cs typeface="Source Sans 3"/>
                <a:sym typeface="Source Sans 3"/>
              </a:rPr>
              <a:t> → </a:t>
            </a:r>
            <a:r>
              <a:rPr i="1" lang="en-US" sz="1650">
                <a:solidFill>
                  <a:srgbClr val="3A3630"/>
                </a:solidFill>
                <a:latin typeface="Source Sans 3"/>
                <a:ea typeface="Source Sans 3"/>
                <a:cs typeface="Source Sans 3"/>
                <a:sym typeface="Source Sans 3"/>
              </a:rPr>
              <a:t>\text{SPMI} \approx 0</a:t>
            </a:r>
            <a:endParaRPr sz="1650">
              <a:solidFill>
                <a:schemeClr val="dk1"/>
              </a:solidFill>
              <a:latin typeface="Calibri"/>
              <a:ea typeface="Calibri"/>
              <a:cs typeface="Calibri"/>
              <a:sym typeface="Calibri"/>
            </a:endParaRPr>
          </a:p>
        </p:txBody>
      </p:sp>
      <p:sp>
        <p:nvSpPr>
          <p:cNvPr id="438" name="Google Shape;438;p30"/>
          <p:cNvSpPr/>
          <p:nvPr/>
        </p:nvSpPr>
        <p:spPr>
          <a:xfrm>
            <a:off x="739021" y="6913602"/>
            <a:ext cx="13152358" cy="337661"/>
          </a:xfrm>
          <a:prstGeom prst="rect">
            <a:avLst/>
          </a:prstGeom>
          <a:noFill/>
          <a:ln>
            <a:noFill/>
          </a:ln>
        </p:spPr>
        <p:txBody>
          <a:bodyPr anchorCtr="0" anchor="t" bIns="0" lIns="0" spcFirstLastPara="1" rIns="0" wrap="square" tIns="0">
            <a:noAutofit/>
          </a:bodyPr>
          <a:lstStyle/>
          <a:p>
            <a:pPr indent="-342900" lvl="0" marL="342900" marR="0" rtl="0" algn="l">
              <a:lnSpc>
                <a:spcPct val="160606"/>
              </a:lnSpc>
              <a:spcBef>
                <a:spcPts val="0"/>
              </a:spcBef>
              <a:spcAft>
                <a:spcPts val="0"/>
              </a:spcAft>
              <a:buClr>
                <a:srgbClr val="3A3630"/>
              </a:buClr>
              <a:buSzPts val="1650"/>
              <a:buFont typeface="Source Sans 3"/>
              <a:buChar char="•"/>
            </a:pPr>
            <a:r>
              <a:rPr lang="en-US" sz="1650">
                <a:solidFill>
                  <a:srgbClr val="3A3630"/>
                </a:solidFill>
                <a:latin typeface="Source Sans 3"/>
                <a:ea typeface="Source Sans 3"/>
                <a:cs typeface="Source Sans 3"/>
                <a:sym typeface="Source Sans 3"/>
              </a:rPr>
              <a:t>Kết luận: SPMI càng nhỏ (gần 0) → Hai đoạn càng độc lập → Nên tách ra</a:t>
            </a:r>
            <a:endParaRPr sz="1650">
              <a:solidFill>
                <a:schemeClr val="dk1"/>
              </a:solidFill>
              <a:latin typeface="Calibri"/>
              <a:ea typeface="Calibri"/>
              <a:cs typeface="Calibri"/>
              <a:sym typeface="Calibri"/>
            </a:endParaRPr>
          </a:p>
        </p:txBody>
      </p:sp>
      <p:sp>
        <p:nvSpPr>
          <p:cNvPr id="439" name="Google Shape;439;p30"/>
          <p:cNvSpPr/>
          <p:nvPr/>
        </p:nvSpPr>
        <p:spPr>
          <a:xfrm>
            <a:off x="739021" y="7325082"/>
            <a:ext cx="13152358" cy="345281"/>
          </a:xfrm>
          <a:prstGeom prst="rect">
            <a:avLst/>
          </a:prstGeom>
          <a:noFill/>
          <a:ln>
            <a:noFill/>
          </a:ln>
        </p:spPr>
        <p:txBody>
          <a:bodyPr anchorCtr="0" anchor="t" bIns="0" lIns="0" spcFirstLastPara="1" rIns="0" wrap="square" tIns="0">
            <a:noAutofit/>
          </a:bodyPr>
          <a:lstStyle/>
          <a:p>
            <a:pPr indent="-342900" lvl="0" marL="342900" marR="0" rtl="0" algn="l">
              <a:lnSpc>
                <a:spcPct val="160606"/>
              </a:lnSpc>
              <a:spcBef>
                <a:spcPts val="0"/>
              </a:spcBef>
              <a:spcAft>
                <a:spcPts val="0"/>
              </a:spcAft>
              <a:buClr>
                <a:srgbClr val="3A3630"/>
              </a:buClr>
              <a:buSzPts val="1650"/>
              <a:buFont typeface="Source Sans 3"/>
              <a:buChar char="•"/>
            </a:pPr>
            <a:r>
              <a:rPr lang="en-US" sz="1650">
                <a:solidFill>
                  <a:srgbClr val="3A3630"/>
                </a:solidFill>
                <a:latin typeface="Source Sans 3"/>
                <a:ea typeface="Source Sans 3"/>
                <a:cs typeface="Source Sans 3"/>
                <a:sym typeface="Source Sans 3"/>
              </a:rPr>
              <a:t>Thuật toán: Dùng "Best-First". Ở mỗi bước, tìm điểm tách </a:t>
            </a:r>
            <a:r>
              <a:rPr i="1" lang="en-US" sz="1650">
                <a:solidFill>
                  <a:srgbClr val="3A3630"/>
                </a:solidFill>
                <a:latin typeface="Source Sans 3"/>
                <a:ea typeface="Source Sans 3"/>
                <a:cs typeface="Source Sans 3"/>
                <a:sym typeface="Source Sans 3"/>
              </a:rPr>
              <a:t>t</a:t>
            </a:r>
            <a:r>
              <a:rPr lang="en-US" sz="1650">
                <a:solidFill>
                  <a:srgbClr val="3A3630"/>
                </a:solidFill>
                <a:latin typeface="Source Sans 3"/>
                <a:ea typeface="Source Sans 3"/>
                <a:cs typeface="Source Sans 3"/>
                <a:sym typeface="Source Sans 3"/>
              </a:rPr>
              <a:t> có SPMI nhỏ nhất để tách </a:t>
            </a:r>
            <a:endParaRPr sz="165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1"/>
          <p:cNvSpPr/>
          <p:nvPr/>
        </p:nvSpPr>
        <p:spPr>
          <a:xfrm>
            <a:off x="837724" y="1334453"/>
            <a:ext cx="11421189" cy="570905"/>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8512F"/>
              </a:buClr>
              <a:buSzPts val="3500"/>
              <a:buFont typeface="Lora"/>
              <a:buNone/>
            </a:pPr>
            <a:r>
              <a:rPr lang="en-US" sz="3500">
                <a:solidFill>
                  <a:srgbClr val="38512F"/>
                </a:solidFill>
                <a:latin typeface="Lora"/>
                <a:ea typeface="Lora"/>
                <a:cs typeface="Lora"/>
                <a:sym typeface="Lora"/>
              </a:rPr>
              <a:t>Phân đoạn Truy vấn Dài </a:t>
            </a:r>
            <a:r>
              <a:rPr lang="en-US" sz="3500">
                <a:solidFill>
                  <a:srgbClr val="000000"/>
                </a:solidFill>
                <a:latin typeface="Lora"/>
                <a:ea typeface="Lora"/>
                <a:cs typeface="Lora"/>
                <a:sym typeface="Lora"/>
              </a:rPr>
              <a:t>🔬</a:t>
            </a:r>
            <a:endParaRPr sz="3500">
              <a:solidFill>
                <a:schemeClr val="dk1"/>
              </a:solidFill>
              <a:latin typeface="Calibri"/>
              <a:ea typeface="Calibri"/>
              <a:cs typeface="Calibri"/>
              <a:sym typeface="Calibri"/>
            </a:endParaRPr>
          </a:p>
        </p:txBody>
      </p:sp>
      <p:sp>
        <p:nvSpPr>
          <p:cNvPr id="446" name="Google Shape;446;p31"/>
          <p:cNvSpPr/>
          <p:nvPr/>
        </p:nvSpPr>
        <p:spPr>
          <a:xfrm>
            <a:off x="837724" y="2001083"/>
            <a:ext cx="3689628" cy="422315"/>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38512F"/>
              </a:buClr>
              <a:buSzPts val="2650"/>
              <a:buFont typeface="Lora"/>
              <a:buNone/>
            </a:pPr>
            <a:r>
              <a:rPr lang="en-US" sz="2650">
                <a:solidFill>
                  <a:srgbClr val="38512F"/>
                </a:solidFill>
                <a:latin typeface="Lora"/>
                <a:ea typeface="Lora"/>
                <a:cs typeface="Lora"/>
                <a:sym typeface="Lora"/>
              </a:rPr>
              <a:t>Thí nghiệm và Đánh giá</a:t>
            </a:r>
            <a:endParaRPr sz="2650">
              <a:solidFill>
                <a:schemeClr val="dk1"/>
              </a:solidFill>
              <a:latin typeface="Calibri"/>
              <a:ea typeface="Calibri"/>
              <a:cs typeface="Calibri"/>
              <a:sym typeface="Calibri"/>
            </a:endParaRPr>
          </a:p>
        </p:txBody>
      </p:sp>
      <p:sp>
        <p:nvSpPr>
          <p:cNvPr id="447" name="Google Shape;447;p31"/>
          <p:cNvSpPr/>
          <p:nvPr/>
        </p:nvSpPr>
        <p:spPr>
          <a:xfrm>
            <a:off x="837724" y="2782372"/>
            <a:ext cx="12954952" cy="383024"/>
          </a:xfrm>
          <a:prstGeom prst="rect">
            <a:avLst/>
          </a:prstGeom>
          <a:noFill/>
          <a:ln>
            <a:noFill/>
          </a:ln>
        </p:spPr>
        <p:txBody>
          <a:bodyPr anchorCtr="0" anchor="t" bIns="0" lIns="0" spcFirstLastPara="1" rIns="0" wrap="square" tIns="0">
            <a:noAutofit/>
          </a:bodyPr>
          <a:lstStyle/>
          <a:p>
            <a:pPr indent="-342900" lvl="0" marL="342900" marR="0" rtl="0" algn="l">
              <a:lnSpc>
                <a:spcPct val="162162"/>
              </a:lnSpc>
              <a:spcBef>
                <a:spcPts val="0"/>
              </a:spcBef>
              <a:spcAft>
                <a:spcPts val="0"/>
              </a:spcAft>
              <a:buClr>
                <a:srgbClr val="3A3630"/>
              </a:buClr>
              <a:buSzPts val="1850"/>
              <a:buFont typeface="Source Sans 3"/>
              <a:buChar char="•"/>
            </a:pPr>
            <a:r>
              <a:rPr lang="en-US" sz="1850">
                <a:solidFill>
                  <a:srgbClr val="3A3630"/>
                </a:solidFill>
                <a:latin typeface="Source Sans 3"/>
                <a:ea typeface="Source Sans 3"/>
                <a:cs typeface="Source Sans 3"/>
                <a:sym typeface="Source Sans 3"/>
              </a:rPr>
              <a:t>Dataset: 1.462 truy vấn dài được gán nhãn thủ công với 1.863 cụm hợp lệ </a:t>
            </a:r>
            <a:endParaRPr sz="1850">
              <a:solidFill>
                <a:schemeClr val="dk1"/>
              </a:solidFill>
              <a:latin typeface="Calibri"/>
              <a:ea typeface="Calibri"/>
              <a:cs typeface="Calibri"/>
              <a:sym typeface="Calibri"/>
            </a:endParaRPr>
          </a:p>
        </p:txBody>
      </p:sp>
      <p:sp>
        <p:nvSpPr>
          <p:cNvPr id="448" name="Google Shape;448;p31"/>
          <p:cNvSpPr/>
          <p:nvPr/>
        </p:nvSpPr>
        <p:spPr>
          <a:xfrm>
            <a:off x="837725" y="3249097"/>
            <a:ext cx="7685042" cy="766048"/>
          </a:xfrm>
          <a:prstGeom prst="rect">
            <a:avLst/>
          </a:prstGeom>
          <a:noFill/>
          <a:ln>
            <a:noFill/>
          </a:ln>
        </p:spPr>
        <p:txBody>
          <a:bodyPr anchorCtr="0" anchor="t" bIns="0" lIns="0" spcFirstLastPara="1" rIns="0" wrap="square" tIns="0">
            <a:noAutofit/>
          </a:bodyPr>
          <a:lstStyle/>
          <a:p>
            <a:pPr indent="-342900" lvl="0" marL="342900" marR="0" rtl="0" algn="l">
              <a:lnSpc>
                <a:spcPct val="162162"/>
              </a:lnSpc>
              <a:spcBef>
                <a:spcPts val="0"/>
              </a:spcBef>
              <a:spcAft>
                <a:spcPts val="0"/>
              </a:spcAft>
              <a:buClr>
                <a:srgbClr val="3A3630"/>
              </a:buClr>
              <a:buSzPts val="1850"/>
              <a:buFont typeface="Source Sans 3"/>
              <a:buChar char="•"/>
            </a:pPr>
            <a:r>
              <a:rPr lang="en-US" sz="1850">
                <a:solidFill>
                  <a:srgbClr val="3A3630"/>
                </a:solidFill>
                <a:latin typeface="Source Sans 3"/>
                <a:ea typeface="Source Sans 3"/>
                <a:cs typeface="Source Sans 3"/>
                <a:sym typeface="Source Sans 3"/>
              </a:rPr>
              <a:t>Thước đo đánh giá: Exact Match (Trùng khớp hoàn toàn), Exact Leaf Match (Trùng khớp hoàn toàn ở nút lá), Violation (Cụm nhãn của con người bị cắt sai (cắt ngang))</a:t>
            </a:r>
            <a:endParaRPr sz="1850">
              <a:solidFill>
                <a:schemeClr val="dk1"/>
              </a:solidFill>
              <a:latin typeface="Calibri"/>
              <a:ea typeface="Calibri"/>
              <a:cs typeface="Calibri"/>
              <a:sym typeface="Calibri"/>
            </a:endParaRPr>
          </a:p>
        </p:txBody>
      </p:sp>
      <p:sp>
        <p:nvSpPr>
          <p:cNvPr id="449" name="Google Shape;449;p31"/>
          <p:cNvSpPr/>
          <p:nvPr/>
        </p:nvSpPr>
        <p:spPr>
          <a:xfrm>
            <a:off x="837724" y="4561927"/>
            <a:ext cx="8180633" cy="437555"/>
          </a:xfrm>
          <a:prstGeom prst="rect">
            <a:avLst/>
          </a:prstGeom>
          <a:noFill/>
          <a:ln>
            <a:noFill/>
          </a:ln>
        </p:spPr>
        <p:txBody>
          <a:bodyPr anchorCtr="0" anchor="t" bIns="0" lIns="0" spcFirstLastPara="1" rIns="0" wrap="square" tIns="0">
            <a:noAutofit/>
          </a:bodyPr>
          <a:lstStyle/>
          <a:p>
            <a:pPr indent="0" lvl="0" marL="0" marR="0" rtl="0" algn="l">
              <a:lnSpc>
                <a:spcPct val="165000"/>
              </a:lnSpc>
              <a:spcBef>
                <a:spcPts val="0"/>
              </a:spcBef>
              <a:spcAft>
                <a:spcPts val="0"/>
              </a:spcAft>
              <a:buClr>
                <a:srgbClr val="000000"/>
              </a:buClr>
              <a:buSzPts val="2000"/>
              <a:buFont typeface="Lora"/>
              <a:buNone/>
            </a:pPr>
            <a:r>
              <a:rPr lang="en-US" sz="2000">
                <a:solidFill>
                  <a:srgbClr val="000000"/>
                </a:solidFill>
                <a:latin typeface="Lora"/>
                <a:ea typeface="Lora"/>
                <a:cs typeface="Lora"/>
                <a:sym typeface="Lora"/>
              </a:rPr>
              <a:t>📈</a:t>
            </a:r>
            <a:r>
              <a:rPr lang="en-US" sz="2000">
                <a:solidFill>
                  <a:srgbClr val="38512F"/>
                </a:solidFill>
                <a:latin typeface="Lora"/>
                <a:ea typeface="Lora"/>
                <a:cs typeface="Lora"/>
                <a:sym typeface="Lora"/>
              </a:rPr>
              <a:t> Kết quả 1 (Figure 6): Đánh đổi Hiệu suất (Dùng Anchor LM)</a:t>
            </a:r>
            <a:endParaRPr sz="2000">
              <a:solidFill>
                <a:schemeClr val="dk1"/>
              </a:solidFill>
              <a:latin typeface="Calibri"/>
              <a:ea typeface="Calibri"/>
              <a:cs typeface="Calibri"/>
              <a:sym typeface="Calibri"/>
            </a:endParaRPr>
          </a:p>
        </p:txBody>
      </p:sp>
      <p:sp>
        <p:nvSpPr>
          <p:cNvPr id="450" name="Google Shape;450;p31"/>
          <p:cNvSpPr/>
          <p:nvPr/>
        </p:nvSpPr>
        <p:spPr>
          <a:xfrm>
            <a:off x="837725" y="5062020"/>
            <a:ext cx="7789745" cy="1149072"/>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3A3630"/>
              </a:buClr>
              <a:buSzPts val="1850"/>
              <a:buFont typeface="Source Sans 3"/>
              <a:buNone/>
            </a:pPr>
            <a:r>
              <a:rPr b="1" lang="en-US" sz="1850">
                <a:solidFill>
                  <a:srgbClr val="3A3630"/>
                </a:solidFill>
                <a:latin typeface="Source Sans 3"/>
                <a:ea typeface="Source Sans 3"/>
                <a:cs typeface="Source Sans 3"/>
                <a:sym typeface="Source Sans 3"/>
              </a:rPr>
              <a:t>Phân tích:</a:t>
            </a:r>
            <a:r>
              <a:rPr lang="en-US" sz="1850">
                <a:solidFill>
                  <a:srgbClr val="3A3630"/>
                </a:solidFill>
                <a:latin typeface="Source Sans 3"/>
                <a:ea typeface="Source Sans 3"/>
                <a:cs typeface="Source Sans 3"/>
                <a:sym typeface="Source Sans 3"/>
              </a:rPr>
              <a:t> Biểu đồ thể hiện sự đánh đổi (trade-off) khi thay đổi ngưỡng dừng. Khi tăng độ chi tiết (tách nhiều hơn, Violation Rate ↑), Match Rate (xanh lá) cũng tăng. Tuy nhiên, Exact Leaf Match (đỏ) đạt đỉnh, sau đó giảm → hiện tượng "over-segmentation" (phân đoạn quá mức). Điểm tối ưu: Tại Violation Rate ≈ 0.12, hệ thống đạt ~70% phát hiện đúng (Exact).</a:t>
            </a:r>
            <a:endParaRPr sz="1850">
              <a:solidFill>
                <a:schemeClr val="dk1"/>
              </a:solidFill>
              <a:latin typeface="Calibri"/>
              <a:ea typeface="Calibri"/>
              <a:cs typeface="Calibri"/>
              <a:sym typeface="Calibri"/>
            </a:endParaRPr>
          </a:p>
        </p:txBody>
      </p:sp>
      <p:pic>
        <p:nvPicPr>
          <p:cNvPr id="451" name="Google Shape;451;p31"/>
          <p:cNvPicPr preferRelativeResize="0"/>
          <p:nvPr/>
        </p:nvPicPr>
        <p:blipFill rotWithShape="1">
          <a:blip r:embed="rId3">
            <a:alphaModFix/>
          </a:blip>
          <a:srcRect b="0" l="0" r="0" t="0"/>
          <a:stretch/>
        </p:blipFill>
        <p:spPr>
          <a:xfrm>
            <a:off x="8836925" y="730428"/>
            <a:ext cx="5088530" cy="5589857"/>
          </a:xfrm>
          <a:prstGeom prst="rect">
            <a:avLst/>
          </a:prstGeom>
          <a:noFill/>
          <a:ln>
            <a:noFill/>
          </a:ln>
        </p:spPr>
      </p:pic>
      <p:sp>
        <p:nvSpPr>
          <p:cNvPr id="452" name="Google Shape;452;p31"/>
          <p:cNvSpPr txBox="1"/>
          <p:nvPr/>
        </p:nvSpPr>
        <p:spPr>
          <a:xfrm>
            <a:off x="9001500" y="6554450"/>
            <a:ext cx="5041200" cy="8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latin typeface="Source Sans 3"/>
                <a:ea typeface="Source Sans 3"/>
                <a:cs typeface="Source Sans 3"/>
                <a:sym typeface="Source Sans 3"/>
              </a:rPr>
              <a:t> Biểu đồ 6 :</a:t>
            </a:r>
            <a:r>
              <a:rPr lang="en-US" sz="1600">
                <a:latin typeface="Source Sans 3"/>
                <a:ea typeface="Source Sans 3"/>
                <a:cs typeface="Source Sans 3"/>
                <a:sym typeface="Source Sans 3"/>
              </a:rPr>
              <a:t> Hiệu suất phân đoạn sử dụng cây có các mức độ chi tiết khác nhau</a:t>
            </a:r>
            <a:endParaRPr sz="1600">
              <a:latin typeface="Source Sans 3"/>
              <a:ea typeface="Source Sans 3"/>
              <a:cs typeface="Source Sans 3"/>
              <a:sym typeface="Source Sans 3"/>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2"/>
          <p:cNvSpPr/>
          <p:nvPr/>
        </p:nvSpPr>
        <p:spPr>
          <a:xfrm>
            <a:off x="631150" y="495895"/>
            <a:ext cx="8605718" cy="439460"/>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38512F"/>
              </a:buClr>
              <a:buSzPts val="2650"/>
              <a:buFont typeface="Lora"/>
              <a:buNone/>
            </a:pPr>
            <a:r>
              <a:rPr lang="en-US" sz="2850">
                <a:solidFill>
                  <a:srgbClr val="38512F"/>
                </a:solidFill>
                <a:latin typeface="Lora"/>
                <a:ea typeface="Lora"/>
                <a:cs typeface="Lora"/>
                <a:sym typeface="Lora"/>
              </a:rPr>
              <a:t>Phân đoạn Truy vấn Dài </a:t>
            </a:r>
            <a:r>
              <a:rPr lang="en-US" sz="2850">
                <a:solidFill>
                  <a:srgbClr val="000000"/>
                </a:solidFill>
                <a:latin typeface="Lora"/>
                <a:ea typeface="Lora"/>
                <a:cs typeface="Lora"/>
                <a:sym typeface="Lora"/>
              </a:rPr>
              <a:t>📈</a:t>
            </a:r>
            <a:endParaRPr sz="2850">
              <a:solidFill>
                <a:schemeClr val="dk1"/>
              </a:solidFill>
              <a:latin typeface="Calibri"/>
              <a:ea typeface="Calibri"/>
              <a:cs typeface="Calibri"/>
              <a:sym typeface="Calibri"/>
            </a:endParaRPr>
          </a:p>
        </p:txBody>
      </p:sp>
      <p:sp>
        <p:nvSpPr>
          <p:cNvPr id="459" name="Google Shape;459;p32"/>
          <p:cNvSpPr/>
          <p:nvPr/>
        </p:nvSpPr>
        <p:spPr>
          <a:xfrm>
            <a:off x="631150" y="1007402"/>
            <a:ext cx="7220400" cy="378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2000"/>
              <a:buFont typeface="Lora"/>
              <a:buNone/>
            </a:pPr>
            <a:r>
              <a:rPr lang="en-US" sz="2200">
                <a:solidFill>
                  <a:srgbClr val="38512F"/>
                </a:solidFill>
                <a:latin typeface="Lora"/>
                <a:ea typeface="Lora"/>
                <a:cs typeface="Lora"/>
                <a:sym typeface="Lora"/>
              </a:rPr>
              <a:t>Kết quả 2 (Figure 7): So sánh các Nguồn LM</a:t>
            </a:r>
            <a:endParaRPr sz="2200">
              <a:solidFill>
                <a:schemeClr val="dk1"/>
              </a:solidFill>
              <a:latin typeface="Calibri"/>
              <a:ea typeface="Calibri"/>
              <a:cs typeface="Calibri"/>
              <a:sym typeface="Calibri"/>
            </a:endParaRPr>
          </a:p>
        </p:txBody>
      </p:sp>
      <p:sp>
        <p:nvSpPr>
          <p:cNvPr id="460" name="Google Shape;460;p32"/>
          <p:cNvSpPr/>
          <p:nvPr/>
        </p:nvSpPr>
        <p:spPr>
          <a:xfrm>
            <a:off x="631150" y="1508724"/>
            <a:ext cx="2546400" cy="318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2000"/>
              <a:buFont typeface="Lora"/>
              <a:buNone/>
            </a:pPr>
            <a:r>
              <a:rPr lang="en-US" sz="2400">
                <a:solidFill>
                  <a:srgbClr val="38512F"/>
                </a:solidFill>
                <a:latin typeface="Lora"/>
                <a:ea typeface="Lora"/>
                <a:cs typeface="Lora"/>
                <a:sym typeface="Lora"/>
              </a:rPr>
              <a:t>Phân tích</a:t>
            </a:r>
            <a:endParaRPr sz="2400">
              <a:solidFill>
                <a:schemeClr val="dk1"/>
              </a:solidFill>
              <a:latin typeface="Calibri"/>
              <a:ea typeface="Calibri"/>
              <a:cs typeface="Calibri"/>
              <a:sym typeface="Calibri"/>
            </a:endParaRPr>
          </a:p>
        </p:txBody>
      </p:sp>
      <p:sp>
        <p:nvSpPr>
          <p:cNvPr id="461" name="Google Shape;461;p32"/>
          <p:cNvSpPr/>
          <p:nvPr/>
        </p:nvSpPr>
        <p:spPr>
          <a:xfrm>
            <a:off x="631150" y="2004874"/>
            <a:ext cx="8010300" cy="855300"/>
          </a:xfrm>
          <a:prstGeom prst="rect">
            <a:avLst/>
          </a:prstGeom>
          <a:noFill/>
          <a:ln>
            <a:noFill/>
          </a:ln>
        </p:spPr>
        <p:txBody>
          <a:bodyPr anchorCtr="0" anchor="t" bIns="0" lIns="0" spcFirstLastPara="1" rIns="0" wrap="square" tIns="0">
            <a:noAutofit/>
          </a:bodyPr>
          <a:lstStyle/>
          <a:p>
            <a:pPr indent="-368300" lvl="0" marL="342900" marR="0" rtl="0" algn="l">
              <a:lnSpc>
                <a:spcPct val="160714"/>
              </a:lnSpc>
              <a:spcBef>
                <a:spcPts val="0"/>
              </a:spcBef>
              <a:spcAft>
                <a:spcPts val="0"/>
              </a:spcAft>
              <a:buClr>
                <a:srgbClr val="000000"/>
              </a:buClr>
              <a:buSzPts val="1800"/>
              <a:buFont typeface="Source Sans 3"/>
              <a:buChar char="•"/>
            </a:pPr>
            <a:r>
              <a:rPr lang="en-US" sz="1800">
                <a:solidFill>
                  <a:srgbClr val="000000"/>
                </a:solidFill>
                <a:latin typeface="Source Sans 3"/>
                <a:ea typeface="Source Sans 3"/>
                <a:cs typeface="Source Sans 3"/>
                <a:sym typeface="Source Sans 3"/>
              </a:rPr>
              <a:t>🥇</a:t>
            </a:r>
            <a:r>
              <a:rPr lang="en-US" sz="1800">
                <a:solidFill>
                  <a:srgbClr val="3A3630"/>
                </a:solidFill>
                <a:latin typeface="Source Sans 3"/>
                <a:ea typeface="Source Sans 3"/>
                <a:cs typeface="Source Sans 3"/>
                <a:sym typeface="Source Sans 3"/>
              </a:rPr>
              <a:t> Anchor LM (đường đỏ) cho hiệu suất tốt nhất rõ rệt (đường cong nằm cao nhất), </a:t>
            </a:r>
            <a:endParaRPr sz="1800">
              <a:solidFill>
                <a:schemeClr val="dk1"/>
              </a:solidFill>
              <a:latin typeface="Calibri"/>
              <a:ea typeface="Calibri"/>
              <a:cs typeface="Calibri"/>
              <a:sym typeface="Calibri"/>
            </a:endParaRPr>
          </a:p>
        </p:txBody>
      </p:sp>
      <p:sp>
        <p:nvSpPr>
          <p:cNvPr id="462" name="Google Shape;462;p32"/>
          <p:cNvSpPr/>
          <p:nvPr/>
        </p:nvSpPr>
        <p:spPr>
          <a:xfrm>
            <a:off x="695050" y="2800575"/>
            <a:ext cx="7882500" cy="763500"/>
          </a:xfrm>
          <a:prstGeom prst="rect">
            <a:avLst/>
          </a:prstGeom>
          <a:noFill/>
          <a:ln>
            <a:noFill/>
          </a:ln>
        </p:spPr>
        <p:txBody>
          <a:bodyPr anchorCtr="0" anchor="t" bIns="0" lIns="0" spcFirstLastPara="1" rIns="0" wrap="square" tIns="0">
            <a:noAutofit/>
          </a:bodyPr>
          <a:lstStyle/>
          <a:p>
            <a:pPr indent="-368300" lvl="0" marL="342900" marR="0" rtl="0" algn="l">
              <a:lnSpc>
                <a:spcPct val="160714"/>
              </a:lnSpc>
              <a:spcBef>
                <a:spcPts val="0"/>
              </a:spcBef>
              <a:spcAft>
                <a:spcPts val="0"/>
              </a:spcAft>
              <a:buClr>
                <a:srgbClr val="3A3630"/>
              </a:buClr>
              <a:buSzPts val="1800"/>
              <a:buFont typeface="Source Sans 3"/>
              <a:buChar char="•"/>
            </a:pPr>
            <a:r>
              <a:rPr lang="en-US" sz="1800">
                <a:solidFill>
                  <a:srgbClr val="3A3630"/>
                </a:solidFill>
                <a:latin typeface="Source Sans 3"/>
                <a:ea typeface="Source Sans 3"/>
                <a:cs typeface="Source Sans 3"/>
                <a:sym typeface="Source Sans 3"/>
              </a:rPr>
              <a:t>Body LM và Title LM (xanh dương, xanh lá) kém hơn và hiệu suất không khác biệt rõ rệt.</a:t>
            </a:r>
            <a:endParaRPr sz="1800">
              <a:solidFill>
                <a:schemeClr val="dk1"/>
              </a:solidFill>
              <a:latin typeface="Calibri"/>
              <a:ea typeface="Calibri"/>
              <a:cs typeface="Calibri"/>
              <a:sym typeface="Calibri"/>
            </a:endParaRPr>
          </a:p>
        </p:txBody>
      </p:sp>
      <p:sp>
        <p:nvSpPr>
          <p:cNvPr id="463" name="Google Shape;463;p32"/>
          <p:cNvSpPr/>
          <p:nvPr/>
        </p:nvSpPr>
        <p:spPr>
          <a:xfrm>
            <a:off x="631150" y="3597125"/>
            <a:ext cx="3685800" cy="318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2000"/>
              <a:buFont typeface="Lora"/>
              <a:buNone/>
            </a:pPr>
            <a:r>
              <a:rPr lang="en-US" sz="2400">
                <a:solidFill>
                  <a:srgbClr val="38512F"/>
                </a:solidFill>
                <a:latin typeface="Lora"/>
                <a:ea typeface="Lora"/>
                <a:cs typeface="Lora"/>
                <a:sym typeface="Lora"/>
              </a:rPr>
              <a:t>Lý do (Why Anchor?)</a:t>
            </a:r>
            <a:endParaRPr sz="2400">
              <a:solidFill>
                <a:schemeClr val="dk1"/>
              </a:solidFill>
              <a:latin typeface="Calibri"/>
              <a:ea typeface="Calibri"/>
              <a:cs typeface="Calibri"/>
              <a:sym typeface="Calibri"/>
            </a:endParaRPr>
          </a:p>
        </p:txBody>
      </p:sp>
      <p:sp>
        <p:nvSpPr>
          <p:cNvPr id="464" name="Google Shape;464;p32"/>
          <p:cNvSpPr/>
          <p:nvPr/>
        </p:nvSpPr>
        <p:spPr>
          <a:xfrm>
            <a:off x="631150" y="4185866"/>
            <a:ext cx="7882500" cy="855300"/>
          </a:xfrm>
          <a:prstGeom prst="rect">
            <a:avLst/>
          </a:prstGeom>
          <a:noFill/>
          <a:ln>
            <a:noFill/>
          </a:ln>
        </p:spPr>
        <p:txBody>
          <a:bodyPr anchorCtr="0" anchor="t" bIns="0" lIns="0" spcFirstLastPara="1" rIns="0" wrap="square" tIns="0">
            <a:noAutofit/>
          </a:bodyPr>
          <a:lstStyle/>
          <a:p>
            <a:pPr indent="-368300" lvl="0" marL="342900" marR="0" rtl="0" algn="l">
              <a:lnSpc>
                <a:spcPct val="160714"/>
              </a:lnSpc>
              <a:spcBef>
                <a:spcPts val="0"/>
              </a:spcBef>
              <a:spcAft>
                <a:spcPts val="0"/>
              </a:spcAft>
              <a:buClr>
                <a:srgbClr val="3A3630"/>
              </a:buClr>
              <a:buSzPts val="1800"/>
              <a:buFont typeface="Source Sans 3"/>
              <a:buChar char="•"/>
            </a:pPr>
            <a:r>
              <a:rPr lang="en-US" sz="1800">
                <a:solidFill>
                  <a:schemeClr val="dk1"/>
                </a:solidFill>
                <a:latin typeface="Source Sans 3"/>
                <a:ea typeface="Source Sans 3"/>
                <a:cs typeface="Source Sans 3"/>
                <a:sym typeface="Source Sans 3"/>
              </a:rPr>
              <a:t>Điều này củng cố giả thuyết của bài báo. Văn bản neo (</a:t>
            </a:r>
            <a:r>
              <a:rPr lang="en-US" sz="1800">
                <a:solidFill>
                  <a:srgbClr val="188038"/>
                </a:solidFill>
                <a:latin typeface="Source Sans 3"/>
                <a:ea typeface="Source Sans 3"/>
                <a:cs typeface="Source Sans 3"/>
                <a:sym typeface="Source Sans 3"/>
              </a:rPr>
              <a:t>Anchor</a:t>
            </a:r>
            <a:r>
              <a:rPr lang="en-US" sz="1800">
                <a:solidFill>
                  <a:schemeClr val="dk1"/>
                </a:solidFill>
                <a:latin typeface="Source Sans 3"/>
                <a:ea typeface="Source Sans 3"/>
                <a:cs typeface="Source Sans 3"/>
                <a:sym typeface="Source Sans 3"/>
              </a:rPr>
              <a:t>) thường là các cụm từ khóa, các khái niệm ngắn (ví dụ: "xe đạp địa hình", "cửa hàng lốp xe"). Cấu trúc này rất giống với cách người dùng tạo ra một truy vấn dài bằng cách ghép nhiều khái niệm lại với nhau. Do đó, mô hình </a:t>
            </a:r>
            <a:r>
              <a:rPr lang="en-US" sz="1800">
                <a:solidFill>
                  <a:srgbClr val="188038"/>
                </a:solidFill>
                <a:latin typeface="Source Sans 3"/>
                <a:ea typeface="Source Sans 3"/>
                <a:cs typeface="Source Sans 3"/>
                <a:sym typeface="Source Sans 3"/>
              </a:rPr>
              <a:t>Anchor</a:t>
            </a:r>
            <a:r>
              <a:rPr lang="en-US" sz="1800">
                <a:solidFill>
                  <a:schemeClr val="dk1"/>
                </a:solidFill>
                <a:latin typeface="Source Sans 3"/>
                <a:ea typeface="Source Sans 3"/>
                <a:cs typeface="Source Sans 3"/>
                <a:sym typeface="Source Sans 3"/>
              </a:rPr>
              <a:t> "hiểu" cấu trúc của truy vấn dài tốt hơn.</a:t>
            </a:r>
            <a:endParaRPr sz="1800">
              <a:solidFill>
                <a:srgbClr val="3A3630"/>
              </a:solidFill>
              <a:latin typeface="Source Sans 3"/>
              <a:ea typeface="Source Sans 3"/>
              <a:cs typeface="Source Sans 3"/>
              <a:sym typeface="Source Sans 3"/>
            </a:endParaRPr>
          </a:p>
        </p:txBody>
      </p:sp>
      <p:sp>
        <p:nvSpPr>
          <p:cNvPr id="465" name="Google Shape;465;p32"/>
          <p:cNvSpPr/>
          <p:nvPr/>
        </p:nvSpPr>
        <p:spPr>
          <a:xfrm>
            <a:off x="631150" y="6485275"/>
            <a:ext cx="7598400" cy="1206900"/>
          </a:xfrm>
          <a:prstGeom prst="rect">
            <a:avLst/>
          </a:prstGeom>
          <a:noFill/>
          <a:ln>
            <a:noFill/>
          </a:ln>
        </p:spPr>
        <p:txBody>
          <a:bodyPr anchorCtr="0" anchor="t" bIns="0" lIns="0" spcFirstLastPara="1" rIns="0" wrap="square" tIns="0">
            <a:noAutofit/>
          </a:bodyPr>
          <a:lstStyle/>
          <a:p>
            <a:pPr indent="-368300" lvl="0" marL="342900" marR="0" rtl="0" algn="l">
              <a:lnSpc>
                <a:spcPct val="160714"/>
              </a:lnSpc>
              <a:spcBef>
                <a:spcPts val="0"/>
              </a:spcBef>
              <a:spcAft>
                <a:spcPts val="0"/>
              </a:spcAft>
              <a:buClr>
                <a:srgbClr val="3A3630"/>
              </a:buClr>
              <a:buSzPts val="1800"/>
              <a:buFont typeface="Source Sans 3"/>
              <a:buChar char="•"/>
            </a:pPr>
            <a:r>
              <a:rPr lang="en-US" sz="1800">
                <a:solidFill>
                  <a:srgbClr val="3A3630"/>
                </a:solidFill>
                <a:latin typeface="Source Sans 3"/>
                <a:ea typeface="Source Sans 3"/>
                <a:cs typeface="Source Sans 3"/>
                <a:sym typeface="Source Sans 3"/>
              </a:rPr>
              <a:t>Cấu trúc của Anchor text giống nhất với cách người dùng ghép các khái niệm trong truy vấn dài</a:t>
            </a:r>
            <a:endParaRPr sz="1800">
              <a:solidFill>
                <a:schemeClr val="dk1"/>
              </a:solidFill>
              <a:latin typeface="Calibri"/>
              <a:ea typeface="Calibri"/>
              <a:cs typeface="Calibri"/>
              <a:sym typeface="Calibri"/>
            </a:endParaRPr>
          </a:p>
        </p:txBody>
      </p:sp>
      <p:pic>
        <p:nvPicPr>
          <p:cNvPr id="466" name="Google Shape;466;p32"/>
          <p:cNvPicPr preferRelativeResize="0"/>
          <p:nvPr/>
        </p:nvPicPr>
        <p:blipFill rotWithShape="1">
          <a:blip r:embed="rId3">
            <a:alphaModFix/>
          </a:blip>
          <a:srcRect b="0" l="0" r="0" t="0"/>
          <a:stretch/>
        </p:blipFill>
        <p:spPr>
          <a:xfrm>
            <a:off x="8723675" y="809925"/>
            <a:ext cx="5792004" cy="5698400"/>
          </a:xfrm>
          <a:prstGeom prst="rect">
            <a:avLst/>
          </a:prstGeom>
          <a:noFill/>
          <a:ln>
            <a:noFill/>
          </a:ln>
        </p:spPr>
      </p:pic>
      <p:sp>
        <p:nvSpPr>
          <p:cNvPr id="467" name="Google Shape;467;p32"/>
          <p:cNvSpPr txBox="1"/>
          <p:nvPr/>
        </p:nvSpPr>
        <p:spPr>
          <a:xfrm>
            <a:off x="9166225" y="6682225"/>
            <a:ext cx="5041200" cy="8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latin typeface="Source Sans 3"/>
                <a:ea typeface="Source Sans 3"/>
                <a:cs typeface="Source Sans 3"/>
                <a:sym typeface="Source Sans 3"/>
              </a:rPr>
              <a:t> Biểu đồ 7 :Sự đánh đổi giữa tỷ lệ khớp chính xác và tỷ lệ vi phạm trong việc phân đoạn truy vấn dài bằng cách sử dụng các mô hình ngôn ngữ n-gram khác nhau</a:t>
            </a:r>
            <a:endParaRPr sz="1600">
              <a:latin typeface="Source Sans 3"/>
              <a:ea typeface="Source Sans 3"/>
              <a:cs typeface="Source Sans 3"/>
              <a:sym typeface="Source Sans 3"/>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3"/>
          <p:cNvSpPr/>
          <p:nvPr/>
        </p:nvSpPr>
        <p:spPr>
          <a:xfrm>
            <a:off x="837724" y="1119664"/>
            <a:ext cx="9120600" cy="704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4400"/>
              <a:buFont typeface="Lora"/>
              <a:buNone/>
            </a:pPr>
            <a:r>
              <a:rPr b="0" i="0" lang="en-US" sz="4400" u="none" cap="none" strike="noStrike">
                <a:solidFill>
                  <a:srgbClr val="38512F"/>
                </a:solidFill>
                <a:latin typeface="Lora"/>
                <a:ea typeface="Lora"/>
                <a:cs typeface="Lora"/>
                <a:sym typeface="Lora"/>
              </a:rPr>
              <a:t>Kết luận – Tổng kết Phát hiện</a:t>
            </a:r>
            <a:endParaRPr b="0" i="0" sz="4400" u="none" cap="none" strike="noStrike"/>
          </a:p>
        </p:txBody>
      </p:sp>
      <p:sp>
        <p:nvSpPr>
          <p:cNvPr id="474" name="Google Shape;474;p33"/>
          <p:cNvSpPr/>
          <p:nvPr/>
        </p:nvSpPr>
        <p:spPr>
          <a:xfrm>
            <a:off x="837724" y="2302431"/>
            <a:ext cx="12954900" cy="486300"/>
          </a:xfrm>
          <a:prstGeom prst="rect">
            <a:avLst/>
          </a:prstGeom>
          <a:noFill/>
          <a:ln>
            <a:noFill/>
          </a:ln>
        </p:spPr>
        <p:txBody>
          <a:bodyPr anchorCtr="0" anchor="t" bIns="0" lIns="0" spcFirstLastPara="1" rIns="0" wrap="square" tIns="0">
            <a:noAutofit/>
          </a:bodyPr>
          <a:lstStyle/>
          <a:p>
            <a:pPr indent="0" lvl="0" marL="0" marR="0" rtl="0" algn="l">
              <a:lnSpc>
                <a:spcPct val="159574"/>
              </a:lnSpc>
              <a:spcBef>
                <a:spcPts val="0"/>
              </a:spcBef>
              <a:spcAft>
                <a:spcPts val="0"/>
              </a:spcAft>
              <a:buClr>
                <a:srgbClr val="000000"/>
              </a:buClr>
              <a:buSzPts val="2350"/>
              <a:buFont typeface="Source Sans 3"/>
              <a:buNone/>
            </a:pPr>
            <a:r>
              <a:rPr b="0" i="0" lang="en-US" sz="2350" u="none" cap="none" strike="noStrike">
                <a:solidFill>
                  <a:srgbClr val="000000"/>
                </a:solidFill>
                <a:latin typeface="Source Sans 3"/>
                <a:ea typeface="Source Sans 3"/>
                <a:cs typeface="Source Sans 3"/>
                <a:sym typeface="Source Sans 3"/>
              </a:rPr>
              <a:t>🔑</a:t>
            </a:r>
            <a:r>
              <a:rPr b="0" i="0" lang="en-US" sz="2350" u="none" cap="none" strike="noStrike">
                <a:solidFill>
                  <a:srgbClr val="3A3630"/>
                </a:solidFill>
                <a:latin typeface="Source Sans 3"/>
                <a:ea typeface="Source Sans 3"/>
                <a:cs typeface="Source Sans 3"/>
                <a:sym typeface="Source Sans 3"/>
              </a:rPr>
              <a:t> Tổng kết Nghiên cứu</a:t>
            </a:r>
            <a:endParaRPr b="0" i="0" sz="2350" u="none" cap="none" strike="noStrike"/>
          </a:p>
        </p:txBody>
      </p:sp>
      <p:pic>
        <p:nvPicPr>
          <p:cNvPr descr="preencoded.png" id="475" name="Google Shape;475;p33"/>
          <p:cNvPicPr preferRelativeResize="0"/>
          <p:nvPr/>
        </p:nvPicPr>
        <p:blipFill rotWithShape="1">
          <a:blip r:embed="rId3">
            <a:alphaModFix/>
          </a:blip>
          <a:srcRect b="0" l="0" r="0" t="0"/>
          <a:stretch/>
        </p:blipFill>
        <p:spPr>
          <a:xfrm>
            <a:off x="837724" y="3057882"/>
            <a:ext cx="598408" cy="598408"/>
          </a:xfrm>
          <a:prstGeom prst="rect">
            <a:avLst/>
          </a:prstGeom>
          <a:noFill/>
          <a:ln>
            <a:noFill/>
          </a:ln>
        </p:spPr>
      </p:pic>
      <p:sp>
        <p:nvSpPr>
          <p:cNvPr id="476" name="Google Shape;476;p33"/>
          <p:cNvSpPr/>
          <p:nvPr/>
        </p:nvSpPr>
        <p:spPr>
          <a:xfrm>
            <a:off x="1735336" y="3199924"/>
            <a:ext cx="2816100" cy="35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2200"/>
              <a:buFont typeface="Lora"/>
              <a:buNone/>
            </a:pPr>
            <a:r>
              <a:rPr b="0" i="0" lang="en-US" sz="2200" u="none" cap="none" strike="noStrike">
                <a:solidFill>
                  <a:srgbClr val="3A3630"/>
                </a:solidFill>
                <a:latin typeface="Lora"/>
                <a:ea typeface="Lora"/>
                <a:cs typeface="Lora"/>
                <a:sym typeface="Lora"/>
              </a:rPr>
              <a:t>Nền tảng Nghiên cứu</a:t>
            </a:r>
            <a:endParaRPr b="0" i="0" sz="2200" u="none" cap="none" strike="noStrike"/>
          </a:p>
        </p:txBody>
      </p:sp>
      <p:sp>
        <p:nvSpPr>
          <p:cNvPr id="477" name="Google Shape;477;p33"/>
          <p:cNvSpPr/>
          <p:nvPr/>
        </p:nvSpPr>
        <p:spPr>
          <a:xfrm>
            <a:off x="1735336" y="3695462"/>
            <a:ext cx="5430300" cy="11490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3A3630"/>
              </a:buClr>
              <a:buSzPts val="1850"/>
              <a:buFont typeface="Source Sans 3"/>
              <a:buNone/>
            </a:pPr>
            <a:r>
              <a:rPr b="0" i="0" lang="en-US" sz="1850" u="none" cap="none" strike="noStrike">
                <a:solidFill>
                  <a:srgbClr val="3A3630"/>
                </a:solidFill>
                <a:latin typeface="Source Sans 3"/>
                <a:ea typeface="Source Sans 3"/>
                <a:cs typeface="Source Sans 3"/>
                <a:sym typeface="Source Sans 3"/>
              </a:rPr>
              <a:t>Sử dụng mô hình n-gram (language model) để phân tích thông tin ngôn ngữ từ dữ liệu web khổng lồ, chưa được gắn nhãn và chưa được lọc.</a:t>
            </a:r>
            <a:endParaRPr b="0" i="0" sz="1850" u="none" cap="none" strike="noStrike"/>
          </a:p>
        </p:txBody>
      </p:sp>
      <p:pic>
        <p:nvPicPr>
          <p:cNvPr descr="preencoded.png" id="478" name="Google Shape;478;p33"/>
          <p:cNvPicPr preferRelativeResize="0"/>
          <p:nvPr/>
        </p:nvPicPr>
        <p:blipFill rotWithShape="1">
          <a:blip r:embed="rId4">
            <a:alphaModFix/>
          </a:blip>
          <a:srcRect b="0" l="0" r="0" t="0"/>
          <a:stretch/>
        </p:blipFill>
        <p:spPr>
          <a:xfrm>
            <a:off x="7464743" y="3057882"/>
            <a:ext cx="598408" cy="598408"/>
          </a:xfrm>
          <a:prstGeom prst="rect">
            <a:avLst/>
          </a:prstGeom>
          <a:noFill/>
          <a:ln>
            <a:noFill/>
          </a:ln>
        </p:spPr>
      </p:pic>
      <p:sp>
        <p:nvSpPr>
          <p:cNvPr id="479" name="Google Shape;479;p33"/>
          <p:cNvSpPr/>
          <p:nvPr/>
        </p:nvSpPr>
        <p:spPr>
          <a:xfrm>
            <a:off x="8362355" y="3199924"/>
            <a:ext cx="3506400" cy="35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2200"/>
              <a:buFont typeface="Lora"/>
              <a:buNone/>
            </a:pPr>
            <a:r>
              <a:rPr b="0" i="0" lang="en-US" sz="2200" u="none" cap="none" strike="noStrike">
                <a:solidFill>
                  <a:srgbClr val="3A3630"/>
                </a:solidFill>
                <a:latin typeface="Lora"/>
                <a:ea typeface="Lora"/>
                <a:cs typeface="Lora"/>
                <a:sym typeface="Lora"/>
              </a:rPr>
              <a:t>Phương pháp Xây dựng LM</a:t>
            </a:r>
            <a:endParaRPr b="0" i="0" sz="2200" u="none" cap="none" strike="noStrike"/>
          </a:p>
        </p:txBody>
      </p:sp>
      <p:sp>
        <p:nvSpPr>
          <p:cNvPr id="480" name="Google Shape;480;p33"/>
          <p:cNvSpPr/>
          <p:nvPr/>
        </p:nvSpPr>
        <p:spPr>
          <a:xfrm>
            <a:off x="8362355" y="3695462"/>
            <a:ext cx="5430300" cy="11490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3A3630"/>
              </a:buClr>
              <a:buSzPts val="1850"/>
              <a:buFont typeface="Source Sans 3"/>
              <a:buNone/>
            </a:pPr>
            <a:r>
              <a:rPr b="0" i="0" lang="en-US" sz="1850" u="none" cap="none" strike="noStrike">
                <a:solidFill>
                  <a:srgbClr val="3A3630"/>
                </a:solidFill>
                <a:latin typeface="Source Sans 3"/>
                <a:ea typeface="Source Sans 3"/>
                <a:cs typeface="Source Sans 3"/>
                <a:sym typeface="Source Sans 3"/>
              </a:rPr>
              <a:t>Xây dựng các mô hình ngôn ngữ quy mô web từ 4 nguồn dữ liệu chính: Văn bản neo, Tiêu đề, Nội dung tài liệu và Truy vấn tìm kiếm.</a:t>
            </a:r>
            <a:endParaRPr b="0" i="0" sz="1850" u="none" cap="none" strike="noStrike"/>
          </a:p>
        </p:txBody>
      </p:sp>
      <p:pic>
        <p:nvPicPr>
          <p:cNvPr descr="preencoded.png" id="481" name="Google Shape;481;p33"/>
          <p:cNvPicPr preferRelativeResize="0"/>
          <p:nvPr/>
        </p:nvPicPr>
        <p:blipFill rotWithShape="1">
          <a:blip r:embed="rId5">
            <a:alphaModFix/>
          </a:blip>
          <a:srcRect b="0" l="0" r="0" t="0"/>
          <a:stretch/>
        </p:blipFill>
        <p:spPr>
          <a:xfrm>
            <a:off x="837724" y="5323284"/>
            <a:ext cx="598408" cy="598408"/>
          </a:xfrm>
          <a:prstGeom prst="rect">
            <a:avLst/>
          </a:prstGeom>
          <a:noFill/>
          <a:ln>
            <a:noFill/>
          </a:ln>
        </p:spPr>
      </p:pic>
      <p:sp>
        <p:nvSpPr>
          <p:cNvPr id="482" name="Google Shape;482;p33"/>
          <p:cNvSpPr/>
          <p:nvPr/>
        </p:nvSpPr>
        <p:spPr>
          <a:xfrm>
            <a:off x="1735336" y="5465326"/>
            <a:ext cx="2816100" cy="35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2200"/>
              <a:buFont typeface="Lora"/>
              <a:buNone/>
            </a:pPr>
            <a:r>
              <a:rPr b="0" i="0" lang="en-US" sz="2200" u="none" cap="none" strike="noStrike">
                <a:solidFill>
                  <a:srgbClr val="3A3630"/>
                </a:solidFill>
                <a:latin typeface="Lora"/>
                <a:ea typeface="Lora"/>
                <a:cs typeface="Lora"/>
                <a:sym typeface="Lora"/>
              </a:rPr>
              <a:t>Phát hiện Lý thuyết</a:t>
            </a:r>
            <a:endParaRPr b="0" i="0" sz="2200" u="none" cap="none" strike="noStrike"/>
          </a:p>
        </p:txBody>
      </p:sp>
      <p:sp>
        <p:nvSpPr>
          <p:cNvPr id="483" name="Google Shape;483;p33"/>
          <p:cNvSpPr/>
          <p:nvPr/>
        </p:nvSpPr>
        <p:spPr>
          <a:xfrm>
            <a:off x="1735336" y="5960864"/>
            <a:ext cx="5430300" cy="11490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3A3630"/>
              </a:buClr>
              <a:buSzPts val="1850"/>
              <a:buFont typeface="Source Sans 3"/>
              <a:buNone/>
            </a:pPr>
            <a:r>
              <a:rPr b="0" i="0" lang="en-US" sz="1850" u="none" cap="none" strike="noStrike">
                <a:solidFill>
                  <a:srgbClr val="3A3630"/>
                </a:solidFill>
                <a:latin typeface="Source Sans 3"/>
                <a:ea typeface="Source Sans 3"/>
                <a:cs typeface="Source Sans 3"/>
                <a:sym typeface="Source Sans 3"/>
              </a:rPr>
              <a:t>Phân tích lý thuyết thông tin đã định lượng sự khác biệt ngôn ngữ. Ngôn ngữ truy vấn giống nhất với cách tóm tắt trong văn bản neo và tiêu đề.</a:t>
            </a:r>
            <a:endParaRPr b="0" i="0" sz="1850" u="none" cap="none" strike="noStrike"/>
          </a:p>
        </p:txBody>
      </p:sp>
      <p:pic>
        <p:nvPicPr>
          <p:cNvPr descr="preencoded.png" id="484" name="Google Shape;484;p33"/>
          <p:cNvPicPr preferRelativeResize="0"/>
          <p:nvPr/>
        </p:nvPicPr>
        <p:blipFill rotWithShape="1">
          <a:blip r:embed="rId6">
            <a:alphaModFix/>
          </a:blip>
          <a:srcRect b="0" l="0" r="0" t="0"/>
          <a:stretch/>
        </p:blipFill>
        <p:spPr>
          <a:xfrm>
            <a:off x="7464743" y="5323284"/>
            <a:ext cx="598408" cy="598408"/>
          </a:xfrm>
          <a:prstGeom prst="rect">
            <a:avLst/>
          </a:prstGeom>
          <a:noFill/>
          <a:ln>
            <a:noFill/>
          </a:ln>
        </p:spPr>
      </p:pic>
      <p:sp>
        <p:nvSpPr>
          <p:cNvPr id="485" name="Google Shape;485;p33"/>
          <p:cNvSpPr/>
          <p:nvPr/>
        </p:nvSpPr>
        <p:spPr>
          <a:xfrm>
            <a:off x="8362355" y="5465326"/>
            <a:ext cx="2816100" cy="35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A3630"/>
              </a:buClr>
              <a:buSzPts val="2200"/>
              <a:buFont typeface="Lora"/>
              <a:buNone/>
            </a:pPr>
            <a:r>
              <a:rPr b="0" i="0" lang="en-US" sz="2200" u="none" cap="none" strike="noStrike">
                <a:solidFill>
                  <a:srgbClr val="3A3630"/>
                </a:solidFill>
                <a:latin typeface="Lora"/>
                <a:ea typeface="Lora"/>
                <a:cs typeface="Lora"/>
                <a:sym typeface="Lora"/>
              </a:rPr>
              <a:t>Phát hiện Ứng dụng</a:t>
            </a:r>
            <a:endParaRPr b="0" i="0" sz="2200" u="none" cap="none" strike="noStrike"/>
          </a:p>
        </p:txBody>
      </p:sp>
      <p:sp>
        <p:nvSpPr>
          <p:cNvPr id="486" name="Google Shape;486;p33"/>
          <p:cNvSpPr/>
          <p:nvPr/>
        </p:nvSpPr>
        <p:spPr>
          <a:xfrm>
            <a:off x="8362355" y="5960864"/>
            <a:ext cx="5430300" cy="11490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3A3630"/>
              </a:buClr>
              <a:buSzPts val="1850"/>
              <a:buFont typeface="Source Sans 3"/>
              <a:buNone/>
            </a:pPr>
            <a:r>
              <a:rPr b="0" i="0" lang="en-US" sz="1850" u="none" cap="none" strike="noStrike">
                <a:solidFill>
                  <a:srgbClr val="3A3630"/>
                </a:solidFill>
                <a:latin typeface="Source Sans 3"/>
                <a:ea typeface="Source Sans 3"/>
                <a:cs typeface="Source Sans 3"/>
                <a:sym typeface="Source Sans 3"/>
              </a:rPr>
              <a:t>Áp dụng thành công các LM vào 3 tác vụ Xử lý Truy vấn Tìm kiếm: Sửa lỗi chính tả, Phân nhóm và Phân đoạn, với phương pháp phi giám sát.</a:t>
            </a:r>
            <a:endParaRPr b="0" i="0" sz="1850" u="none" cap="none" strike="noStrike"/>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descr="preencoded.png" id="492" name="Google Shape;492;p3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493" name="Google Shape;493;p34"/>
          <p:cNvSpPr/>
          <p:nvPr/>
        </p:nvSpPr>
        <p:spPr>
          <a:xfrm>
            <a:off x="471964" y="575429"/>
            <a:ext cx="7775400" cy="396600"/>
          </a:xfrm>
          <a:prstGeom prst="rect">
            <a:avLst/>
          </a:prstGeom>
          <a:noFill/>
          <a:ln>
            <a:noFill/>
          </a:ln>
        </p:spPr>
        <p:txBody>
          <a:bodyPr anchorCtr="0" anchor="t" bIns="0" lIns="0" spcFirstLastPara="1" rIns="0" wrap="square" tIns="0">
            <a:noAutofit/>
          </a:bodyPr>
          <a:lstStyle/>
          <a:p>
            <a:pPr indent="0" lvl="0" marL="0" marR="0" rtl="0" algn="l">
              <a:lnSpc>
                <a:spcPct val="126530"/>
              </a:lnSpc>
              <a:spcBef>
                <a:spcPts val="0"/>
              </a:spcBef>
              <a:spcAft>
                <a:spcPts val="0"/>
              </a:spcAft>
              <a:buClr>
                <a:srgbClr val="38512F"/>
              </a:buClr>
              <a:buSzPts val="2450"/>
              <a:buFont typeface="Lora"/>
              <a:buNone/>
            </a:pPr>
            <a:r>
              <a:rPr b="0" i="0" lang="en-US" sz="2450" u="none" cap="none" strike="noStrike">
                <a:solidFill>
                  <a:srgbClr val="38512F"/>
                </a:solidFill>
                <a:latin typeface="Lora"/>
                <a:ea typeface="Lora"/>
                <a:cs typeface="Lora"/>
                <a:sym typeface="Lora"/>
              </a:rPr>
              <a:t>Kết luận – Hướng dẫn &amp; Khuyến nghị Thực tiễn</a:t>
            </a:r>
            <a:endParaRPr b="0" i="0" sz="2450" u="none" cap="none" strike="noStrike"/>
          </a:p>
        </p:txBody>
      </p:sp>
      <p:sp>
        <p:nvSpPr>
          <p:cNvPr id="494" name="Google Shape;494;p34"/>
          <p:cNvSpPr/>
          <p:nvPr/>
        </p:nvSpPr>
        <p:spPr>
          <a:xfrm>
            <a:off x="471964" y="1174313"/>
            <a:ext cx="8200200" cy="5394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3A3630"/>
              </a:buClr>
              <a:buSzPts val="1300"/>
              <a:buFont typeface="Source Sans 3"/>
              <a:buNone/>
            </a:pPr>
            <a:r>
              <a:rPr b="0" i="0" lang="en-US" sz="1300" u="none" cap="none" strike="noStrike">
                <a:solidFill>
                  <a:srgbClr val="3A3630"/>
                </a:solidFill>
                <a:latin typeface="Source Sans 3"/>
                <a:ea typeface="Source Sans 3"/>
                <a:cs typeface="Source Sans 3"/>
                <a:sym typeface="Source Sans 3"/>
              </a:rPr>
              <a:t>Nghiên cứu này mang lại một số hướng dẫn thực tiễn quan trọng cho việc xây dựng và áp dụng Mô hình Ngôn ngữ (LM):</a:t>
            </a:r>
            <a:endParaRPr b="0" i="0" sz="1300" u="none" cap="none" strike="noStrike"/>
          </a:p>
        </p:txBody>
      </p:sp>
      <p:sp>
        <p:nvSpPr>
          <p:cNvPr id="495" name="Google Shape;495;p34"/>
          <p:cNvSpPr/>
          <p:nvPr/>
        </p:nvSpPr>
        <p:spPr>
          <a:xfrm>
            <a:off x="471964" y="2067639"/>
            <a:ext cx="8200200" cy="1197900"/>
          </a:xfrm>
          <a:prstGeom prst="roundRect">
            <a:avLst>
              <a:gd fmla="val 6107" name="adj"/>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96" name="Google Shape;496;p34"/>
          <p:cNvSpPr/>
          <p:nvPr/>
        </p:nvSpPr>
        <p:spPr>
          <a:xfrm>
            <a:off x="471964" y="2052399"/>
            <a:ext cx="8200200" cy="60900"/>
          </a:xfrm>
          <a:prstGeom prst="roundRect">
            <a:avLst>
              <a:gd fmla="val 33184"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4"/>
          <p:cNvSpPr/>
          <p:nvPr/>
        </p:nvSpPr>
        <p:spPr>
          <a:xfrm>
            <a:off x="4369713" y="1865352"/>
            <a:ext cx="404700" cy="404700"/>
          </a:xfrm>
          <a:prstGeom prst="roundRect">
            <a:avLst>
              <a:gd fmla="val 226016"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8" name="Google Shape;498;p34"/>
          <p:cNvPicPr preferRelativeResize="0"/>
          <p:nvPr/>
        </p:nvPicPr>
        <p:blipFill rotWithShape="1">
          <a:blip r:embed="rId4">
            <a:alphaModFix/>
          </a:blip>
          <a:srcRect b="0" l="0" r="0" t="0"/>
          <a:stretch/>
        </p:blipFill>
        <p:spPr>
          <a:xfrm>
            <a:off x="4491038" y="1986677"/>
            <a:ext cx="161806" cy="161806"/>
          </a:xfrm>
          <a:prstGeom prst="rect">
            <a:avLst/>
          </a:prstGeom>
          <a:noFill/>
          <a:ln>
            <a:noFill/>
          </a:ln>
        </p:spPr>
      </p:pic>
      <p:sp>
        <p:nvSpPr>
          <p:cNvPr id="499" name="Google Shape;499;p34"/>
          <p:cNvSpPr/>
          <p:nvPr/>
        </p:nvSpPr>
        <p:spPr>
          <a:xfrm>
            <a:off x="621967" y="2404700"/>
            <a:ext cx="3582900" cy="19830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3A3630"/>
              </a:buClr>
              <a:buSzPts val="1200"/>
              <a:buFont typeface="Lora"/>
              <a:buNone/>
            </a:pPr>
            <a:r>
              <a:rPr b="0" i="0" lang="en-US" sz="1600" u="none" cap="none" strike="noStrike">
                <a:solidFill>
                  <a:srgbClr val="3A3630"/>
                </a:solidFill>
                <a:latin typeface="Lora"/>
                <a:ea typeface="Lora"/>
                <a:cs typeface="Lora"/>
                <a:sym typeface="Lora"/>
              </a:rPr>
              <a:t>Perplexity là chỉ báo tốt</a:t>
            </a:r>
            <a:endParaRPr b="0" i="0" sz="1600" u="none" cap="none" strike="noStrike"/>
          </a:p>
        </p:txBody>
      </p:sp>
      <p:sp>
        <p:nvSpPr>
          <p:cNvPr id="500" name="Google Shape;500;p34"/>
          <p:cNvSpPr/>
          <p:nvPr/>
        </p:nvSpPr>
        <p:spPr>
          <a:xfrm>
            <a:off x="621983" y="2683907"/>
            <a:ext cx="7899900" cy="4314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3A3630"/>
              </a:buClr>
              <a:buSzPts val="1050"/>
              <a:buFont typeface="Source Sans 3"/>
              <a:buNone/>
            </a:pPr>
            <a:r>
              <a:rPr b="0" i="0" lang="en-US" sz="1300" u="none" cap="none" strike="noStrike">
                <a:solidFill>
                  <a:srgbClr val="3A3630"/>
                </a:solidFill>
                <a:latin typeface="Source Sans 3"/>
                <a:ea typeface="Source Sans 3"/>
                <a:cs typeface="Source Sans 3"/>
                <a:sym typeface="Source Sans 3"/>
              </a:rPr>
              <a:t>Perplexity (một thước đo lý thuyết) là chỉ báo độ chính xác hiệu quả cho các tác vụ thực tế. Có thể dùng để phân bổ tài nguyên kỹ thuật một cách thông minh (ví dụ: ưu tiên mô hình có perplexity thấp).</a:t>
            </a:r>
            <a:endParaRPr b="0" i="0" sz="1300" u="none" cap="none" strike="noStrike"/>
          </a:p>
        </p:txBody>
      </p:sp>
      <p:sp>
        <p:nvSpPr>
          <p:cNvPr id="501" name="Google Shape;501;p34"/>
          <p:cNvSpPr/>
          <p:nvPr/>
        </p:nvSpPr>
        <p:spPr>
          <a:xfrm>
            <a:off x="471964" y="3602474"/>
            <a:ext cx="8200200" cy="981900"/>
          </a:xfrm>
          <a:prstGeom prst="roundRect">
            <a:avLst>
              <a:gd fmla="val 7449" name="adj"/>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4"/>
          <p:cNvSpPr/>
          <p:nvPr/>
        </p:nvSpPr>
        <p:spPr>
          <a:xfrm>
            <a:off x="471964" y="3587234"/>
            <a:ext cx="8200200" cy="60900"/>
          </a:xfrm>
          <a:prstGeom prst="roundRect">
            <a:avLst>
              <a:gd fmla="val 33184"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4"/>
          <p:cNvSpPr/>
          <p:nvPr/>
        </p:nvSpPr>
        <p:spPr>
          <a:xfrm>
            <a:off x="4369713" y="3400187"/>
            <a:ext cx="404700" cy="404700"/>
          </a:xfrm>
          <a:prstGeom prst="roundRect">
            <a:avLst>
              <a:gd fmla="val 226016"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4" name="Google Shape;504;p34"/>
          <p:cNvPicPr preferRelativeResize="0"/>
          <p:nvPr/>
        </p:nvPicPr>
        <p:blipFill rotWithShape="1">
          <a:blip r:embed="rId5">
            <a:alphaModFix/>
          </a:blip>
          <a:srcRect b="0" l="0" r="0" t="0"/>
          <a:stretch/>
        </p:blipFill>
        <p:spPr>
          <a:xfrm>
            <a:off x="4491038" y="3521512"/>
            <a:ext cx="161806" cy="161806"/>
          </a:xfrm>
          <a:prstGeom prst="rect">
            <a:avLst/>
          </a:prstGeom>
          <a:noFill/>
          <a:ln>
            <a:noFill/>
          </a:ln>
        </p:spPr>
      </p:pic>
      <p:sp>
        <p:nvSpPr>
          <p:cNvPr id="505" name="Google Shape;505;p34"/>
          <p:cNvSpPr/>
          <p:nvPr/>
        </p:nvSpPr>
        <p:spPr>
          <a:xfrm>
            <a:off x="621971" y="3939550"/>
            <a:ext cx="5118000" cy="19830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3A3630"/>
              </a:buClr>
              <a:buSzPts val="1200"/>
              <a:buFont typeface="Lora"/>
              <a:buNone/>
            </a:pPr>
            <a:r>
              <a:rPr b="0" i="0" lang="en-US" sz="1600" u="none" cap="none" strike="noStrike">
                <a:solidFill>
                  <a:srgbClr val="3A3630"/>
                </a:solidFill>
                <a:latin typeface="Lora"/>
                <a:ea typeface="Lora"/>
                <a:cs typeface="Lora"/>
                <a:sym typeface="Lora"/>
              </a:rPr>
              <a:t>Làm mượt (Smoothed) &gt; Đếm thô (Web Counts)</a:t>
            </a:r>
            <a:endParaRPr b="0" i="0" sz="1600" u="none" cap="none" strike="noStrike"/>
          </a:p>
        </p:txBody>
      </p:sp>
      <p:sp>
        <p:nvSpPr>
          <p:cNvPr id="506" name="Google Shape;506;p34"/>
          <p:cNvSpPr/>
          <p:nvPr/>
        </p:nvSpPr>
        <p:spPr>
          <a:xfrm>
            <a:off x="621983" y="4218742"/>
            <a:ext cx="7899900" cy="2157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3A3630"/>
              </a:buClr>
              <a:buSzPts val="1050"/>
              <a:buFont typeface="Source Sans 3"/>
              <a:buNone/>
            </a:pPr>
            <a:r>
              <a:rPr b="0" i="0" lang="en-US" sz="1300" u="none" cap="none" strike="noStrike">
                <a:solidFill>
                  <a:srgbClr val="3A3630"/>
                </a:solidFill>
                <a:latin typeface="Source Sans 3"/>
                <a:ea typeface="Source Sans 3"/>
                <a:cs typeface="Source Sans 3"/>
                <a:sym typeface="Source Sans 3"/>
              </a:rPr>
              <a:t>Mô hình n-gram đã làm mượt cải thiện độ chính xác đáng kể so với việc chỉ dùng đếm tần suất thô (web counts).</a:t>
            </a:r>
            <a:endParaRPr b="0" i="0" sz="1300" u="none" cap="none" strike="noStrike"/>
          </a:p>
        </p:txBody>
      </p:sp>
      <p:sp>
        <p:nvSpPr>
          <p:cNvPr id="507" name="Google Shape;507;p34"/>
          <p:cNvSpPr/>
          <p:nvPr/>
        </p:nvSpPr>
        <p:spPr>
          <a:xfrm>
            <a:off x="471964" y="4921568"/>
            <a:ext cx="8200200" cy="1197900"/>
          </a:xfrm>
          <a:prstGeom prst="roundRect">
            <a:avLst>
              <a:gd fmla="val 6107" name="adj"/>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4"/>
          <p:cNvSpPr/>
          <p:nvPr/>
        </p:nvSpPr>
        <p:spPr>
          <a:xfrm>
            <a:off x="471964" y="4906328"/>
            <a:ext cx="8200200" cy="60900"/>
          </a:xfrm>
          <a:prstGeom prst="roundRect">
            <a:avLst>
              <a:gd fmla="val 33184"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4"/>
          <p:cNvSpPr/>
          <p:nvPr/>
        </p:nvSpPr>
        <p:spPr>
          <a:xfrm>
            <a:off x="4369713" y="4719280"/>
            <a:ext cx="404700" cy="404700"/>
          </a:xfrm>
          <a:prstGeom prst="roundRect">
            <a:avLst>
              <a:gd fmla="val 226016"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0" name="Google Shape;510;p34"/>
          <p:cNvPicPr preferRelativeResize="0"/>
          <p:nvPr/>
        </p:nvPicPr>
        <p:blipFill rotWithShape="1">
          <a:blip r:embed="rId6">
            <a:alphaModFix/>
          </a:blip>
          <a:srcRect b="0" l="0" r="0" t="0"/>
          <a:stretch/>
        </p:blipFill>
        <p:spPr>
          <a:xfrm>
            <a:off x="4491038" y="4840605"/>
            <a:ext cx="161806" cy="161806"/>
          </a:xfrm>
          <a:prstGeom prst="rect">
            <a:avLst/>
          </a:prstGeom>
          <a:noFill/>
          <a:ln>
            <a:noFill/>
          </a:ln>
        </p:spPr>
      </p:pic>
      <p:sp>
        <p:nvSpPr>
          <p:cNvPr id="511" name="Google Shape;511;p34"/>
          <p:cNvSpPr/>
          <p:nvPr/>
        </p:nvSpPr>
        <p:spPr>
          <a:xfrm>
            <a:off x="621970" y="5258625"/>
            <a:ext cx="2908200" cy="19830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3A3630"/>
              </a:buClr>
              <a:buSzPts val="1200"/>
              <a:buFont typeface="Lora"/>
              <a:buNone/>
            </a:pPr>
            <a:r>
              <a:rPr b="0" i="0" lang="en-US" sz="1600" u="none" cap="none" strike="noStrike">
                <a:solidFill>
                  <a:srgbClr val="3A3630"/>
                </a:solidFill>
                <a:latin typeface="Lora"/>
                <a:ea typeface="Lora"/>
                <a:cs typeface="Lora"/>
                <a:sym typeface="Lora"/>
              </a:rPr>
              <a:t>Bậc 3 (Trigram) là tối ưu</a:t>
            </a:r>
            <a:endParaRPr b="0" i="0" sz="1600" u="none" cap="none" strike="noStrike"/>
          </a:p>
        </p:txBody>
      </p:sp>
      <p:sp>
        <p:nvSpPr>
          <p:cNvPr id="512" name="Google Shape;512;p34"/>
          <p:cNvSpPr/>
          <p:nvPr/>
        </p:nvSpPr>
        <p:spPr>
          <a:xfrm>
            <a:off x="621983" y="5537835"/>
            <a:ext cx="7899900" cy="4314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3A3630"/>
              </a:buClr>
              <a:buSzPts val="1050"/>
              <a:buFont typeface="Source Sans 3"/>
              <a:buNone/>
            </a:pPr>
            <a:r>
              <a:rPr b="0" i="0" lang="en-US" sz="1300" u="none" cap="none" strike="noStrike">
                <a:solidFill>
                  <a:srgbClr val="3A3630"/>
                </a:solidFill>
                <a:latin typeface="Source Sans 3"/>
                <a:ea typeface="Source Sans 3"/>
                <a:cs typeface="Source Sans 3"/>
                <a:sym typeface="Source Sans 3"/>
              </a:rPr>
              <a:t>Mô hình Trigram (bậc 3) cho hiệu suất vượt trội so với unigram/bigram. Tăng bậc lên cao hơn (ví dụ: 4-gram) thường chỉ mang lại lợi ích giảm dần.</a:t>
            </a:r>
            <a:endParaRPr b="0" i="0" sz="1300" u="none" cap="none" strike="noStrike"/>
          </a:p>
        </p:txBody>
      </p:sp>
      <p:sp>
        <p:nvSpPr>
          <p:cNvPr id="513" name="Google Shape;513;p34"/>
          <p:cNvSpPr/>
          <p:nvPr/>
        </p:nvSpPr>
        <p:spPr>
          <a:xfrm>
            <a:off x="471964" y="6456402"/>
            <a:ext cx="8200200" cy="1197900"/>
          </a:xfrm>
          <a:prstGeom prst="roundRect">
            <a:avLst>
              <a:gd fmla="val 6107" name="adj"/>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4"/>
          <p:cNvSpPr/>
          <p:nvPr/>
        </p:nvSpPr>
        <p:spPr>
          <a:xfrm>
            <a:off x="471964" y="6441162"/>
            <a:ext cx="8200200" cy="60900"/>
          </a:xfrm>
          <a:prstGeom prst="roundRect">
            <a:avLst>
              <a:gd fmla="val 33184"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4"/>
          <p:cNvSpPr/>
          <p:nvPr/>
        </p:nvSpPr>
        <p:spPr>
          <a:xfrm>
            <a:off x="4369713" y="6254115"/>
            <a:ext cx="404700" cy="404700"/>
          </a:xfrm>
          <a:prstGeom prst="roundRect">
            <a:avLst>
              <a:gd fmla="val 226016"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6" name="Google Shape;516;p34"/>
          <p:cNvPicPr preferRelativeResize="0"/>
          <p:nvPr/>
        </p:nvPicPr>
        <p:blipFill rotWithShape="1">
          <a:blip r:embed="rId7">
            <a:alphaModFix/>
          </a:blip>
          <a:srcRect b="0" l="0" r="0" t="0"/>
          <a:stretch/>
        </p:blipFill>
        <p:spPr>
          <a:xfrm>
            <a:off x="4491038" y="6375440"/>
            <a:ext cx="161806" cy="161806"/>
          </a:xfrm>
          <a:prstGeom prst="rect">
            <a:avLst/>
          </a:prstGeom>
          <a:noFill/>
          <a:ln>
            <a:noFill/>
          </a:ln>
        </p:spPr>
      </p:pic>
      <p:sp>
        <p:nvSpPr>
          <p:cNvPr id="517" name="Google Shape;517;p34"/>
          <p:cNvSpPr/>
          <p:nvPr/>
        </p:nvSpPr>
        <p:spPr>
          <a:xfrm>
            <a:off x="621960" y="6793475"/>
            <a:ext cx="6173700" cy="19830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3A3630"/>
              </a:buClr>
              <a:buSzPts val="1200"/>
              <a:buFont typeface="Lora"/>
              <a:buNone/>
            </a:pPr>
            <a:r>
              <a:rPr b="0" i="0" lang="en-US" sz="1600" u="none" cap="none" strike="noStrike">
                <a:solidFill>
                  <a:srgbClr val="3A3630"/>
                </a:solidFill>
                <a:latin typeface="Lora"/>
                <a:ea typeface="Lora"/>
                <a:cs typeface="Lora"/>
                <a:sym typeface="Lora"/>
              </a:rPr>
              <a:t>Kích thước (Size) là then chốt</a:t>
            </a:r>
            <a:endParaRPr b="0" i="0" sz="1600" u="none" cap="none" strike="noStrike"/>
          </a:p>
        </p:txBody>
      </p:sp>
      <p:sp>
        <p:nvSpPr>
          <p:cNvPr id="518" name="Google Shape;518;p34"/>
          <p:cNvSpPr/>
          <p:nvPr/>
        </p:nvSpPr>
        <p:spPr>
          <a:xfrm>
            <a:off x="621983" y="7072670"/>
            <a:ext cx="7899900" cy="4314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3A3630"/>
              </a:buClr>
              <a:buSzPts val="1050"/>
              <a:buFont typeface="Source Sans 3"/>
              <a:buNone/>
            </a:pPr>
            <a:r>
              <a:rPr b="0" i="0" lang="en-US" sz="1300" u="none" cap="none" strike="noStrike">
                <a:solidFill>
                  <a:srgbClr val="3A3630"/>
                </a:solidFill>
                <a:latin typeface="Source Sans 3"/>
                <a:ea typeface="Source Sans 3"/>
                <a:cs typeface="Source Sans 3"/>
                <a:sym typeface="Source Sans 3"/>
              </a:rPr>
              <a:t>Tăng kích thước của mô hình ngôn ngữ giúp giảm perplexity và cải thiện độ chính xác trong các tác vụ. Phát hiện quan trọng: Sự cải thiện này không có dấu hiệu bị chững lại ngay cả ở quy mô web hiện tại.</a:t>
            </a:r>
            <a:endParaRPr b="0" i="0" sz="1300" u="none" cap="none" strike="noStrike"/>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pic>
        <p:nvPicPr>
          <p:cNvPr descr="preencoded.png" id="524" name="Google Shape;524;p35"/>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525" name="Google Shape;525;p35"/>
          <p:cNvSpPr/>
          <p:nvPr/>
        </p:nvSpPr>
        <p:spPr>
          <a:xfrm>
            <a:off x="6233636" y="665440"/>
            <a:ext cx="7649400" cy="1255500"/>
          </a:xfrm>
          <a:prstGeom prst="rect">
            <a:avLst/>
          </a:prstGeom>
          <a:noFill/>
          <a:ln>
            <a:noFill/>
          </a:ln>
        </p:spPr>
        <p:txBody>
          <a:bodyPr anchorCtr="0" anchor="t" bIns="0" lIns="0" spcFirstLastPara="1" rIns="0" wrap="square" tIns="0">
            <a:noAutofit/>
          </a:bodyPr>
          <a:lstStyle/>
          <a:p>
            <a:pPr indent="0" lvl="0" marL="0" marR="0" rtl="0" algn="l">
              <a:lnSpc>
                <a:spcPct val="124050"/>
              </a:lnSpc>
              <a:spcBef>
                <a:spcPts val="0"/>
              </a:spcBef>
              <a:spcAft>
                <a:spcPts val="0"/>
              </a:spcAft>
              <a:buClr>
                <a:srgbClr val="38512F"/>
              </a:buClr>
              <a:buSzPts val="3950"/>
              <a:buFont typeface="Lora"/>
              <a:buNone/>
            </a:pPr>
            <a:r>
              <a:rPr b="0" i="0" lang="en-US" sz="3950" u="none" cap="none" strike="noStrike">
                <a:solidFill>
                  <a:srgbClr val="38512F"/>
                </a:solidFill>
                <a:latin typeface="Lora"/>
                <a:ea typeface="Lora"/>
                <a:cs typeface="Lora"/>
                <a:sym typeface="Lora"/>
              </a:rPr>
              <a:t>Kết luận – Hướng nghiên cứu Tương lai</a:t>
            </a:r>
            <a:endParaRPr b="0" i="0" sz="3950" u="none" cap="none" strike="noStrike"/>
          </a:p>
        </p:txBody>
      </p:sp>
      <p:sp>
        <p:nvSpPr>
          <p:cNvPr id="526" name="Google Shape;526;p35"/>
          <p:cNvSpPr/>
          <p:nvPr/>
        </p:nvSpPr>
        <p:spPr>
          <a:xfrm>
            <a:off x="6233636" y="2241233"/>
            <a:ext cx="7649400" cy="854100"/>
          </a:xfrm>
          <a:prstGeom prst="rect">
            <a:avLst/>
          </a:prstGeom>
          <a:noFill/>
          <a:ln>
            <a:noFill/>
          </a:ln>
        </p:spPr>
        <p:txBody>
          <a:bodyPr anchorCtr="0" anchor="t" bIns="0" lIns="0" spcFirstLastPara="1" rIns="0" wrap="square" tIns="0">
            <a:noAutofit/>
          </a:bodyPr>
          <a:lstStyle/>
          <a:p>
            <a:pPr indent="0" lvl="0" marL="0" marR="0" rtl="0" algn="l">
              <a:lnSpc>
                <a:spcPct val="159523"/>
              </a:lnSpc>
              <a:spcBef>
                <a:spcPts val="0"/>
              </a:spcBef>
              <a:spcAft>
                <a:spcPts val="0"/>
              </a:spcAft>
              <a:buClr>
                <a:srgbClr val="3A3630"/>
              </a:buClr>
              <a:buSzPts val="2100"/>
              <a:buFont typeface="Source Sans 3"/>
              <a:buNone/>
            </a:pPr>
            <a:r>
              <a:rPr b="0" i="0" lang="en-US" sz="2100" u="none" cap="none" strike="noStrike">
                <a:solidFill>
                  <a:srgbClr val="3A3630"/>
                </a:solidFill>
                <a:latin typeface="Source Sans 3"/>
                <a:ea typeface="Source Sans 3"/>
                <a:cs typeface="Source Sans 3"/>
                <a:sym typeface="Source Sans 3"/>
              </a:rPr>
              <a:t>Bài báo đề xuất các hướng nghiên cứu tiềm năng sau để phát triển hơn nữa các Mô hình Ngôn ngữ quy mô Web:</a:t>
            </a:r>
            <a:endParaRPr b="0" i="0" sz="2100" u="none" cap="none" strike="noStrike"/>
          </a:p>
        </p:txBody>
      </p:sp>
      <p:pic>
        <p:nvPicPr>
          <p:cNvPr descr="preencoded.png" id="527" name="Google Shape;527;p35"/>
          <p:cNvPicPr preferRelativeResize="0"/>
          <p:nvPr/>
        </p:nvPicPr>
        <p:blipFill rotWithShape="1">
          <a:blip r:embed="rId4">
            <a:alphaModFix/>
          </a:blip>
          <a:srcRect b="0" l="0" r="0" t="0"/>
          <a:stretch/>
        </p:blipFill>
        <p:spPr>
          <a:xfrm>
            <a:off x="6313646" y="3342084"/>
            <a:ext cx="320159" cy="320159"/>
          </a:xfrm>
          <a:prstGeom prst="rect">
            <a:avLst/>
          </a:prstGeom>
          <a:noFill/>
          <a:ln>
            <a:noFill/>
          </a:ln>
        </p:spPr>
      </p:pic>
      <p:sp>
        <p:nvSpPr>
          <p:cNvPr id="528" name="Google Shape;528;p35"/>
          <p:cNvSpPr/>
          <p:nvPr/>
        </p:nvSpPr>
        <p:spPr>
          <a:xfrm>
            <a:off x="6927413" y="3335536"/>
            <a:ext cx="2511600" cy="3141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A3630"/>
              </a:buClr>
              <a:buSzPts val="1950"/>
              <a:buFont typeface="Lora"/>
              <a:buNone/>
            </a:pPr>
            <a:r>
              <a:rPr b="0" i="0" lang="en-US" sz="1950" u="none" cap="none" strike="noStrike">
                <a:solidFill>
                  <a:srgbClr val="3A3630"/>
                </a:solidFill>
                <a:latin typeface="Lora"/>
                <a:ea typeface="Lora"/>
                <a:cs typeface="Lora"/>
                <a:sym typeface="Lora"/>
              </a:rPr>
              <a:t>Cải thiện Xếp hạng</a:t>
            </a:r>
            <a:endParaRPr b="0" i="0" sz="1950" u="none" cap="none" strike="noStrike"/>
          </a:p>
        </p:txBody>
      </p:sp>
      <p:sp>
        <p:nvSpPr>
          <p:cNvPr id="529" name="Google Shape;529;p35"/>
          <p:cNvSpPr/>
          <p:nvPr/>
        </p:nvSpPr>
        <p:spPr>
          <a:xfrm>
            <a:off x="6927413" y="3777496"/>
            <a:ext cx="6955800" cy="682800"/>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3A3630"/>
              </a:buClr>
              <a:buSzPts val="1650"/>
              <a:buFont typeface="Source Sans 3"/>
              <a:buNone/>
            </a:pPr>
            <a:r>
              <a:rPr b="0" i="0" lang="en-US" sz="1650" u="none" cap="none" strike="noStrike">
                <a:solidFill>
                  <a:srgbClr val="3A3630"/>
                </a:solidFill>
                <a:latin typeface="Source Sans 3"/>
                <a:ea typeface="Source Sans 3"/>
                <a:cs typeface="Source Sans 3"/>
                <a:sym typeface="Source Sans 3"/>
              </a:rPr>
              <a:t>Khám phá cách kết hợp mô hình ngôn ngữ với xếp hạng động để nâng cao độ liên quan của kết quả tìm kiếm, tối ưu trải nghiệm người dùng.</a:t>
            </a:r>
            <a:endParaRPr b="0" i="0" sz="1650" u="none" cap="none" strike="noStrike"/>
          </a:p>
        </p:txBody>
      </p:sp>
      <p:pic>
        <p:nvPicPr>
          <p:cNvPr descr="preencoded.png" id="530" name="Google Shape;530;p35"/>
          <p:cNvPicPr preferRelativeResize="0"/>
          <p:nvPr/>
        </p:nvPicPr>
        <p:blipFill rotWithShape="1">
          <a:blip r:embed="rId4">
            <a:alphaModFix/>
          </a:blip>
          <a:srcRect b="0" l="0" r="0" t="0"/>
          <a:stretch/>
        </p:blipFill>
        <p:spPr>
          <a:xfrm>
            <a:off x="6313646" y="4893945"/>
            <a:ext cx="320159" cy="320159"/>
          </a:xfrm>
          <a:prstGeom prst="rect">
            <a:avLst/>
          </a:prstGeom>
          <a:noFill/>
          <a:ln>
            <a:noFill/>
          </a:ln>
        </p:spPr>
      </p:pic>
      <p:sp>
        <p:nvSpPr>
          <p:cNvPr id="531" name="Google Shape;531;p35"/>
          <p:cNvSpPr/>
          <p:nvPr/>
        </p:nvSpPr>
        <p:spPr>
          <a:xfrm>
            <a:off x="6927413" y="4887397"/>
            <a:ext cx="2511600" cy="3141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A3630"/>
              </a:buClr>
              <a:buSzPts val="1950"/>
              <a:buFont typeface="Lora"/>
              <a:buNone/>
            </a:pPr>
            <a:r>
              <a:rPr b="0" i="0" lang="en-US" sz="1950" u="none" cap="none" strike="noStrike">
                <a:solidFill>
                  <a:srgbClr val="3A3630"/>
                </a:solidFill>
                <a:latin typeface="Lora"/>
                <a:ea typeface="Lora"/>
                <a:cs typeface="Lora"/>
                <a:sym typeface="Lora"/>
              </a:rPr>
              <a:t>Mở rộng Ứng dụng</a:t>
            </a:r>
            <a:endParaRPr b="0" i="0" sz="1950" u="none" cap="none" strike="noStrike"/>
          </a:p>
        </p:txBody>
      </p:sp>
      <p:sp>
        <p:nvSpPr>
          <p:cNvPr id="532" name="Google Shape;532;p35"/>
          <p:cNvSpPr/>
          <p:nvPr/>
        </p:nvSpPr>
        <p:spPr>
          <a:xfrm>
            <a:off x="6927413" y="5329357"/>
            <a:ext cx="6955800" cy="682800"/>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3A3630"/>
              </a:buClr>
              <a:buSzPts val="1650"/>
              <a:buFont typeface="Source Sans 3"/>
              <a:buNone/>
            </a:pPr>
            <a:r>
              <a:rPr b="0" i="0" lang="en-US" sz="1650" u="none" cap="none" strike="noStrike">
                <a:solidFill>
                  <a:srgbClr val="3A3630"/>
                </a:solidFill>
                <a:latin typeface="Source Sans 3"/>
                <a:ea typeface="Source Sans 3"/>
                <a:cs typeface="Source Sans 3"/>
                <a:sym typeface="Source Sans 3"/>
              </a:rPr>
              <a:t>Ứng dụng LM quy mô web vào phân loại tài liệu, nhận dạng ký tự quang học (OCR), dịch máy và các tác vụ xử lý tài liệu, truy vấn khác.</a:t>
            </a:r>
            <a:endParaRPr b="0" i="0" sz="1650" u="none" cap="none" strike="noStrike"/>
          </a:p>
        </p:txBody>
      </p:sp>
      <p:pic>
        <p:nvPicPr>
          <p:cNvPr descr="preencoded.png" id="533" name="Google Shape;533;p35"/>
          <p:cNvPicPr preferRelativeResize="0"/>
          <p:nvPr/>
        </p:nvPicPr>
        <p:blipFill rotWithShape="1">
          <a:blip r:embed="rId4">
            <a:alphaModFix/>
          </a:blip>
          <a:srcRect b="0" l="0" r="0" t="0"/>
          <a:stretch/>
        </p:blipFill>
        <p:spPr>
          <a:xfrm>
            <a:off x="6313646" y="6445806"/>
            <a:ext cx="320159" cy="320159"/>
          </a:xfrm>
          <a:prstGeom prst="rect">
            <a:avLst/>
          </a:prstGeom>
          <a:noFill/>
          <a:ln>
            <a:noFill/>
          </a:ln>
        </p:spPr>
      </p:pic>
      <p:sp>
        <p:nvSpPr>
          <p:cNvPr id="534" name="Google Shape;534;p35"/>
          <p:cNvSpPr/>
          <p:nvPr/>
        </p:nvSpPr>
        <p:spPr>
          <a:xfrm>
            <a:off x="6927413" y="6439257"/>
            <a:ext cx="2511600" cy="3141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3A3630"/>
              </a:buClr>
              <a:buSzPts val="1950"/>
              <a:buFont typeface="Lora"/>
              <a:buNone/>
            </a:pPr>
            <a:r>
              <a:rPr b="0" i="0" lang="en-US" sz="1950" u="none" cap="none" strike="noStrike">
                <a:solidFill>
                  <a:srgbClr val="3A3630"/>
                </a:solidFill>
                <a:latin typeface="Lora"/>
                <a:ea typeface="Lora"/>
                <a:cs typeface="Lora"/>
                <a:sym typeface="Lora"/>
              </a:rPr>
              <a:t>Baseline mới</a:t>
            </a:r>
            <a:endParaRPr b="0" i="0" sz="1950" u="none" cap="none" strike="noStrike"/>
          </a:p>
        </p:txBody>
      </p:sp>
      <p:sp>
        <p:nvSpPr>
          <p:cNvPr id="535" name="Google Shape;535;p35"/>
          <p:cNvSpPr/>
          <p:nvPr/>
        </p:nvSpPr>
        <p:spPr>
          <a:xfrm>
            <a:off x="6927413" y="6881217"/>
            <a:ext cx="6955800" cy="682800"/>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3A3630"/>
              </a:buClr>
              <a:buSzPts val="1650"/>
              <a:buFont typeface="Source Sans 3"/>
              <a:buNone/>
            </a:pPr>
            <a:r>
              <a:rPr b="0" i="0" lang="en-US" sz="1650" u="none" cap="none" strike="noStrike">
                <a:solidFill>
                  <a:srgbClr val="3A3630"/>
                </a:solidFill>
                <a:latin typeface="Source Sans 3"/>
                <a:ea typeface="Source Sans 3"/>
                <a:cs typeface="Source Sans 3"/>
                <a:sym typeface="Source Sans 3"/>
              </a:rPr>
              <a:t>Đề xuất sử dụng LM web làm baseline cho nghiên cứu IR/NLP tương lai. Nghiên cứu về "ngôn ngữ web" cũng là hướng đi tiềm năng.</a:t>
            </a:r>
            <a:endParaRPr b="0" i="0" sz="1650" u="none" cap="none" strike="noStrike"/>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pic>
        <p:nvPicPr>
          <p:cNvPr descr="preencoded.png" id="541" name="Google Shape;541;p36"/>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542" name="Google Shape;542;p36"/>
          <p:cNvSpPr/>
          <p:nvPr/>
        </p:nvSpPr>
        <p:spPr>
          <a:xfrm>
            <a:off x="6324124" y="2317790"/>
            <a:ext cx="5632490"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512F"/>
              </a:buClr>
              <a:buSzPts val="4400"/>
              <a:buFont typeface="Lora"/>
              <a:buNone/>
            </a:pPr>
            <a:r>
              <a:rPr lang="en-US" sz="4400">
                <a:solidFill>
                  <a:srgbClr val="38512F"/>
                </a:solidFill>
                <a:latin typeface="Lora"/>
                <a:ea typeface="Lora"/>
                <a:cs typeface="Lora"/>
                <a:sym typeface="Lora"/>
              </a:rPr>
              <a:t>Cảm ơn</a:t>
            </a:r>
            <a:endParaRPr sz="4400">
              <a:solidFill>
                <a:schemeClr val="dk1"/>
              </a:solidFill>
              <a:latin typeface="Calibri"/>
              <a:ea typeface="Calibri"/>
              <a:cs typeface="Calibri"/>
              <a:sym typeface="Calibri"/>
            </a:endParaRPr>
          </a:p>
        </p:txBody>
      </p:sp>
      <p:sp>
        <p:nvSpPr>
          <p:cNvPr id="543" name="Google Shape;543;p36"/>
          <p:cNvSpPr/>
          <p:nvPr/>
        </p:nvSpPr>
        <p:spPr>
          <a:xfrm>
            <a:off x="6683097" y="3649980"/>
            <a:ext cx="7109579" cy="957263"/>
          </a:xfrm>
          <a:prstGeom prst="rect">
            <a:avLst/>
          </a:prstGeom>
          <a:noFill/>
          <a:ln>
            <a:noFill/>
          </a:ln>
        </p:spPr>
        <p:txBody>
          <a:bodyPr anchorCtr="0" anchor="t" bIns="0" lIns="0" spcFirstLastPara="1" rIns="0" wrap="square" tIns="0">
            <a:noAutofit/>
          </a:bodyPr>
          <a:lstStyle/>
          <a:p>
            <a:pPr indent="0" lvl="0" marL="0" marR="0" rtl="0" algn="l">
              <a:lnSpc>
                <a:spcPct val="159574"/>
              </a:lnSpc>
              <a:spcBef>
                <a:spcPts val="0"/>
              </a:spcBef>
              <a:spcAft>
                <a:spcPts val="0"/>
              </a:spcAft>
              <a:buClr>
                <a:srgbClr val="3A3630"/>
              </a:buClr>
              <a:buSzPts val="2350"/>
              <a:buFont typeface="Source Sans 3"/>
              <a:buNone/>
            </a:pPr>
            <a:r>
              <a:rPr lang="en-US" sz="2350">
                <a:solidFill>
                  <a:srgbClr val="3A3630"/>
                </a:solidFill>
                <a:latin typeface="Source Sans 3"/>
                <a:ea typeface="Source Sans 3"/>
                <a:cs typeface="Source Sans 3"/>
                <a:sym typeface="Source Sans 3"/>
              </a:rPr>
              <a:t>Cảm ơn </a:t>
            </a:r>
            <a:r>
              <a:rPr b="1" lang="en-US" sz="2350">
                <a:solidFill>
                  <a:srgbClr val="38512F"/>
                </a:solidFill>
                <a:latin typeface="Source Sans 3"/>
                <a:ea typeface="Source Sans 3"/>
                <a:cs typeface="Source Sans 3"/>
                <a:sym typeface="Source Sans 3"/>
              </a:rPr>
              <a:t>Cô</a:t>
            </a:r>
            <a:r>
              <a:rPr lang="en-US" sz="2350">
                <a:solidFill>
                  <a:srgbClr val="3A3630"/>
                </a:solidFill>
                <a:latin typeface="Source Sans 3"/>
                <a:ea typeface="Source Sans 3"/>
                <a:cs typeface="Source Sans 3"/>
                <a:sym typeface="Source Sans 3"/>
              </a:rPr>
              <a:t> và các bạn đã chú ý lắng nghe và theo dõi bài thuyết trình này.</a:t>
            </a:r>
            <a:endParaRPr sz="2350">
              <a:solidFill>
                <a:schemeClr val="dk1"/>
              </a:solidFill>
              <a:latin typeface="Calibri"/>
              <a:ea typeface="Calibri"/>
              <a:cs typeface="Calibri"/>
              <a:sym typeface="Calibri"/>
            </a:endParaRPr>
          </a:p>
        </p:txBody>
      </p:sp>
      <p:sp>
        <p:nvSpPr>
          <p:cNvPr id="544" name="Google Shape;544;p36"/>
          <p:cNvSpPr/>
          <p:nvPr/>
        </p:nvSpPr>
        <p:spPr>
          <a:xfrm>
            <a:off x="6324124" y="3380780"/>
            <a:ext cx="30480" cy="1495663"/>
          </a:xfrm>
          <a:prstGeom prst="rect">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6"/>
          <p:cNvSpPr/>
          <p:nvPr/>
        </p:nvSpPr>
        <p:spPr>
          <a:xfrm>
            <a:off x="6324124" y="5145643"/>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3A3630"/>
              </a:buClr>
              <a:buSzPts val="1850"/>
              <a:buFont typeface="Source Sans 3"/>
              <a:buNone/>
            </a:pPr>
            <a:r>
              <a:rPr lang="en-US" sz="1850">
                <a:solidFill>
                  <a:srgbClr val="3A3630"/>
                </a:solidFill>
                <a:latin typeface="Source Sans 3"/>
                <a:ea typeface="Source Sans 3"/>
                <a:cs typeface="Source Sans 3"/>
                <a:sym typeface="Source Sans 3"/>
              </a:rPr>
              <a:t>Chúng em rất mong nhận được những nhận xét và góp ý quý báu từ quý vị để hoàn thiện thêm kiến thức của mình.</a:t>
            </a:r>
            <a:endParaRPr sz="18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